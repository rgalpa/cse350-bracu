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256" r:id="rId2"/>
    <p:sldId id="338" r:id="rId3"/>
    <p:sldId id="339" r:id="rId4"/>
    <p:sldId id="340" r:id="rId5"/>
    <p:sldId id="363" r:id="rId6"/>
    <p:sldId id="373" r:id="rId7"/>
    <p:sldId id="342" r:id="rId8"/>
    <p:sldId id="343" r:id="rId9"/>
    <p:sldId id="346" r:id="rId10"/>
    <p:sldId id="348" r:id="rId11"/>
    <p:sldId id="349" r:id="rId12"/>
    <p:sldId id="350" r:id="rId13"/>
    <p:sldId id="351" r:id="rId14"/>
    <p:sldId id="352" r:id="rId15"/>
    <p:sldId id="353" r:id="rId16"/>
    <p:sldId id="354" r:id="rId17"/>
    <p:sldId id="356" r:id="rId18"/>
    <p:sldId id="355" r:id="rId19"/>
    <p:sldId id="357" r:id="rId20"/>
    <p:sldId id="358" r:id="rId21"/>
    <p:sldId id="359" r:id="rId22"/>
    <p:sldId id="360" r:id="rId23"/>
    <p:sldId id="362" r:id="rId24"/>
    <p:sldId id="361" r:id="rId25"/>
    <p:sldId id="364" r:id="rId26"/>
    <p:sldId id="365" r:id="rId27"/>
    <p:sldId id="371" r:id="rId28"/>
    <p:sldId id="372" r:id="rId29"/>
    <p:sldId id="366" r:id="rId30"/>
    <p:sldId id="367"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gOP7mpHQ9vA4PFHviNNnNqE8hH7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6FA7CD0-2ED7-4127-A139-062385FC596B}">
  <a:tblStyle styleId="{E6FA7CD0-2ED7-4127-A139-062385FC596B}"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946" y="12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61DE2C72-CC64-89EC-6294-6631D758D4CA}"/>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46A71290-766A-2589-F953-9322647A4DA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45D5BA86-001E-F035-A95C-E561D577FC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64337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D3736FCA-13FE-0F21-2D38-EB8F10D8E76A}"/>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7DBFC2CB-DC05-5692-82CB-7D334140E8F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E07463B4-BEC1-031B-7D1C-CC41A9515D7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63354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87F22933-5553-ADB1-5282-CC896B500A53}"/>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05884D2C-5A9E-6A40-1BFE-3B7FD329878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8993FF0E-D1E8-39AD-48A3-9EF1202368C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03423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87F22933-5553-ADB1-5282-CC896B500A53}"/>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05884D2C-5A9E-6A40-1BFE-3B7FD329878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8993FF0E-D1E8-39AD-48A3-9EF1202368C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31232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6B64F1AB-4865-438F-09CB-60812043A60B}"/>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8AB1D785-3C54-708A-D087-56E783D36E3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1B38BDC4-B900-63EE-692A-E1685FB68D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39302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8F15E4E8-FA0F-7860-2FD5-AA32E77FAE06}"/>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B02F0C6C-D179-3B31-2D12-D174390A4F8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2D4D6220-3829-D2B7-77F0-C6DB58D763F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509569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5A17ADD4-235C-B2FB-C12B-1FDB37EF7AAA}"/>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FD3F677E-99C9-C737-D351-23A3B5311D0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1310411A-97E6-E402-67C4-A982B3C59E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2748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FAD959E8-20EF-2432-26EC-AC53D0709DBF}"/>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A1BF3165-29FC-980B-8459-061B022CB05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7ABC850A-60BA-31BB-20FF-30E94B6258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57780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9D5C1FA7-C2F6-0264-99B4-65B859DC1F72}"/>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3602AB43-B08A-C8A0-7E87-25EAF705CBD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529376D1-A70E-259F-04A7-F3FD1E24BB1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49003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2D4C77B5-DE9F-E3A7-471B-1A619C01EAAD}"/>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7D0FC590-A347-A5E5-5C56-72572411B83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8A129FB5-3B8A-8050-3551-55EEB06D2D6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911156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B2F3E5C0-ACCE-AB84-8154-0E5BD03E5A43}"/>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05391E71-9100-9DAF-5C3F-7F022A39A66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D0DC65D7-CD45-73B4-F2A2-38DF5E0BA2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858585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E090697A-EE78-82C5-061A-BB9172E3E0A2}"/>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0B9DBAB2-7171-F3E1-F26B-D19A0EC1C97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5E80B82A-9F74-1D6E-9ACC-392EF0A078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8393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23462912-B856-437A-A4EE-70427E830F68}"/>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E7AEED24-399B-43C9-4C11-9DD7A02D3A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6111879E-197D-5CAC-5BF2-CA5AEDE4C6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637938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94344195-116E-66B3-65B4-BAE847322A00}"/>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5DB73259-D703-96B6-DF70-63CD5DF55AD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B787388C-26A1-F1C6-4DAD-60AB621DF9C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380193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BF6AB802-2A19-4472-DCFE-CAB022F3CBC2}"/>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4AAB997B-A816-3739-A5C2-74A0584D665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7DF22A84-404E-6BE3-36F8-8DDB570BD9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368909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E8F756CD-8EFC-E10D-7DF3-0C5D7BE8FCF9}"/>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1F5F532C-D9BE-9BDE-6AAB-705F4503EF9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B3A16241-09C4-0041-32C3-06AED8C0B2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03134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096D187D-7015-13C3-263F-8E68BE8E0A4C}"/>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2B700249-D524-D17F-4986-61A246D91C4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9513C95B-1DC9-7077-4363-8E9DE8C805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08743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83FEC10C-3BD7-A23C-3587-124C7184F587}"/>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9AF17316-7E65-5C4D-0F6E-CA6503FA80E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5A13DB7A-78C2-1AD7-97B6-A4C4DCD40B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748322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C73E0C54-60F6-9846-A2BD-73100042E53F}"/>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466A533D-3340-438E-5CEB-84BF11A25E3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FBD8CA3A-BBC8-A086-B117-A5AFB6D8D6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419697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C73E0C54-60F6-9846-A2BD-73100042E53F}"/>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466A533D-3340-438E-5CEB-84BF11A25E3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FBD8CA3A-BBC8-A086-B117-A5AFB6D8D6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827193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C73E0C54-60F6-9846-A2BD-73100042E53F}"/>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466A533D-3340-438E-5CEB-84BF11A25E3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FBD8CA3A-BBC8-A086-B117-A5AFB6D8D6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11513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C73E0C54-60F6-9846-A2BD-73100042E53F}"/>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466A533D-3340-438E-5CEB-84BF11A25E3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FBD8CA3A-BBC8-A086-B117-A5AFB6D8D6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777430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C73E0C54-60F6-9846-A2BD-73100042E53F}"/>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466A533D-3340-438E-5CEB-84BF11A25E3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FBD8CA3A-BBC8-A086-B117-A5AFB6D8D6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358181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C097B91A-65E9-51D8-67F4-0AA1103F3468}"/>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F8FCFD22-279F-9FB0-3B66-D81C495B42E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4F95C2A2-841B-29BA-39CB-E198160CCD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153240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8EADA030-EB2B-ACE4-4BEC-9AFCC7078D3E}"/>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E185F385-2B6B-E735-22CE-60496115D5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892CF9B6-4E38-65BD-1255-A33CFB5AFA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681446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8EADA030-EB2B-ACE4-4BEC-9AFCC7078D3E}"/>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E185F385-2B6B-E735-22CE-60496115D5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892CF9B6-4E38-65BD-1255-A33CFB5AFA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210490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8EADA030-EB2B-ACE4-4BEC-9AFCC7078D3E}"/>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E185F385-2B6B-E735-22CE-60496115D5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892CF9B6-4E38-65BD-1255-A33CFB5AFA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68391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8EADA030-EB2B-ACE4-4BEC-9AFCC7078D3E}"/>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E185F385-2B6B-E735-22CE-60496115D5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892CF9B6-4E38-65BD-1255-A33CFB5AFA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492463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8EADA030-EB2B-ACE4-4BEC-9AFCC7078D3E}"/>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E185F385-2B6B-E735-22CE-60496115D5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892CF9B6-4E38-65BD-1255-A33CFB5AFA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463236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2"/>
          <p:cNvSpPr>
            <a:spLocks noGrp="1"/>
          </p:cNvSpPr>
          <p:nvPr>
            <p:ph type="pic" idx="2"/>
          </p:nvPr>
        </p:nvSpPr>
        <p:spPr>
          <a:xfrm>
            <a:off x="5183188" y="987425"/>
            <a:ext cx="6172200" cy="4873625"/>
          </a:xfrm>
          <a:prstGeom prst="rect">
            <a:avLst/>
          </a:prstGeom>
          <a:noFill/>
          <a:ln>
            <a:noFill/>
          </a:ln>
        </p:spPr>
      </p:sp>
      <p:sp>
        <p:nvSpPr>
          <p:cNvPr id="68" name="Google Shape;68;p3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shomen.kundu@bracu.ac.bd"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0.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4.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489586" y="226142"/>
            <a:ext cx="9699524" cy="2300749"/>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accent1"/>
              </a:buClr>
              <a:buSzPct val="100000"/>
              <a:buFont typeface="Times New Roman"/>
              <a:buNone/>
            </a:pPr>
            <a:r>
              <a:rPr lang="en-US" dirty="0">
                <a:solidFill>
                  <a:schemeClr val="accent1"/>
                </a:solidFill>
                <a:latin typeface="Times New Roman"/>
                <a:ea typeface="Times New Roman"/>
                <a:cs typeface="Times New Roman"/>
                <a:sym typeface="Times New Roman"/>
              </a:rPr>
              <a:t>CSE 350</a:t>
            </a:r>
            <a:br>
              <a:rPr lang="en-US" dirty="0">
                <a:solidFill>
                  <a:schemeClr val="accent1"/>
                </a:solidFill>
                <a:latin typeface="Times New Roman"/>
                <a:ea typeface="Times New Roman"/>
                <a:cs typeface="Times New Roman"/>
                <a:sym typeface="Times New Roman"/>
              </a:rPr>
            </a:br>
            <a:r>
              <a:rPr lang="en-US" sz="4900" dirty="0">
                <a:solidFill>
                  <a:schemeClr val="accent1"/>
                </a:solidFill>
                <a:latin typeface="Times New Roman"/>
                <a:ea typeface="Times New Roman"/>
                <a:cs typeface="Times New Roman"/>
                <a:sym typeface="Times New Roman"/>
              </a:rPr>
              <a:t>Digital Electronics and Pulse Techniques</a:t>
            </a:r>
            <a:br>
              <a:rPr lang="en-US" dirty="0">
                <a:solidFill>
                  <a:schemeClr val="accent1"/>
                </a:solidFill>
                <a:latin typeface="Times New Roman"/>
                <a:ea typeface="Times New Roman"/>
                <a:cs typeface="Times New Roman"/>
                <a:sym typeface="Times New Roman"/>
              </a:rPr>
            </a:br>
            <a:endParaRPr dirty="0">
              <a:solidFill>
                <a:schemeClr val="accent1"/>
              </a:solidFill>
              <a:latin typeface="Times New Roman"/>
              <a:ea typeface="Times New Roman"/>
              <a:cs typeface="Times New Roman"/>
              <a:sym typeface="Times New Roman"/>
            </a:endParaRPr>
          </a:p>
        </p:txBody>
      </p:sp>
      <p:sp>
        <p:nvSpPr>
          <p:cNvPr id="90" name="Google Shape;9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pic>
        <p:nvPicPr>
          <p:cNvPr id="91" name="Google Shape;91;p1"/>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93" name="Google Shape;93;p1"/>
          <p:cNvSpPr txBox="1">
            <a:spLocks noGrp="1"/>
          </p:cNvSpPr>
          <p:nvPr>
            <p:ph type="ftr" idx="11"/>
          </p:nvPr>
        </p:nvSpPr>
        <p:spPr>
          <a:xfrm>
            <a:off x="3812458" y="6370894"/>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 </a:t>
            </a:r>
            <a:endParaRPr dirty="0"/>
          </a:p>
        </p:txBody>
      </p:sp>
      <p:sp>
        <p:nvSpPr>
          <p:cNvPr id="3" name="TextBox 2">
            <a:extLst>
              <a:ext uri="{FF2B5EF4-FFF2-40B4-BE49-F238E27FC236}">
                <a16:creationId xmlns:a16="http://schemas.microsoft.com/office/drawing/2014/main" id="{12F751B0-7C0C-BD40-A434-E4822D159664}"/>
              </a:ext>
            </a:extLst>
          </p:cNvPr>
          <p:cNvSpPr txBox="1"/>
          <p:nvPr/>
        </p:nvSpPr>
        <p:spPr>
          <a:xfrm>
            <a:off x="6926825" y="5456700"/>
            <a:ext cx="5265175" cy="707886"/>
          </a:xfrm>
          <a:prstGeom prst="rect">
            <a:avLst/>
          </a:prstGeom>
          <a:noFill/>
        </p:spPr>
        <p:txBody>
          <a:bodyPr wrap="square">
            <a:spAutoFit/>
          </a:bodyPr>
          <a:lstStyle/>
          <a:p>
            <a:pPr marL="114300" indent="0">
              <a:buNone/>
            </a:pPr>
            <a:r>
              <a:rPr lang="en-US" sz="2000" dirty="0"/>
              <a:t>Mail: </a:t>
            </a:r>
            <a:r>
              <a:rPr lang="en-US" sz="2000" dirty="0">
                <a:hlinkClick r:id="rId4"/>
              </a:rPr>
              <a:t>shomen.kundu@bracu.ac.bd</a:t>
            </a:r>
            <a:endParaRPr lang="en-US" sz="2000" dirty="0"/>
          </a:p>
          <a:p>
            <a:pPr marL="114300" indent="0">
              <a:buNone/>
            </a:pPr>
            <a:r>
              <a:rPr lang="en-US" sz="2000" dirty="0"/>
              <a:t>Desk: #4N148</a:t>
            </a:r>
          </a:p>
        </p:txBody>
      </p:sp>
      <p:sp>
        <p:nvSpPr>
          <p:cNvPr id="4" name="TextBox 3">
            <a:extLst>
              <a:ext uri="{FF2B5EF4-FFF2-40B4-BE49-F238E27FC236}">
                <a16:creationId xmlns:a16="http://schemas.microsoft.com/office/drawing/2014/main" id="{F441846E-60C5-B347-AC7F-8840DA80F15F}"/>
              </a:ext>
            </a:extLst>
          </p:cNvPr>
          <p:cNvSpPr txBox="1"/>
          <p:nvPr/>
        </p:nvSpPr>
        <p:spPr>
          <a:xfrm>
            <a:off x="1843548" y="2457480"/>
            <a:ext cx="8858865" cy="584775"/>
          </a:xfrm>
          <a:prstGeom prst="rect">
            <a:avLst/>
          </a:prstGeom>
          <a:noFill/>
        </p:spPr>
        <p:txBody>
          <a:bodyPr wrap="square" rtlCol="0">
            <a:spAutoFit/>
          </a:bodyPr>
          <a:lstStyle/>
          <a:p>
            <a:r>
              <a:rPr lang="en-US" sz="3200" dirty="0">
                <a:solidFill>
                  <a:srgbClr val="0070C0"/>
                </a:solidFill>
              </a:rPr>
              <a:t>Analog to Digital Converter (ADC)</a:t>
            </a:r>
          </a:p>
        </p:txBody>
      </p:sp>
      <p:sp>
        <p:nvSpPr>
          <p:cNvPr id="5" name="TextBox 4">
            <a:extLst>
              <a:ext uri="{FF2B5EF4-FFF2-40B4-BE49-F238E27FC236}">
                <a16:creationId xmlns:a16="http://schemas.microsoft.com/office/drawing/2014/main" id="{390F6537-9EB0-5129-AAB2-FD60564499EB}"/>
              </a:ext>
            </a:extLst>
          </p:cNvPr>
          <p:cNvSpPr txBox="1"/>
          <p:nvPr/>
        </p:nvSpPr>
        <p:spPr>
          <a:xfrm>
            <a:off x="1115959" y="5558167"/>
            <a:ext cx="5550311" cy="400110"/>
          </a:xfrm>
          <a:prstGeom prst="rect">
            <a:avLst/>
          </a:prstGeom>
          <a:noFill/>
        </p:spPr>
        <p:txBody>
          <a:bodyPr wrap="square" rtlCol="0">
            <a:spAutoFit/>
          </a:bodyPr>
          <a:lstStyle/>
          <a:p>
            <a:pPr marL="114300" indent="0">
              <a:buNone/>
            </a:pPr>
            <a:r>
              <a:rPr lang="en-US" sz="2000" b="1" dirty="0">
                <a:solidFill>
                  <a:srgbClr val="0070C0"/>
                </a:solidFill>
              </a:rPr>
              <a:t>Course Instructor</a:t>
            </a:r>
            <a:r>
              <a:rPr lang="en-US" sz="2000" b="1" dirty="0">
                <a:solidFill>
                  <a:schemeClr val="tx1"/>
                </a:solidFill>
              </a:rPr>
              <a:t>: </a:t>
            </a:r>
            <a:r>
              <a:rPr lang="en-US" sz="2000" dirty="0" err="1"/>
              <a:t>Shomen</a:t>
            </a:r>
            <a:r>
              <a:rPr lang="en-US" sz="2000" dirty="0"/>
              <a:t> Kundu (SDU)</a:t>
            </a: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E14470A8-2002-C6DD-3DBE-25F1326CAE6E}"/>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C15849F3-E07A-CD17-E5EE-FB254181FBE3}"/>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Analog to Digital Converter (ADC)</a:t>
            </a:r>
          </a:p>
        </p:txBody>
      </p:sp>
      <p:sp>
        <p:nvSpPr>
          <p:cNvPr id="100" name="Google Shape;100;p2">
            <a:extLst>
              <a:ext uri="{FF2B5EF4-FFF2-40B4-BE49-F238E27FC236}">
                <a16:creationId xmlns:a16="http://schemas.microsoft.com/office/drawing/2014/main" id="{66E2D8B0-2B2C-676F-B568-CB506A377E42}"/>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50646B09-C80B-1A3B-2393-D70691216A7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pic>
        <p:nvPicPr>
          <p:cNvPr id="102" name="Google Shape;102;p2">
            <a:extLst>
              <a:ext uri="{FF2B5EF4-FFF2-40B4-BE49-F238E27FC236}">
                <a16:creationId xmlns:a16="http://schemas.microsoft.com/office/drawing/2014/main" id="{2A7EDD6A-E5E3-7B87-9BD8-4352803070A6}"/>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64546F5B-8B93-F049-55F8-E8669322D4E6}"/>
              </a:ext>
            </a:extLst>
          </p:cNvPr>
          <p:cNvSpPr>
            <a:spLocks noGrp="1"/>
          </p:cNvSpPr>
          <p:nvPr>
            <p:ph type="body" idx="1"/>
          </p:nvPr>
        </p:nvSpPr>
        <p:spPr>
          <a:xfrm>
            <a:off x="685307" y="1334586"/>
            <a:ext cx="11654177" cy="5104118"/>
          </a:xfrm>
        </p:spPr>
        <p:txBody>
          <a:bodyPr>
            <a:normAutofit/>
          </a:bodyPr>
          <a:lstStyle/>
          <a:p>
            <a:pPr marL="114300" indent="0">
              <a:buNone/>
            </a:pPr>
            <a:r>
              <a:rPr lang="en-US" dirty="0"/>
              <a:t>Signal can be classified into two broad categories.</a:t>
            </a:r>
          </a:p>
          <a:p>
            <a:pPr marL="685800" indent="-571500">
              <a:buAutoNum type="romanLcPeriod"/>
            </a:pPr>
            <a:r>
              <a:rPr lang="en-US" dirty="0"/>
              <a:t>Analog Signal 			ii. Digital Signal</a:t>
            </a:r>
          </a:p>
          <a:p>
            <a:pPr marL="114300" indent="0">
              <a:buNone/>
            </a:pPr>
            <a:endParaRPr lang="en-US" dirty="0"/>
          </a:p>
        </p:txBody>
      </p:sp>
      <p:pic>
        <p:nvPicPr>
          <p:cNvPr id="6" name="Picture 5">
            <a:extLst>
              <a:ext uri="{FF2B5EF4-FFF2-40B4-BE49-F238E27FC236}">
                <a16:creationId xmlns:a16="http://schemas.microsoft.com/office/drawing/2014/main" id="{8590F645-29A6-D15E-9D16-C42A5FBF3880}"/>
              </a:ext>
            </a:extLst>
          </p:cNvPr>
          <p:cNvPicPr>
            <a:picLocks noChangeAspect="1"/>
          </p:cNvPicPr>
          <p:nvPr/>
        </p:nvPicPr>
        <p:blipFill>
          <a:blip r:embed="rId4"/>
          <a:stretch>
            <a:fillRect/>
          </a:stretch>
        </p:blipFill>
        <p:spPr>
          <a:xfrm>
            <a:off x="2059991" y="2362633"/>
            <a:ext cx="5587285" cy="3558530"/>
          </a:xfrm>
          <a:prstGeom prst="rect">
            <a:avLst/>
          </a:prstGeom>
        </p:spPr>
      </p:pic>
    </p:spTree>
    <p:extLst>
      <p:ext uri="{BB962C8B-B14F-4D97-AF65-F5344CB8AC3E}">
        <p14:creationId xmlns:p14="http://schemas.microsoft.com/office/powerpoint/2010/main" val="2990677557"/>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9728C66D-9D14-6B5D-7F6D-80BA0EF9D855}"/>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E6FB9495-F442-C03F-B59F-7DA62948F8C0}"/>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Analog to Digital Converter (ADC)</a:t>
            </a:r>
          </a:p>
        </p:txBody>
      </p:sp>
      <p:sp>
        <p:nvSpPr>
          <p:cNvPr id="100" name="Google Shape;100;p2">
            <a:extLst>
              <a:ext uri="{FF2B5EF4-FFF2-40B4-BE49-F238E27FC236}">
                <a16:creationId xmlns:a16="http://schemas.microsoft.com/office/drawing/2014/main" id="{3E9FE7F4-9DFB-0E90-6634-EF012A29A959}"/>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2ACAEA6C-C528-050A-3E1B-DFA796789BB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pic>
        <p:nvPicPr>
          <p:cNvPr id="102" name="Google Shape;102;p2">
            <a:extLst>
              <a:ext uri="{FF2B5EF4-FFF2-40B4-BE49-F238E27FC236}">
                <a16:creationId xmlns:a16="http://schemas.microsoft.com/office/drawing/2014/main" id="{81489479-AC3B-5A8A-97A2-460262D5361C}"/>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ECD6094A-DBE8-DB9E-0271-584CBC88E3B3}"/>
              </a:ext>
            </a:extLst>
          </p:cNvPr>
          <p:cNvSpPr>
            <a:spLocks noGrp="1"/>
          </p:cNvSpPr>
          <p:nvPr>
            <p:ph type="body" idx="1"/>
          </p:nvPr>
        </p:nvSpPr>
        <p:spPr>
          <a:xfrm>
            <a:off x="685307" y="1334586"/>
            <a:ext cx="11654177" cy="5104118"/>
          </a:xfrm>
        </p:spPr>
        <p:txBody>
          <a:bodyPr>
            <a:normAutofit/>
          </a:bodyPr>
          <a:lstStyle/>
          <a:p>
            <a:pPr marL="114300" indent="0">
              <a:buNone/>
            </a:pPr>
            <a:r>
              <a:rPr lang="en-US" dirty="0"/>
              <a:t>Physical world’s information are mostly analog. Analog means data could take </a:t>
            </a:r>
          </a:p>
          <a:p>
            <a:pPr marL="114300" indent="0">
              <a:buNone/>
            </a:pPr>
            <a:r>
              <a:rPr lang="en-US" dirty="0"/>
              <a:t>any real value at each instant of time.</a:t>
            </a:r>
          </a:p>
          <a:p>
            <a:pPr marL="114300" indent="0">
              <a:buNone/>
            </a:pPr>
            <a:r>
              <a:rPr lang="en-US" dirty="0"/>
              <a:t>In order to store/process we use digital data in our computers and microprocessor </a:t>
            </a:r>
          </a:p>
          <a:p>
            <a:pPr marL="114300" indent="0">
              <a:buNone/>
            </a:pPr>
            <a:r>
              <a:rPr lang="en-US" dirty="0"/>
              <a:t>Digital data means binary bit of strings.</a:t>
            </a:r>
          </a:p>
          <a:p>
            <a:pPr marL="114300" indent="0">
              <a:buNone/>
            </a:pPr>
            <a:endParaRPr lang="en-US" dirty="0"/>
          </a:p>
          <a:p>
            <a:pPr marL="114300" indent="0">
              <a:buNone/>
            </a:pPr>
            <a:endParaRPr lang="en-US" dirty="0"/>
          </a:p>
          <a:p>
            <a:pPr marL="114300" indent="0">
              <a:buNone/>
            </a:pPr>
            <a:endParaRPr lang="en-US" dirty="0"/>
          </a:p>
        </p:txBody>
      </p:sp>
      <p:pic>
        <p:nvPicPr>
          <p:cNvPr id="4" name="Picture 3">
            <a:extLst>
              <a:ext uri="{FF2B5EF4-FFF2-40B4-BE49-F238E27FC236}">
                <a16:creationId xmlns:a16="http://schemas.microsoft.com/office/drawing/2014/main" id="{CEBB97ED-4F29-3DAE-434C-2BD1DCFE6E1C}"/>
              </a:ext>
            </a:extLst>
          </p:cNvPr>
          <p:cNvPicPr>
            <a:picLocks noChangeAspect="1"/>
          </p:cNvPicPr>
          <p:nvPr/>
        </p:nvPicPr>
        <p:blipFill>
          <a:blip r:embed="rId4"/>
          <a:stretch>
            <a:fillRect/>
          </a:stretch>
        </p:blipFill>
        <p:spPr>
          <a:xfrm>
            <a:off x="1288026" y="4074982"/>
            <a:ext cx="10490628" cy="1448432"/>
          </a:xfrm>
          <a:prstGeom prst="rect">
            <a:avLst/>
          </a:prstGeom>
        </p:spPr>
      </p:pic>
    </p:spTree>
    <p:extLst>
      <p:ext uri="{BB962C8B-B14F-4D97-AF65-F5344CB8AC3E}">
        <p14:creationId xmlns:p14="http://schemas.microsoft.com/office/powerpoint/2010/main" val="3349308983"/>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B57E88CF-7EEE-CB63-963D-023BE5263C3A}"/>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013BCEB2-7232-6A08-C766-555568AC279B}"/>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A/D conversion process</a:t>
            </a:r>
          </a:p>
        </p:txBody>
      </p:sp>
      <p:sp>
        <p:nvSpPr>
          <p:cNvPr id="100" name="Google Shape;100;p2">
            <a:extLst>
              <a:ext uri="{FF2B5EF4-FFF2-40B4-BE49-F238E27FC236}">
                <a16:creationId xmlns:a16="http://schemas.microsoft.com/office/drawing/2014/main" id="{E46A795C-933A-2D96-3222-DB3B11F15B95}"/>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E4ACA1B8-8D4C-DA2B-A49F-8FA487F42813}"/>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pic>
        <p:nvPicPr>
          <p:cNvPr id="102" name="Google Shape;102;p2">
            <a:extLst>
              <a:ext uri="{FF2B5EF4-FFF2-40B4-BE49-F238E27FC236}">
                <a16:creationId xmlns:a16="http://schemas.microsoft.com/office/drawing/2014/main" id="{53C1429F-F688-E4C1-D829-C9C29198EF0A}"/>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C9991CFA-5B85-EC2D-6C2A-550303FC25FD}"/>
              </a:ext>
            </a:extLst>
          </p:cNvPr>
          <p:cNvSpPr>
            <a:spLocks noGrp="1"/>
          </p:cNvSpPr>
          <p:nvPr>
            <p:ph type="body" idx="1"/>
          </p:nvPr>
        </p:nvSpPr>
        <p:spPr>
          <a:xfrm>
            <a:off x="685307" y="1334586"/>
            <a:ext cx="11654177" cy="5104118"/>
          </a:xfrm>
        </p:spPr>
        <p:txBody>
          <a:bodyPr>
            <a:normAutofit/>
          </a:bodyPr>
          <a:lstStyle/>
          <a:p>
            <a:pPr marL="114300" indent="0">
              <a:buNone/>
            </a:pPr>
            <a:endParaRPr lang="en-US" dirty="0"/>
          </a:p>
          <a:p>
            <a:pPr marL="114300" indent="0">
              <a:buNone/>
            </a:pPr>
            <a:endParaRPr lang="en-US" dirty="0"/>
          </a:p>
          <a:p>
            <a:pPr marL="114300" indent="0">
              <a:buNone/>
            </a:pPr>
            <a:endParaRPr lang="en-US" dirty="0"/>
          </a:p>
        </p:txBody>
      </p:sp>
      <p:pic>
        <p:nvPicPr>
          <p:cNvPr id="4" name="Picture 3">
            <a:extLst>
              <a:ext uri="{FF2B5EF4-FFF2-40B4-BE49-F238E27FC236}">
                <a16:creationId xmlns:a16="http://schemas.microsoft.com/office/drawing/2014/main" id="{8A059C1D-AEA5-E647-D43F-7382DA1CDF7A}"/>
              </a:ext>
            </a:extLst>
          </p:cNvPr>
          <p:cNvPicPr>
            <a:picLocks noChangeAspect="1"/>
          </p:cNvPicPr>
          <p:nvPr/>
        </p:nvPicPr>
        <p:blipFill>
          <a:blip r:embed="rId4"/>
          <a:stretch>
            <a:fillRect/>
          </a:stretch>
        </p:blipFill>
        <p:spPr>
          <a:xfrm>
            <a:off x="1096668" y="1229512"/>
            <a:ext cx="10524941" cy="4630514"/>
          </a:xfrm>
          <a:prstGeom prst="rect">
            <a:avLst/>
          </a:prstGeom>
        </p:spPr>
      </p:pic>
    </p:spTree>
    <p:extLst>
      <p:ext uri="{BB962C8B-B14F-4D97-AF65-F5344CB8AC3E}">
        <p14:creationId xmlns:p14="http://schemas.microsoft.com/office/powerpoint/2010/main" val="2040577810"/>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B57E88CF-7EEE-CB63-963D-023BE5263C3A}"/>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013BCEB2-7232-6A08-C766-555568AC279B}"/>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Sampling</a:t>
            </a:r>
          </a:p>
        </p:txBody>
      </p:sp>
      <p:sp>
        <p:nvSpPr>
          <p:cNvPr id="100" name="Google Shape;100;p2">
            <a:extLst>
              <a:ext uri="{FF2B5EF4-FFF2-40B4-BE49-F238E27FC236}">
                <a16:creationId xmlns:a16="http://schemas.microsoft.com/office/drawing/2014/main" id="{E46A795C-933A-2D96-3222-DB3B11F15B95}"/>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E4ACA1B8-8D4C-DA2B-A49F-8FA487F42813}"/>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pic>
        <p:nvPicPr>
          <p:cNvPr id="102" name="Google Shape;102;p2">
            <a:extLst>
              <a:ext uri="{FF2B5EF4-FFF2-40B4-BE49-F238E27FC236}">
                <a16:creationId xmlns:a16="http://schemas.microsoft.com/office/drawing/2014/main" id="{53C1429F-F688-E4C1-D829-C9C29198EF0A}"/>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C9991CFA-5B85-EC2D-6C2A-550303FC25FD}"/>
              </a:ext>
            </a:extLst>
          </p:cNvPr>
          <p:cNvSpPr>
            <a:spLocks noGrp="1"/>
          </p:cNvSpPr>
          <p:nvPr>
            <p:ph type="body" idx="1"/>
          </p:nvPr>
        </p:nvSpPr>
        <p:spPr>
          <a:xfrm>
            <a:off x="685307" y="1334586"/>
            <a:ext cx="11654177" cy="5104118"/>
          </a:xfrm>
        </p:spPr>
        <p:txBody>
          <a:bodyPr>
            <a:normAutofit/>
          </a:bodyPr>
          <a:lstStyle/>
          <a:p>
            <a:pPr marL="114300" indent="0">
              <a:buNone/>
            </a:pPr>
            <a:endParaRPr lang="en-US" dirty="0"/>
          </a:p>
          <a:p>
            <a:pPr marL="114300" indent="0">
              <a:buNone/>
            </a:pPr>
            <a:endParaRPr lang="en-US" dirty="0"/>
          </a:p>
          <a:p>
            <a:pPr marL="114300" indent="0">
              <a:buNone/>
            </a:pPr>
            <a:endParaRPr lang="en-US" dirty="0"/>
          </a:p>
        </p:txBody>
      </p:sp>
      <p:sp>
        <p:nvSpPr>
          <p:cNvPr id="8" name="Text Placeholder 2">
            <a:extLst>
              <a:ext uri="{FF2B5EF4-FFF2-40B4-BE49-F238E27FC236}">
                <a16:creationId xmlns:a16="http://schemas.microsoft.com/office/drawing/2014/main" id="{F6732C11-13A8-0EB3-637E-EBCB8D8622E9}"/>
              </a:ext>
            </a:extLst>
          </p:cNvPr>
          <p:cNvSpPr txBox="1">
            <a:spLocks/>
          </p:cNvSpPr>
          <p:nvPr/>
        </p:nvSpPr>
        <p:spPr>
          <a:xfrm>
            <a:off x="400171" y="1037641"/>
            <a:ext cx="11223793" cy="510411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None/>
            </a:pPr>
            <a:r>
              <a:rPr lang="en-US" dirty="0"/>
              <a:t>Sampling is the process of converting a continuous-time signal into a discrete-time signal by taking measurements at </a:t>
            </a:r>
            <a:r>
              <a:rPr lang="en-US" b="1" dirty="0"/>
              <a:t>specific intervals </a:t>
            </a:r>
            <a:r>
              <a:rPr lang="en-US" dirty="0"/>
              <a:t>in time.</a:t>
            </a:r>
          </a:p>
          <a:p>
            <a:pPr marL="114300" indent="0">
              <a:buNone/>
            </a:pPr>
            <a:r>
              <a:rPr lang="en-US" dirty="0"/>
              <a:t>Pulse Train:</a:t>
            </a:r>
          </a:p>
          <a:p>
            <a:pPr marL="114300" indent="0">
              <a:buNone/>
            </a:pPr>
            <a:endParaRPr lang="en-US" dirty="0"/>
          </a:p>
        </p:txBody>
      </p:sp>
      <p:pic>
        <p:nvPicPr>
          <p:cNvPr id="4" name="Picture 3">
            <a:extLst>
              <a:ext uri="{FF2B5EF4-FFF2-40B4-BE49-F238E27FC236}">
                <a16:creationId xmlns:a16="http://schemas.microsoft.com/office/drawing/2014/main" id="{D4A9A5CB-9BDE-F656-9B42-44A8198BDA48}"/>
              </a:ext>
            </a:extLst>
          </p:cNvPr>
          <p:cNvPicPr>
            <a:picLocks noChangeAspect="1"/>
          </p:cNvPicPr>
          <p:nvPr/>
        </p:nvPicPr>
        <p:blipFill>
          <a:blip r:embed="rId4"/>
          <a:stretch>
            <a:fillRect/>
          </a:stretch>
        </p:blipFill>
        <p:spPr>
          <a:xfrm>
            <a:off x="1383667" y="2912377"/>
            <a:ext cx="6195694" cy="2368942"/>
          </a:xfrm>
          <a:prstGeom prst="rect">
            <a:avLst/>
          </a:prstGeom>
        </p:spPr>
      </p:pic>
    </p:spTree>
    <p:extLst>
      <p:ext uri="{BB962C8B-B14F-4D97-AF65-F5344CB8AC3E}">
        <p14:creationId xmlns:p14="http://schemas.microsoft.com/office/powerpoint/2010/main" val="1131723241"/>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4D505F55-A5FD-A8F5-1C3A-F008C2D6D798}"/>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53E932DE-00B4-BCB4-AF5B-C9832C464FE6}"/>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Sampling</a:t>
            </a:r>
          </a:p>
        </p:txBody>
      </p:sp>
      <p:sp>
        <p:nvSpPr>
          <p:cNvPr id="100" name="Google Shape;100;p2">
            <a:extLst>
              <a:ext uri="{FF2B5EF4-FFF2-40B4-BE49-F238E27FC236}">
                <a16:creationId xmlns:a16="http://schemas.microsoft.com/office/drawing/2014/main" id="{78DAFFA0-F899-BD37-AD65-E409411392F9}"/>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3B41F487-DD74-F6EB-987E-2D2FC44DB8F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pic>
        <p:nvPicPr>
          <p:cNvPr id="102" name="Google Shape;102;p2">
            <a:extLst>
              <a:ext uri="{FF2B5EF4-FFF2-40B4-BE49-F238E27FC236}">
                <a16:creationId xmlns:a16="http://schemas.microsoft.com/office/drawing/2014/main" id="{626F85C3-02EB-0FD4-DE97-0A0BD19C18F5}"/>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D1EF71A0-4CE2-7A81-B1A0-A2A2F46E3D32}"/>
              </a:ext>
            </a:extLst>
          </p:cNvPr>
          <p:cNvSpPr>
            <a:spLocks noGrp="1"/>
          </p:cNvSpPr>
          <p:nvPr>
            <p:ph type="body" idx="1"/>
          </p:nvPr>
        </p:nvSpPr>
        <p:spPr>
          <a:xfrm>
            <a:off x="685307" y="1334586"/>
            <a:ext cx="11654177" cy="5104118"/>
          </a:xfrm>
        </p:spPr>
        <p:txBody>
          <a:bodyPr>
            <a:normAutofit/>
          </a:bodyPr>
          <a:lstStyle/>
          <a:p>
            <a:pPr marL="114300" indent="0">
              <a:buNone/>
            </a:pPr>
            <a:endParaRPr lang="en-US" dirty="0"/>
          </a:p>
          <a:p>
            <a:pPr marL="114300" indent="0">
              <a:buNone/>
            </a:pPr>
            <a:endParaRPr lang="en-US" dirty="0"/>
          </a:p>
          <a:p>
            <a:pPr marL="114300" indent="0">
              <a:buNone/>
            </a:pPr>
            <a:endParaRPr lang="en-US" dirty="0"/>
          </a:p>
        </p:txBody>
      </p:sp>
      <mc:AlternateContent xmlns:mc="http://schemas.openxmlformats.org/markup-compatibility/2006">
        <mc:Choice xmlns:a14="http://schemas.microsoft.com/office/drawing/2010/main" Requires="a14">
          <p:sp>
            <p:nvSpPr>
              <p:cNvPr id="8" name="Text Placeholder 2">
                <a:extLst>
                  <a:ext uri="{FF2B5EF4-FFF2-40B4-BE49-F238E27FC236}">
                    <a16:creationId xmlns:a16="http://schemas.microsoft.com/office/drawing/2014/main" id="{86E86772-B79D-B68D-A186-49156A8D75AA}"/>
                  </a:ext>
                </a:extLst>
              </p:cNvPr>
              <p:cNvSpPr txBox="1">
                <a:spLocks/>
              </p:cNvSpPr>
              <p:nvPr/>
            </p:nvSpPr>
            <p:spPr>
              <a:xfrm>
                <a:off x="400171" y="1037641"/>
                <a:ext cx="11223793" cy="510411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None/>
                </a:pPr>
                <a:r>
                  <a:rPr lang="en-US" dirty="0"/>
                  <a:t>Theorem: Sampling frequency should be greater than twice of signal frequency.</a:t>
                </a:r>
              </a:p>
              <a:p>
                <a:pPr marL="114300" indent="0">
                  <a:buNone/>
                </a:pPr>
                <a:endParaRPr lang="en-US" dirty="0"/>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𝑠</m:t>
                          </m:r>
                        </m:sub>
                      </m:sSub>
                      <m:r>
                        <a:rPr lang="en-US" b="0" i="1" smtClean="0">
                          <a:latin typeface="Cambria Math" panose="02040503050406030204" pitchFamily="18" charset="0"/>
                        </a:rPr>
                        <m:t>&gt;2∗</m:t>
                      </m:r>
                      <m:r>
                        <a:rPr lang="en-US" b="0" i="1" smtClean="0">
                          <a:latin typeface="Cambria Math" panose="02040503050406030204" pitchFamily="18" charset="0"/>
                        </a:rPr>
                        <m:t>𝑓</m:t>
                      </m:r>
                    </m:oMath>
                  </m:oMathPara>
                </a14:m>
                <a:endParaRPr lang="en-US" dirty="0"/>
              </a:p>
              <a:p>
                <a:pPr marL="114300" indent="0">
                  <a:buNone/>
                </a:pP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𝑠</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𝑠</m:t>
                            </m:r>
                          </m:sub>
                        </m:sSub>
                      </m:den>
                    </m:f>
                  </m:oMath>
                </a14:m>
                <a:endParaRPr lang="en-US" dirty="0"/>
              </a:p>
              <a:p>
                <a:pPr marL="114300" indent="0">
                  <a:buNone/>
                </a:pPr>
                <a:r>
                  <a:rPr lang="en-US" dirty="0"/>
                  <a:t>Here, </a:t>
                </a:r>
                <a14:m>
                  <m:oMath xmlns:m="http://schemas.openxmlformats.org/officeDocument/2006/math">
                    <m:r>
                      <a:rPr lang="en-US" b="0" i="1" smtClean="0">
                        <a:latin typeface="Cambria Math" panose="02040503050406030204" pitchFamily="18" charset="0"/>
                      </a:rPr>
                      <m:t>𝑓</m:t>
                    </m:r>
                  </m:oMath>
                </a14:m>
                <a:r>
                  <a:rPr lang="en-US" dirty="0"/>
                  <a:t> = the signal frequency</a:t>
                </a:r>
              </a:p>
              <a:p>
                <a:pPr marL="114300" indent="0">
                  <a:buNone/>
                </a:pP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𝑠</m:t>
                        </m:r>
                      </m:sub>
                    </m:sSub>
                  </m:oMath>
                </a14:m>
                <a:r>
                  <a:rPr lang="en-US" dirty="0"/>
                  <a:t> = the sampling frequency</a:t>
                </a:r>
              </a:p>
              <a:p>
                <a:pPr marL="114300" indent="0">
                  <a:buNone/>
                </a:pPr>
                <a:endParaRPr lang="en-US" dirty="0"/>
              </a:p>
              <a:p>
                <a:pPr marL="114300" indent="0">
                  <a:buNone/>
                </a:pPr>
                <a:endParaRPr lang="en-US" dirty="0"/>
              </a:p>
              <a:p>
                <a:pPr marL="114300" indent="0">
                  <a:buNone/>
                </a:pPr>
                <a:endParaRPr lang="en-US" dirty="0"/>
              </a:p>
            </p:txBody>
          </p:sp>
        </mc:Choice>
        <mc:Fallback>
          <p:sp>
            <p:nvSpPr>
              <p:cNvPr id="8" name="Text Placeholder 2">
                <a:extLst>
                  <a:ext uri="{FF2B5EF4-FFF2-40B4-BE49-F238E27FC236}">
                    <a16:creationId xmlns:a16="http://schemas.microsoft.com/office/drawing/2014/main" id="{86E86772-B79D-B68D-A186-49156A8D75AA}"/>
                  </a:ext>
                </a:extLst>
              </p:cNvPr>
              <p:cNvSpPr txBox="1">
                <a:spLocks noRot="1" noChangeAspect="1" noMove="1" noResize="1" noEditPoints="1" noAdjustHandles="1" noChangeArrowheads="1" noChangeShapeType="1" noTextEdit="1"/>
              </p:cNvSpPr>
              <p:nvPr/>
            </p:nvSpPr>
            <p:spPr>
              <a:xfrm>
                <a:off x="400171" y="1037641"/>
                <a:ext cx="11223793" cy="5104118"/>
              </a:xfrm>
              <a:prstGeom prst="rect">
                <a:avLst/>
              </a:prstGeom>
              <a:blipFill>
                <a:blip r:embed="rId4"/>
                <a:stretch>
                  <a:fillRect l="-109"/>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990899146"/>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BB0AF9BE-1E6C-B801-022B-CDF3000DFB20}"/>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C487F174-F793-B32D-0D11-C1E261C4A5DE}"/>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Quantization:</a:t>
            </a:r>
          </a:p>
        </p:txBody>
      </p:sp>
      <p:sp>
        <p:nvSpPr>
          <p:cNvPr id="100" name="Google Shape;100;p2">
            <a:extLst>
              <a:ext uri="{FF2B5EF4-FFF2-40B4-BE49-F238E27FC236}">
                <a16:creationId xmlns:a16="http://schemas.microsoft.com/office/drawing/2014/main" id="{122A1D5E-722F-CB73-66CE-221F07B464D4}"/>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CD9EE08E-F104-1633-E726-163DD585502A}"/>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dirty="0"/>
          </a:p>
        </p:txBody>
      </p:sp>
      <p:pic>
        <p:nvPicPr>
          <p:cNvPr id="102" name="Google Shape;102;p2">
            <a:extLst>
              <a:ext uri="{FF2B5EF4-FFF2-40B4-BE49-F238E27FC236}">
                <a16:creationId xmlns:a16="http://schemas.microsoft.com/office/drawing/2014/main" id="{D81B2BE1-65A9-DDDA-2B32-A7A54A09D713}"/>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F6732C11-13A8-0EB3-637E-EBCB8D8622E9}"/>
                  </a:ext>
                </a:extLst>
              </p:cNvPr>
              <p:cNvSpPr>
                <a:spLocks noGrp="1"/>
              </p:cNvSpPr>
              <p:nvPr>
                <p:ph type="body" idx="1"/>
              </p:nvPr>
            </p:nvSpPr>
            <p:spPr>
              <a:xfrm>
                <a:off x="400171" y="1037641"/>
                <a:ext cx="11654177" cy="5104118"/>
              </a:xfrm>
            </p:spPr>
            <p:txBody>
              <a:bodyPr>
                <a:normAutofit/>
              </a:bodyPr>
              <a:lstStyle/>
              <a:p>
                <a:pPr marL="114300" indent="0">
                  <a:buNone/>
                </a:pPr>
                <a:r>
                  <a:rPr lang="en-US" dirty="0"/>
                  <a:t>Quantization is a process by which we assign sampled signal to some fixed preassigned values. </a:t>
                </a:r>
              </a:p>
              <a:p>
                <a:pPr marL="114300" indent="0">
                  <a:buNone/>
                </a:pPr>
                <a:r>
                  <a:rPr lang="en-US" dirty="0"/>
                  <a:t>Quantization range is the interval and Quantization level is the middle of the interval. When signal value fall into an interval its output value will be the middle of the interval ( Quantization Level ).</a:t>
                </a:r>
              </a:p>
              <a:p>
                <a:pPr marL="685800" indent="-571500">
                  <a:buAutoNum type="romanLcPeriod"/>
                </a:pPr>
                <a:r>
                  <a:rPr lang="en-US" dirty="0"/>
                  <a:t>Midrise Quantization 		</a:t>
                </a:r>
              </a:p>
              <a:p>
                <a:pPr marL="685800" indent="-571500">
                  <a:buAutoNum type="romanLcPeriod"/>
                </a:pPr>
                <a:r>
                  <a:rPr lang="en-US" dirty="0"/>
                  <a:t>Midtread Quantization</a:t>
                </a:r>
              </a:p>
              <a:p>
                <a:pPr marL="11430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𝑏𝑖𝑡𝑠</m:t>
                      </m:r>
                      <m:r>
                        <a:rPr lang="en-US" b="0" i="1" smtClean="0">
                          <a:latin typeface="Cambria Math" panose="02040503050406030204" pitchFamily="18" charset="0"/>
                        </a:rPr>
                        <m:t> </m:t>
                      </m:r>
                      <m:r>
                        <a:rPr lang="en-US" b="0" i="1" smtClean="0">
                          <a:latin typeface="Cambria Math" panose="02040503050406030204" pitchFamily="18" charset="0"/>
                        </a:rPr>
                        <m:t>𝑖𝑛</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𝑓𝑖𝑛𝑎𝑙</m:t>
                      </m:r>
                      <m:r>
                        <a:rPr lang="en-US" b="0" i="1" smtClean="0">
                          <a:latin typeface="Cambria Math" panose="02040503050406030204" pitchFamily="18" charset="0"/>
                        </a:rPr>
                        <m:t> </m:t>
                      </m:r>
                      <m:r>
                        <a:rPr lang="en-US" b="0" i="1" smtClean="0">
                          <a:latin typeface="Cambria Math" panose="02040503050406030204" pitchFamily="18" charset="0"/>
                        </a:rPr>
                        <m:t>𝑜𝑢𝑡𝑝𝑢𝑡</m:t>
                      </m:r>
                      <m:r>
                        <a:rPr lang="en-US" b="0" i="1" smtClean="0">
                          <a:latin typeface="Cambria Math" panose="02040503050406030204" pitchFamily="18" charset="0"/>
                        </a:rPr>
                        <m:t> </m:t>
                      </m:r>
                    </m:oMath>
                  </m:oMathPara>
                </a14:m>
                <a:endParaRPr lang="en-US" dirty="0"/>
              </a:p>
              <a:p>
                <a:pPr marL="114300" indent="0">
                  <a:buNone/>
                </a:pPr>
                <a14:m>
                  <m:oMathPara xmlns:m="http://schemas.openxmlformats.org/officeDocument/2006/math">
                    <m:oMathParaPr>
                      <m:jc m:val="left"/>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𝑁</m:t>
                          </m:r>
                        </m:sup>
                      </m:sSup>
                      <m:r>
                        <a:rPr lang="en-US" b="0" i="1" smtClean="0">
                          <a:latin typeface="Cambria Math" panose="02040503050406030204" pitchFamily="18" charset="0"/>
                        </a:rPr>
                        <m:t>=</m:t>
                      </m:r>
                      <m:r>
                        <a:rPr lang="en-US" b="0" i="1" smtClean="0">
                          <a:latin typeface="Cambria Math" panose="02040503050406030204" pitchFamily="18" charset="0"/>
                        </a:rPr>
                        <m:t>𝑁𝑢𝑚𝑏𝑒𝑟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𝑞𝑢𝑎𝑛𝑡𝑖𝑧𝑎𝑡𝑖𝑜𝑛</m:t>
                      </m:r>
                      <m:r>
                        <a:rPr lang="en-US" b="0" i="1" smtClean="0">
                          <a:latin typeface="Cambria Math" panose="02040503050406030204" pitchFamily="18" charset="0"/>
                        </a:rPr>
                        <m:t> </m:t>
                      </m:r>
                      <m:r>
                        <a:rPr lang="en-US" b="0" i="1" smtClean="0">
                          <a:latin typeface="Cambria Math" panose="02040503050406030204" pitchFamily="18" charset="0"/>
                        </a:rPr>
                        <m:t>𝑙𝑒𝑣𝑒𝑙𝑠</m:t>
                      </m:r>
                    </m:oMath>
                  </m:oMathPara>
                </a14:m>
                <a:endParaRPr lang="en-US" b="0" dirty="0"/>
              </a:p>
              <a:p>
                <a:pPr marL="114300" indent="0">
                  <a:buNone/>
                </a:pPr>
                <a14:m>
                  <m:oMathPara xmlns:m="http://schemas.openxmlformats.org/officeDocument/2006/math">
                    <m:oMathParaPr>
                      <m:jc m:val="left"/>
                    </m:oMathParaPr>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m:t>
                      </m:r>
                      <m:r>
                        <m:rPr>
                          <m:sty m:val="p"/>
                        </m:rPr>
                        <a:rPr lang="en-US" b="0" i="0" smtClean="0">
                          <a:latin typeface="Cambria Math" panose="02040503050406030204" pitchFamily="18" charset="0"/>
                        </a:rPr>
                        <m:t>resolution</m:t>
                      </m:r>
                      <m:r>
                        <a:rPr lang="en-US" b="0" i="0"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V</m:t>
                              </m:r>
                            </m:e>
                            <m:sub>
                              <m:r>
                                <m:rPr>
                                  <m:sty m:val="p"/>
                                </m:rPr>
                                <a:rPr lang="en-US" b="0" i="0" smtClean="0">
                                  <a:latin typeface="Cambria Math" panose="02040503050406030204" pitchFamily="18" charset="0"/>
                                </a:rPr>
                                <m:t>max</m:t>
                              </m:r>
                            </m:sub>
                          </m:sSub>
                          <m:r>
                            <a:rPr lang="en-US" b="0" i="1" smtClean="0">
                              <a:latin typeface="Cambria Math" panose="02040503050406030204" pitchFamily="18" charset="0"/>
                            </a:rPr>
                            <m:t>−</m:t>
                          </m:r>
                          <m:r>
                            <a:rPr lang="en-US" b="0" i="1" smtClean="0">
                              <a:latin typeface="Cambria Math" panose="02040503050406030204" pitchFamily="18" charset="0"/>
                            </a:rPr>
                            <m:t>𝑉𝑚𝑖𝑛</m:t>
                          </m:r>
                          <m:r>
                            <a:rPr lang="en-US" b="0" i="1" smtClean="0">
                              <a:latin typeface="Cambria Math" panose="02040503050406030204" pitchFamily="18" charset="0"/>
                            </a:rPr>
                            <m:t> </m:t>
                          </m:r>
                        </m:num>
                        <m:den>
                          <m:sSup>
                            <m:sSupPr>
                              <m:ctrlPr>
                                <a:rPr lang="en-US" b="0" i="1" smtClean="0">
                                  <a:latin typeface="Cambria Math" panose="02040503050406030204" pitchFamily="18" charset="0"/>
                                </a:rPr>
                              </m:ctrlPr>
                            </m:sSupPr>
                            <m:e>
                              <m:r>
                                <a:rPr lang="en-US" b="0" i="0" smtClean="0">
                                  <a:latin typeface="Cambria Math" panose="02040503050406030204" pitchFamily="18" charset="0"/>
                                </a:rPr>
                                <m:t>2</m:t>
                              </m:r>
                            </m:e>
                            <m:sup>
                              <m:r>
                                <a:rPr lang="en-US" b="0" i="1" smtClean="0">
                                  <a:latin typeface="Cambria Math" panose="02040503050406030204" pitchFamily="18" charset="0"/>
                                </a:rPr>
                                <m:t>𝑁</m:t>
                              </m:r>
                            </m:sup>
                          </m:sSup>
                        </m:den>
                      </m:f>
                    </m:oMath>
                  </m:oMathPara>
                </a14:m>
                <a:endParaRPr lang="en-US" dirty="0"/>
              </a:p>
            </p:txBody>
          </p:sp>
        </mc:Choice>
        <mc:Fallback>
          <p:sp>
            <p:nvSpPr>
              <p:cNvPr id="3" name="Text Placeholder 2">
                <a:extLst>
                  <a:ext uri="{FF2B5EF4-FFF2-40B4-BE49-F238E27FC236}">
                    <a16:creationId xmlns:a16="http://schemas.microsoft.com/office/drawing/2014/main" id="{F6732C11-13A8-0EB3-637E-EBCB8D8622E9}"/>
                  </a:ext>
                </a:extLst>
              </p:cNvPr>
              <p:cNvSpPr>
                <a:spLocks noGrp="1" noRot="1" noChangeAspect="1" noMove="1" noResize="1" noEditPoints="1" noAdjustHandles="1" noChangeArrowheads="1" noChangeShapeType="1" noTextEdit="1"/>
              </p:cNvSpPr>
              <p:nvPr>
                <p:ph type="body" idx="1"/>
              </p:nvPr>
            </p:nvSpPr>
            <p:spPr>
              <a:xfrm>
                <a:off x="400171" y="1037641"/>
                <a:ext cx="11654177" cy="5104118"/>
              </a:xfrm>
              <a:blipFill>
                <a:blip r:embed="rId4"/>
                <a:stretch>
                  <a:fillRect l="-105"/>
                </a:stretch>
              </a:blipFill>
            </p:spPr>
            <p:txBody>
              <a:bodyPr/>
              <a:lstStyle/>
              <a:p>
                <a:r>
                  <a:rPr lang="en-US">
                    <a:noFill/>
                  </a:rPr>
                  <a:t> </a:t>
                </a:r>
              </a:p>
            </p:txBody>
          </p:sp>
        </mc:Fallback>
      </mc:AlternateContent>
    </p:spTree>
    <p:extLst>
      <p:ext uri="{BB962C8B-B14F-4D97-AF65-F5344CB8AC3E}">
        <p14:creationId xmlns:p14="http://schemas.microsoft.com/office/powerpoint/2010/main" val="3534872696"/>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46F50366-D74D-45AC-5D8A-4330438A715D}"/>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4AAC0998-7C58-7286-9121-556532A05B08}"/>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Midrise Quantization:</a:t>
            </a:r>
          </a:p>
        </p:txBody>
      </p:sp>
      <p:sp>
        <p:nvSpPr>
          <p:cNvPr id="100" name="Google Shape;100;p2">
            <a:extLst>
              <a:ext uri="{FF2B5EF4-FFF2-40B4-BE49-F238E27FC236}">
                <a16:creationId xmlns:a16="http://schemas.microsoft.com/office/drawing/2014/main" id="{4B6974F2-5E7F-BD62-D7CB-0DF4DB235046}"/>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D8BC3D58-1D41-9015-349D-F1748BA60CC4}"/>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pic>
        <p:nvPicPr>
          <p:cNvPr id="102" name="Google Shape;102;p2">
            <a:extLst>
              <a:ext uri="{FF2B5EF4-FFF2-40B4-BE49-F238E27FC236}">
                <a16:creationId xmlns:a16="http://schemas.microsoft.com/office/drawing/2014/main" id="{109B2466-1CA1-9E83-8CEA-601F1029B0DD}"/>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AF6B689B-4052-5500-0195-88A56BE7877E}"/>
                  </a:ext>
                </a:extLst>
              </p:cNvPr>
              <p:cNvGraphicFramePr>
                <a:graphicFrameLocks noGrp="1"/>
              </p:cNvGraphicFramePr>
              <p:nvPr>
                <p:extLst>
                  <p:ext uri="{D42A27DB-BD31-4B8C-83A1-F6EECF244321}">
                    <p14:modId xmlns:p14="http://schemas.microsoft.com/office/powerpoint/2010/main" val="217266637"/>
                  </p:ext>
                </p:extLst>
              </p:nvPr>
            </p:nvGraphicFramePr>
            <p:xfrm>
              <a:off x="7777315" y="1376516"/>
              <a:ext cx="4114800" cy="4699818"/>
            </p:xfrm>
            <a:graphic>
              <a:graphicData uri="http://schemas.openxmlformats.org/drawingml/2006/table">
                <a:tbl>
                  <a:tblPr firstRow="1" bandRow="1">
                    <a:tableStyleId>{616DA210-FB5B-4158-B5E0-FEB733F419BA}</a:tableStyleId>
                  </a:tblPr>
                  <a:tblGrid>
                    <a:gridCol w="2057400">
                      <a:extLst>
                        <a:ext uri="{9D8B030D-6E8A-4147-A177-3AD203B41FA5}">
                          <a16:colId xmlns:a16="http://schemas.microsoft.com/office/drawing/2014/main" val="992023195"/>
                        </a:ext>
                      </a:extLst>
                    </a:gridCol>
                    <a:gridCol w="2057400">
                      <a:extLst>
                        <a:ext uri="{9D8B030D-6E8A-4147-A177-3AD203B41FA5}">
                          <a16:colId xmlns:a16="http://schemas.microsoft.com/office/drawing/2014/main" val="4075397016"/>
                        </a:ext>
                      </a:extLst>
                    </a:gridCol>
                  </a:tblGrid>
                  <a:tr h="522202">
                    <a:tc>
                      <a:txBody>
                        <a:bodyPr/>
                        <a:lstStyle/>
                        <a:p>
                          <a:r>
                            <a:rPr lang="en-US" dirty="0"/>
                            <a:t>Quantization Range</a:t>
                          </a:r>
                        </a:p>
                      </a:txBody>
                      <a:tcPr/>
                    </a:tc>
                    <a:tc>
                      <a:txBody>
                        <a:bodyPr/>
                        <a:lstStyle/>
                        <a:p>
                          <a:r>
                            <a:rPr lang="en-US" dirty="0"/>
                            <a:t>Quantization Level</a:t>
                          </a:r>
                        </a:p>
                      </a:txBody>
                      <a:tcPr/>
                    </a:tc>
                    <a:extLst>
                      <a:ext uri="{0D108BD9-81ED-4DB2-BD59-A6C34878D82A}">
                        <a16:rowId xmlns:a16="http://schemas.microsoft.com/office/drawing/2014/main" val="3262667754"/>
                      </a:ext>
                    </a:extLst>
                  </a:tr>
                  <a:tr h="522202">
                    <a:tc>
                      <a:txBody>
                        <a:bodyPr/>
                        <a:lstStyle/>
                        <a:p>
                          <a:r>
                            <a:rPr lang="en-US" b="0" dirty="0">
                              <a:ea typeface="Cambria Math" panose="02040503050406030204" pitchFamily="18" charset="0"/>
                            </a:rPr>
                            <a:t>(</a:t>
                          </a:r>
                          <a14:m>
                            <m:oMath xmlns:m="http://schemas.openxmlformats.org/officeDocument/2006/math">
                              <m:r>
                                <a:rPr lang="en-US" b="0" i="1" smtClean="0">
                                  <a:latin typeface="Cambria Math" panose="02040503050406030204" pitchFamily="18" charset="0"/>
                                  <a:ea typeface="Cambria Math" panose="02040503050406030204" pitchFamily="18" charset="0"/>
                                </a:rPr>
                                <m:t>−4</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−3∆)</m:t>
                              </m:r>
                            </m:oMath>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−3.5 </m:t>
                                </m:r>
                                <m:r>
                                  <a:rPr lang="en-US" b="0" i="1" smtClean="0">
                                    <a:latin typeface="Cambria Math" panose="02040503050406030204" pitchFamily="18" charset="0"/>
                                    <a:ea typeface="Cambria Math" panose="02040503050406030204" pitchFamily="18" charset="0"/>
                                  </a:rPr>
                                  <m:t>∆</m:t>
                                </m:r>
                              </m:oMath>
                            </m:oMathPara>
                          </a14:m>
                          <a:endParaRPr lang="en-US" dirty="0"/>
                        </a:p>
                      </a:txBody>
                      <a:tcPr/>
                    </a:tc>
                    <a:extLst>
                      <a:ext uri="{0D108BD9-81ED-4DB2-BD59-A6C34878D82A}">
                        <a16:rowId xmlns:a16="http://schemas.microsoft.com/office/drawing/2014/main" val="3367036410"/>
                      </a:ext>
                    </a:extLst>
                  </a:tr>
                  <a:tr h="5222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ea typeface="Cambria Math" panose="02040503050406030204" pitchFamily="18" charset="0"/>
                            </a:rPr>
                            <a:t>(</a:t>
                          </a:r>
                          <a14:m>
                            <m:oMath xmlns:m="http://schemas.openxmlformats.org/officeDocument/2006/math">
                              <m:r>
                                <a:rPr lang="en-US" b="0" i="1" smtClean="0">
                                  <a:latin typeface="Cambria Math" panose="02040503050406030204" pitchFamily="18" charset="0"/>
                                  <a:ea typeface="Cambria Math" panose="02040503050406030204" pitchFamily="18" charset="0"/>
                                </a:rPr>
                                <m:t>−3</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−2∆)</m:t>
                              </m:r>
                            </m:oMath>
                          </a14:m>
                          <a:endParaRPr lang="en-US" dirty="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−2.5 </m:t>
                                </m:r>
                                <m:r>
                                  <a:rPr lang="en-US" b="0" i="1" smtClean="0">
                                    <a:latin typeface="Cambria Math" panose="02040503050406030204" pitchFamily="18" charset="0"/>
                                    <a:ea typeface="Cambria Math" panose="02040503050406030204" pitchFamily="18" charset="0"/>
                                  </a:rPr>
                                  <m:t>∆</m:t>
                                </m:r>
                              </m:oMath>
                            </m:oMathPara>
                          </a14:m>
                          <a:endParaRPr lang="en-US" dirty="0"/>
                        </a:p>
                        <a:p>
                          <a:endParaRPr lang="en-US" dirty="0"/>
                        </a:p>
                      </a:txBody>
                      <a:tcPr/>
                    </a:tc>
                    <a:extLst>
                      <a:ext uri="{0D108BD9-81ED-4DB2-BD59-A6C34878D82A}">
                        <a16:rowId xmlns:a16="http://schemas.microsoft.com/office/drawing/2014/main" val="4172571095"/>
                      </a:ext>
                    </a:extLst>
                  </a:tr>
                  <a:tr h="5222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ea typeface="Cambria Math" panose="02040503050406030204" pitchFamily="18" charset="0"/>
                            </a:rPr>
                            <a:t>(</a:t>
                          </a:r>
                          <a14:m>
                            <m:oMath xmlns:m="http://schemas.openxmlformats.org/officeDocument/2006/math">
                              <m:r>
                                <a:rPr lang="en-US" b="0" i="1" smtClean="0">
                                  <a:latin typeface="Cambria Math" panose="02040503050406030204" pitchFamily="18" charset="0"/>
                                  <a:ea typeface="Cambria Math" panose="02040503050406030204" pitchFamily="18" charset="0"/>
                                </a:rPr>
                                <m:t>−2</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oMath>
                          </a14:m>
                          <a:endParaRPr lang="en-US" dirty="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−1.5 </m:t>
                                </m:r>
                                <m:r>
                                  <a:rPr lang="en-US" b="0" i="1" smtClean="0">
                                    <a:latin typeface="Cambria Math" panose="02040503050406030204" pitchFamily="18" charset="0"/>
                                    <a:ea typeface="Cambria Math" panose="02040503050406030204" pitchFamily="18" charset="0"/>
                                  </a:rPr>
                                  <m:t>∆</m:t>
                                </m:r>
                              </m:oMath>
                            </m:oMathPara>
                          </a14:m>
                          <a:endParaRPr lang="en-US" dirty="0"/>
                        </a:p>
                        <a:p>
                          <a:endParaRPr lang="en-US" dirty="0"/>
                        </a:p>
                      </a:txBody>
                      <a:tcPr/>
                    </a:tc>
                    <a:extLst>
                      <a:ext uri="{0D108BD9-81ED-4DB2-BD59-A6C34878D82A}">
                        <a16:rowId xmlns:a16="http://schemas.microsoft.com/office/drawing/2014/main" val="875464189"/>
                      </a:ext>
                    </a:extLst>
                  </a:tr>
                  <a:tr h="5222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ea typeface="Cambria Math" panose="02040503050406030204" pitchFamily="18" charset="0"/>
                            </a:rPr>
                            <a:t>(</a:t>
                          </a: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0)</m:t>
                              </m:r>
                            </m:oMath>
                          </a14:m>
                          <a:endParaRPr lang="en-US" dirty="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−0.5 </m:t>
                                </m:r>
                                <m:r>
                                  <a:rPr lang="en-US" b="0" i="1" smtClean="0">
                                    <a:latin typeface="Cambria Math" panose="02040503050406030204" pitchFamily="18" charset="0"/>
                                    <a:ea typeface="Cambria Math" panose="02040503050406030204" pitchFamily="18" charset="0"/>
                                  </a:rPr>
                                  <m:t>∆</m:t>
                                </m:r>
                              </m:oMath>
                            </m:oMathPara>
                          </a14:m>
                          <a:endParaRPr lang="en-US" dirty="0"/>
                        </a:p>
                        <a:p>
                          <a:endParaRPr lang="en-US" dirty="0"/>
                        </a:p>
                      </a:txBody>
                      <a:tcPr/>
                    </a:tc>
                    <a:extLst>
                      <a:ext uri="{0D108BD9-81ED-4DB2-BD59-A6C34878D82A}">
                        <a16:rowId xmlns:a16="http://schemas.microsoft.com/office/drawing/2014/main" val="1904888121"/>
                      </a:ext>
                    </a:extLst>
                  </a:tr>
                  <a:tr h="5222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ea typeface="Cambria Math" panose="02040503050406030204" pitchFamily="18" charset="0"/>
                            </a:rPr>
                            <a:t>(</a:t>
                          </a:r>
                          <a14:m>
                            <m:oMath xmlns:m="http://schemas.openxmlformats.org/officeDocument/2006/math">
                              <m:r>
                                <a:rPr lang="en-US" b="0" i="1" smtClean="0">
                                  <a:latin typeface="Cambria Math" panose="02040503050406030204" pitchFamily="18" charset="0"/>
                                  <a:ea typeface="Cambria Math" panose="02040503050406030204" pitchFamily="18" charset="0"/>
                                </a:rPr>
                                <m:t>0, ∆)</m:t>
                              </m:r>
                            </m:oMath>
                          </a14:m>
                          <a:endParaRPr lang="en-US" dirty="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0.5 </m:t>
                                </m:r>
                                <m:r>
                                  <a:rPr lang="en-US" b="0" i="1" smtClean="0">
                                    <a:latin typeface="Cambria Math" panose="02040503050406030204" pitchFamily="18" charset="0"/>
                                    <a:ea typeface="Cambria Math" panose="02040503050406030204" pitchFamily="18" charset="0"/>
                                  </a:rPr>
                                  <m:t>∆</m:t>
                                </m:r>
                              </m:oMath>
                            </m:oMathPara>
                          </a14:m>
                          <a:endParaRPr lang="en-US" dirty="0"/>
                        </a:p>
                        <a:p>
                          <a:endParaRPr lang="en-US" dirty="0"/>
                        </a:p>
                      </a:txBody>
                      <a:tcPr/>
                    </a:tc>
                    <a:extLst>
                      <a:ext uri="{0D108BD9-81ED-4DB2-BD59-A6C34878D82A}">
                        <a16:rowId xmlns:a16="http://schemas.microsoft.com/office/drawing/2014/main" val="2325831527"/>
                      </a:ext>
                    </a:extLst>
                  </a:tr>
                  <a:tr h="5222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ea typeface="Cambria Math" panose="02040503050406030204" pitchFamily="18" charset="0"/>
                            </a:rPr>
                            <a:t>(</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2∆)</m:t>
                              </m:r>
                            </m:oMath>
                          </a14:m>
                          <a:endParaRPr lang="en-US" dirty="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1.5 </m:t>
                                </m:r>
                                <m:r>
                                  <a:rPr lang="en-US" b="0" i="1" smtClean="0">
                                    <a:latin typeface="Cambria Math" panose="02040503050406030204" pitchFamily="18" charset="0"/>
                                    <a:ea typeface="Cambria Math" panose="02040503050406030204" pitchFamily="18" charset="0"/>
                                  </a:rPr>
                                  <m:t>∆</m:t>
                                </m:r>
                              </m:oMath>
                            </m:oMathPara>
                          </a14:m>
                          <a:endParaRPr lang="en-US" dirty="0"/>
                        </a:p>
                        <a:p>
                          <a:endParaRPr lang="en-US" dirty="0"/>
                        </a:p>
                      </a:txBody>
                      <a:tcPr/>
                    </a:tc>
                    <a:extLst>
                      <a:ext uri="{0D108BD9-81ED-4DB2-BD59-A6C34878D82A}">
                        <a16:rowId xmlns:a16="http://schemas.microsoft.com/office/drawing/2014/main" val="4067309563"/>
                      </a:ext>
                    </a:extLst>
                  </a:tr>
                  <a:tr h="5222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ea typeface="Cambria Math" panose="02040503050406030204" pitchFamily="18" charset="0"/>
                            </a:rPr>
                            <a:t>(</a:t>
                          </a:r>
                          <a14:m>
                            <m:oMath xmlns:m="http://schemas.openxmlformats.org/officeDocument/2006/math">
                              <m:r>
                                <a:rPr lang="en-US" b="0" i="1" smtClean="0">
                                  <a:latin typeface="Cambria Math" panose="02040503050406030204" pitchFamily="18" charset="0"/>
                                  <a:ea typeface="Cambria Math" panose="02040503050406030204" pitchFamily="18" charset="0"/>
                                </a:rPr>
                                <m:t>2</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3∆)</m:t>
                              </m:r>
                            </m:oMath>
                          </a14:m>
                          <a:endParaRPr lang="en-US" dirty="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2.5 </m:t>
                                </m:r>
                                <m:r>
                                  <a:rPr lang="en-US" b="0" i="1" smtClean="0">
                                    <a:latin typeface="Cambria Math" panose="02040503050406030204" pitchFamily="18" charset="0"/>
                                    <a:ea typeface="Cambria Math" panose="02040503050406030204" pitchFamily="18" charset="0"/>
                                  </a:rPr>
                                  <m:t>∆</m:t>
                                </m:r>
                              </m:oMath>
                            </m:oMathPara>
                          </a14:m>
                          <a:endParaRPr lang="en-US" dirty="0"/>
                        </a:p>
                        <a:p>
                          <a:endParaRPr lang="en-US" dirty="0"/>
                        </a:p>
                      </a:txBody>
                      <a:tcPr/>
                    </a:tc>
                    <a:extLst>
                      <a:ext uri="{0D108BD9-81ED-4DB2-BD59-A6C34878D82A}">
                        <a16:rowId xmlns:a16="http://schemas.microsoft.com/office/drawing/2014/main" val="3039577478"/>
                      </a:ext>
                    </a:extLst>
                  </a:tr>
                  <a:tr h="5222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ea typeface="Cambria Math" panose="02040503050406030204" pitchFamily="18" charset="0"/>
                            </a:rPr>
                            <a:t>(</a:t>
                          </a:r>
                          <a14:m>
                            <m:oMath xmlns:m="http://schemas.openxmlformats.org/officeDocument/2006/math">
                              <m:r>
                                <a:rPr lang="en-US" b="0" i="1" smtClean="0">
                                  <a:latin typeface="Cambria Math" panose="02040503050406030204" pitchFamily="18" charset="0"/>
                                  <a:ea typeface="Cambria Math" panose="02040503050406030204" pitchFamily="18" charset="0"/>
                                </a:rPr>
                                <m:t>3</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4∆)</m:t>
                              </m:r>
                            </m:oMath>
                          </a14:m>
                          <a:endParaRPr lang="en-US" dirty="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3.5 </m:t>
                                </m:r>
                                <m:r>
                                  <a:rPr lang="en-US" b="0" i="1" smtClean="0">
                                    <a:latin typeface="Cambria Math" panose="02040503050406030204" pitchFamily="18" charset="0"/>
                                    <a:ea typeface="Cambria Math" panose="02040503050406030204" pitchFamily="18" charset="0"/>
                                  </a:rPr>
                                  <m:t>∆</m:t>
                                </m:r>
                              </m:oMath>
                            </m:oMathPara>
                          </a14:m>
                          <a:endParaRPr lang="en-US" dirty="0"/>
                        </a:p>
                        <a:p>
                          <a:endParaRPr lang="en-US" dirty="0"/>
                        </a:p>
                      </a:txBody>
                      <a:tcPr/>
                    </a:tc>
                    <a:extLst>
                      <a:ext uri="{0D108BD9-81ED-4DB2-BD59-A6C34878D82A}">
                        <a16:rowId xmlns:a16="http://schemas.microsoft.com/office/drawing/2014/main" val="20450000"/>
                      </a:ext>
                    </a:extLst>
                  </a:tr>
                </a:tbl>
              </a:graphicData>
            </a:graphic>
          </p:graphicFrame>
        </mc:Choice>
        <mc:Fallback xmlns="">
          <p:graphicFrame>
            <p:nvGraphicFramePr>
              <p:cNvPr id="4" name="Table 3">
                <a:extLst>
                  <a:ext uri="{FF2B5EF4-FFF2-40B4-BE49-F238E27FC236}">
                    <a16:creationId xmlns:a16="http://schemas.microsoft.com/office/drawing/2014/main" id="{AF6B689B-4052-5500-0195-88A56BE7877E}"/>
                  </a:ext>
                </a:extLst>
              </p:cNvPr>
              <p:cNvGraphicFramePr>
                <a:graphicFrameLocks noGrp="1"/>
              </p:cNvGraphicFramePr>
              <p:nvPr>
                <p:extLst>
                  <p:ext uri="{D42A27DB-BD31-4B8C-83A1-F6EECF244321}">
                    <p14:modId xmlns:p14="http://schemas.microsoft.com/office/powerpoint/2010/main" val="217266637"/>
                  </p:ext>
                </p:extLst>
              </p:nvPr>
            </p:nvGraphicFramePr>
            <p:xfrm>
              <a:off x="7777315" y="1376516"/>
              <a:ext cx="4114800" cy="4699818"/>
            </p:xfrm>
            <a:graphic>
              <a:graphicData uri="http://schemas.openxmlformats.org/drawingml/2006/table">
                <a:tbl>
                  <a:tblPr firstRow="1" bandRow="1">
                    <a:tableStyleId>{616DA210-FB5B-4158-B5E0-FEB733F419BA}</a:tableStyleId>
                  </a:tblPr>
                  <a:tblGrid>
                    <a:gridCol w="2057400">
                      <a:extLst>
                        <a:ext uri="{9D8B030D-6E8A-4147-A177-3AD203B41FA5}">
                          <a16:colId xmlns:a16="http://schemas.microsoft.com/office/drawing/2014/main" val="992023195"/>
                        </a:ext>
                      </a:extLst>
                    </a:gridCol>
                    <a:gridCol w="2057400">
                      <a:extLst>
                        <a:ext uri="{9D8B030D-6E8A-4147-A177-3AD203B41FA5}">
                          <a16:colId xmlns:a16="http://schemas.microsoft.com/office/drawing/2014/main" val="4075397016"/>
                        </a:ext>
                      </a:extLst>
                    </a:gridCol>
                  </a:tblGrid>
                  <a:tr h="522202">
                    <a:tc>
                      <a:txBody>
                        <a:bodyPr/>
                        <a:lstStyle/>
                        <a:p>
                          <a:r>
                            <a:rPr lang="en-US" dirty="0"/>
                            <a:t>Quantization Range</a:t>
                          </a:r>
                        </a:p>
                      </a:txBody>
                      <a:tcPr/>
                    </a:tc>
                    <a:tc>
                      <a:txBody>
                        <a:bodyPr/>
                        <a:lstStyle/>
                        <a:p>
                          <a:r>
                            <a:rPr lang="en-US" dirty="0"/>
                            <a:t>Quantization Level</a:t>
                          </a:r>
                        </a:p>
                      </a:txBody>
                      <a:tcPr/>
                    </a:tc>
                    <a:extLst>
                      <a:ext uri="{0D108BD9-81ED-4DB2-BD59-A6C34878D82A}">
                        <a16:rowId xmlns:a16="http://schemas.microsoft.com/office/drawing/2014/main" val="3262667754"/>
                      </a:ext>
                    </a:extLst>
                  </a:tr>
                  <a:tr h="522202">
                    <a:tc>
                      <a:txBody>
                        <a:bodyPr/>
                        <a:lstStyle/>
                        <a:p>
                          <a:endParaRPr lang="en-US"/>
                        </a:p>
                      </a:txBody>
                      <a:tcPr>
                        <a:blipFill>
                          <a:blip r:embed="rId4"/>
                          <a:stretch>
                            <a:fillRect l="-296" t="-101163" r="-100888" b="-700000"/>
                          </a:stretch>
                        </a:blipFill>
                      </a:tcPr>
                    </a:tc>
                    <a:tc>
                      <a:txBody>
                        <a:bodyPr/>
                        <a:lstStyle/>
                        <a:p>
                          <a:endParaRPr lang="en-US"/>
                        </a:p>
                      </a:txBody>
                      <a:tcPr>
                        <a:blipFill>
                          <a:blip r:embed="rId4"/>
                          <a:stretch>
                            <a:fillRect l="-100296" t="-101163" r="-888" b="-700000"/>
                          </a:stretch>
                        </a:blipFill>
                      </a:tcPr>
                    </a:tc>
                    <a:extLst>
                      <a:ext uri="{0D108BD9-81ED-4DB2-BD59-A6C34878D82A}">
                        <a16:rowId xmlns:a16="http://schemas.microsoft.com/office/drawing/2014/main" val="3367036410"/>
                      </a:ext>
                    </a:extLst>
                  </a:tr>
                  <a:tr h="522202">
                    <a:tc>
                      <a:txBody>
                        <a:bodyPr/>
                        <a:lstStyle/>
                        <a:p>
                          <a:endParaRPr lang="en-US"/>
                        </a:p>
                      </a:txBody>
                      <a:tcPr>
                        <a:blipFill>
                          <a:blip r:embed="rId4"/>
                          <a:stretch>
                            <a:fillRect l="-296" t="-203529" r="-100888" b="-608235"/>
                          </a:stretch>
                        </a:blipFill>
                      </a:tcPr>
                    </a:tc>
                    <a:tc>
                      <a:txBody>
                        <a:bodyPr/>
                        <a:lstStyle/>
                        <a:p>
                          <a:endParaRPr lang="en-US"/>
                        </a:p>
                      </a:txBody>
                      <a:tcPr>
                        <a:blipFill>
                          <a:blip r:embed="rId4"/>
                          <a:stretch>
                            <a:fillRect l="-100296" t="-203529" r="-888" b="-608235"/>
                          </a:stretch>
                        </a:blipFill>
                      </a:tcPr>
                    </a:tc>
                    <a:extLst>
                      <a:ext uri="{0D108BD9-81ED-4DB2-BD59-A6C34878D82A}">
                        <a16:rowId xmlns:a16="http://schemas.microsoft.com/office/drawing/2014/main" val="4172571095"/>
                      </a:ext>
                    </a:extLst>
                  </a:tr>
                  <a:tr h="522202">
                    <a:tc>
                      <a:txBody>
                        <a:bodyPr/>
                        <a:lstStyle/>
                        <a:p>
                          <a:endParaRPr lang="en-US"/>
                        </a:p>
                      </a:txBody>
                      <a:tcPr>
                        <a:blipFill>
                          <a:blip r:embed="rId4"/>
                          <a:stretch>
                            <a:fillRect l="-296" t="-300000" r="-100888" b="-501163"/>
                          </a:stretch>
                        </a:blipFill>
                      </a:tcPr>
                    </a:tc>
                    <a:tc>
                      <a:txBody>
                        <a:bodyPr/>
                        <a:lstStyle/>
                        <a:p>
                          <a:endParaRPr lang="en-US"/>
                        </a:p>
                      </a:txBody>
                      <a:tcPr>
                        <a:blipFill>
                          <a:blip r:embed="rId4"/>
                          <a:stretch>
                            <a:fillRect l="-100296" t="-300000" r="-888" b="-501163"/>
                          </a:stretch>
                        </a:blipFill>
                      </a:tcPr>
                    </a:tc>
                    <a:extLst>
                      <a:ext uri="{0D108BD9-81ED-4DB2-BD59-A6C34878D82A}">
                        <a16:rowId xmlns:a16="http://schemas.microsoft.com/office/drawing/2014/main" val="875464189"/>
                      </a:ext>
                    </a:extLst>
                  </a:tr>
                  <a:tr h="522202">
                    <a:tc>
                      <a:txBody>
                        <a:bodyPr/>
                        <a:lstStyle/>
                        <a:p>
                          <a:endParaRPr lang="en-US"/>
                        </a:p>
                      </a:txBody>
                      <a:tcPr>
                        <a:blipFill>
                          <a:blip r:embed="rId4"/>
                          <a:stretch>
                            <a:fillRect l="-296" t="-400000" r="-100888" b="-401163"/>
                          </a:stretch>
                        </a:blipFill>
                      </a:tcPr>
                    </a:tc>
                    <a:tc>
                      <a:txBody>
                        <a:bodyPr/>
                        <a:lstStyle/>
                        <a:p>
                          <a:endParaRPr lang="en-US"/>
                        </a:p>
                      </a:txBody>
                      <a:tcPr>
                        <a:blipFill>
                          <a:blip r:embed="rId4"/>
                          <a:stretch>
                            <a:fillRect l="-100296" t="-400000" r="-888" b="-401163"/>
                          </a:stretch>
                        </a:blipFill>
                      </a:tcPr>
                    </a:tc>
                    <a:extLst>
                      <a:ext uri="{0D108BD9-81ED-4DB2-BD59-A6C34878D82A}">
                        <a16:rowId xmlns:a16="http://schemas.microsoft.com/office/drawing/2014/main" val="1904888121"/>
                      </a:ext>
                    </a:extLst>
                  </a:tr>
                  <a:tr h="522202">
                    <a:tc>
                      <a:txBody>
                        <a:bodyPr/>
                        <a:lstStyle/>
                        <a:p>
                          <a:endParaRPr lang="en-US"/>
                        </a:p>
                      </a:txBody>
                      <a:tcPr>
                        <a:blipFill>
                          <a:blip r:embed="rId4"/>
                          <a:stretch>
                            <a:fillRect l="-296" t="-500000" r="-100888" b="-301163"/>
                          </a:stretch>
                        </a:blipFill>
                      </a:tcPr>
                    </a:tc>
                    <a:tc>
                      <a:txBody>
                        <a:bodyPr/>
                        <a:lstStyle/>
                        <a:p>
                          <a:endParaRPr lang="en-US"/>
                        </a:p>
                      </a:txBody>
                      <a:tcPr>
                        <a:blipFill>
                          <a:blip r:embed="rId4"/>
                          <a:stretch>
                            <a:fillRect l="-100296" t="-500000" r="-888" b="-301163"/>
                          </a:stretch>
                        </a:blipFill>
                      </a:tcPr>
                    </a:tc>
                    <a:extLst>
                      <a:ext uri="{0D108BD9-81ED-4DB2-BD59-A6C34878D82A}">
                        <a16:rowId xmlns:a16="http://schemas.microsoft.com/office/drawing/2014/main" val="2325831527"/>
                      </a:ext>
                    </a:extLst>
                  </a:tr>
                  <a:tr h="522202">
                    <a:tc>
                      <a:txBody>
                        <a:bodyPr/>
                        <a:lstStyle/>
                        <a:p>
                          <a:endParaRPr lang="en-US"/>
                        </a:p>
                      </a:txBody>
                      <a:tcPr>
                        <a:blipFill>
                          <a:blip r:embed="rId4"/>
                          <a:stretch>
                            <a:fillRect l="-296" t="-607059" r="-100888" b="-204706"/>
                          </a:stretch>
                        </a:blipFill>
                      </a:tcPr>
                    </a:tc>
                    <a:tc>
                      <a:txBody>
                        <a:bodyPr/>
                        <a:lstStyle/>
                        <a:p>
                          <a:endParaRPr lang="en-US"/>
                        </a:p>
                      </a:txBody>
                      <a:tcPr>
                        <a:blipFill>
                          <a:blip r:embed="rId4"/>
                          <a:stretch>
                            <a:fillRect l="-100296" t="-607059" r="-888" b="-204706"/>
                          </a:stretch>
                        </a:blipFill>
                      </a:tcPr>
                    </a:tc>
                    <a:extLst>
                      <a:ext uri="{0D108BD9-81ED-4DB2-BD59-A6C34878D82A}">
                        <a16:rowId xmlns:a16="http://schemas.microsoft.com/office/drawing/2014/main" val="4067309563"/>
                      </a:ext>
                    </a:extLst>
                  </a:tr>
                  <a:tr h="522202">
                    <a:tc>
                      <a:txBody>
                        <a:bodyPr/>
                        <a:lstStyle/>
                        <a:p>
                          <a:endParaRPr lang="en-US"/>
                        </a:p>
                      </a:txBody>
                      <a:tcPr>
                        <a:blipFill>
                          <a:blip r:embed="rId4"/>
                          <a:stretch>
                            <a:fillRect l="-296" t="-698837" r="-100888" b="-102326"/>
                          </a:stretch>
                        </a:blipFill>
                      </a:tcPr>
                    </a:tc>
                    <a:tc>
                      <a:txBody>
                        <a:bodyPr/>
                        <a:lstStyle/>
                        <a:p>
                          <a:endParaRPr lang="en-US"/>
                        </a:p>
                      </a:txBody>
                      <a:tcPr>
                        <a:blipFill>
                          <a:blip r:embed="rId4"/>
                          <a:stretch>
                            <a:fillRect l="-100296" t="-698837" r="-888" b="-102326"/>
                          </a:stretch>
                        </a:blipFill>
                      </a:tcPr>
                    </a:tc>
                    <a:extLst>
                      <a:ext uri="{0D108BD9-81ED-4DB2-BD59-A6C34878D82A}">
                        <a16:rowId xmlns:a16="http://schemas.microsoft.com/office/drawing/2014/main" val="3039577478"/>
                      </a:ext>
                    </a:extLst>
                  </a:tr>
                  <a:tr h="522202">
                    <a:tc>
                      <a:txBody>
                        <a:bodyPr/>
                        <a:lstStyle/>
                        <a:p>
                          <a:endParaRPr lang="en-US"/>
                        </a:p>
                      </a:txBody>
                      <a:tcPr>
                        <a:blipFill>
                          <a:blip r:embed="rId4"/>
                          <a:stretch>
                            <a:fillRect l="-296" t="-798837" r="-100888" b="-2326"/>
                          </a:stretch>
                        </a:blipFill>
                      </a:tcPr>
                    </a:tc>
                    <a:tc>
                      <a:txBody>
                        <a:bodyPr/>
                        <a:lstStyle/>
                        <a:p>
                          <a:endParaRPr lang="en-US"/>
                        </a:p>
                      </a:txBody>
                      <a:tcPr>
                        <a:blipFill>
                          <a:blip r:embed="rId4"/>
                          <a:stretch>
                            <a:fillRect l="-100296" t="-798837" r="-888" b="-2326"/>
                          </a:stretch>
                        </a:blipFill>
                      </a:tcPr>
                    </a:tc>
                    <a:extLst>
                      <a:ext uri="{0D108BD9-81ED-4DB2-BD59-A6C34878D82A}">
                        <a16:rowId xmlns:a16="http://schemas.microsoft.com/office/drawing/2014/main" val="20450000"/>
                      </a:ext>
                    </a:extLst>
                  </a:tr>
                </a:tbl>
              </a:graphicData>
            </a:graphic>
          </p:graphicFrame>
        </mc:Fallback>
      </mc:AlternateContent>
      <p:pic>
        <p:nvPicPr>
          <p:cNvPr id="7" name="Picture 6">
            <a:extLst>
              <a:ext uri="{FF2B5EF4-FFF2-40B4-BE49-F238E27FC236}">
                <a16:creationId xmlns:a16="http://schemas.microsoft.com/office/drawing/2014/main" id="{9A3169BD-6BDC-5F61-9198-DA4157813079}"/>
              </a:ext>
            </a:extLst>
          </p:cNvPr>
          <p:cNvPicPr>
            <a:picLocks noChangeAspect="1"/>
          </p:cNvPicPr>
          <p:nvPr/>
        </p:nvPicPr>
        <p:blipFill>
          <a:blip r:embed="rId5"/>
          <a:stretch>
            <a:fillRect/>
          </a:stretch>
        </p:blipFill>
        <p:spPr>
          <a:xfrm>
            <a:off x="954428" y="824060"/>
            <a:ext cx="5796228" cy="4371291"/>
          </a:xfrm>
          <a:prstGeom prst="rect">
            <a:avLst/>
          </a:prstGeom>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52A8488-9007-0A71-DF41-9DE97457C9C1}"/>
                  </a:ext>
                </a:extLst>
              </p:cNvPr>
              <p:cNvSpPr txBox="1"/>
              <p:nvPr/>
            </p:nvSpPr>
            <p:spPr>
              <a:xfrm>
                <a:off x="1096668" y="5403622"/>
                <a:ext cx="5608932" cy="523220"/>
              </a:xfrm>
              <a:prstGeom prst="rect">
                <a:avLst/>
              </a:prstGeom>
              <a:noFill/>
            </p:spPr>
            <p:txBody>
              <a:bodyPr wrap="square" rtlCol="0">
                <a:spAutoFit/>
              </a:bodyPr>
              <a:lstStyle/>
              <a:p>
                <a:r>
                  <a:rPr lang="en-US" dirty="0"/>
                  <a:t>Here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is the resolution, you can assume any value of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𝑚𝑎𝑥</m:t>
                        </m:r>
                      </m:sub>
                    </m:sSub>
                    <m:r>
                      <a:rPr lang="en-US" b="0" i="1" smtClean="0">
                        <a:latin typeface="Cambria Math" panose="02040503050406030204" pitchFamily="18" charset="0"/>
                      </a:rPr>
                      <m:t>=4</m:t>
                    </m:r>
                    <m:r>
                      <a:rPr lang="en-US" b="0" i="1" smtClean="0">
                        <a:latin typeface="Cambria Math" panose="02040503050406030204" pitchFamily="18" charset="0"/>
                        <a:ea typeface="Cambria Math" panose="02040503050406030204" pitchFamily="18" charset="0"/>
                      </a:rPr>
                      <m:t>∆</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𝑚𝑖𝑛</m:t>
                        </m:r>
                      </m:sub>
                    </m:sSub>
                    <m:r>
                      <a:rPr lang="en-US" b="0" i="1" smtClean="0">
                        <a:latin typeface="Cambria Math" panose="02040503050406030204" pitchFamily="18" charset="0"/>
                      </a:rPr>
                      <m:t>=−4</m:t>
                    </m:r>
                    <m:r>
                      <a:rPr lang="en-US" i="1">
                        <a:latin typeface="Cambria Math" panose="02040503050406030204" pitchFamily="18" charset="0"/>
                        <a:ea typeface="Cambria Math" panose="02040503050406030204" pitchFamily="18" charset="0"/>
                      </a:rPr>
                      <m:t>∆</m:t>
                    </m:r>
                  </m:oMath>
                </a14:m>
                <a:endParaRPr lang="en-US" dirty="0"/>
              </a:p>
            </p:txBody>
          </p:sp>
        </mc:Choice>
        <mc:Fallback>
          <p:sp>
            <p:nvSpPr>
              <p:cNvPr id="2" name="TextBox 1">
                <a:extLst>
                  <a:ext uri="{FF2B5EF4-FFF2-40B4-BE49-F238E27FC236}">
                    <a16:creationId xmlns:a16="http://schemas.microsoft.com/office/drawing/2014/main" id="{652A8488-9007-0A71-DF41-9DE97457C9C1}"/>
                  </a:ext>
                </a:extLst>
              </p:cNvPr>
              <p:cNvSpPr txBox="1">
                <a:spLocks noRot="1" noChangeAspect="1" noMove="1" noResize="1" noEditPoints="1" noAdjustHandles="1" noChangeArrowheads="1" noChangeShapeType="1" noTextEdit="1"/>
              </p:cNvSpPr>
              <p:nvPr/>
            </p:nvSpPr>
            <p:spPr>
              <a:xfrm>
                <a:off x="1096668" y="5403622"/>
                <a:ext cx="5608932" cy="523220"/>
              </a:xfrm>
              <a:prstGeom prst="rect">
                <a:avLst/>
              </a:prstGeom>
              <a:blipFill>
                <a:blip r:embed="rId6"/>
                <a:stretch>
                  <a:fillRect l="-326" t="-1163" b="-11628"/>
                </a:stretch>
              </a:blipFill>
            </p:spPr>
            <p:txBody>
              <a:bodyPr/>
              <a:lstStyle/>
              <a:p>
                <a:r>
                  <a:rPr lang="en-US">
                    <a:noFill/>
                  </a:rPr>
                  <a:t> </a:t>
                </a:r>
              </a:p>
            </p:txBody>
          </p:sp>
        </mc:Fallback>
      </mc:AlternateContent>
    </p:spTree>
    <p:extLst>
      <p:ext uri="{BB962C8B-B14F-4D97-AF65-F5344CB8AC3E}">
        <p14:creationId xmlns:p14="http://schemas.microsoft.com/office/powerpoint/2010/main" val="3470629256"/>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69C64A6D-D9DE-9FC9-CD09-75378423A326}"/>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089F4EC0-ADE7-AE67-E846-13B3DD51E2CF}"/>
              </a:ext>
            </a:extLst>
          </p:cNvPr>
          <p:cNvSpPr txBox="1">
            <a:spLocks noGrp="1"/>
          </p:cNvSpPr>
          <p:nvPr>
            <p:ph type="title"/>
          </p:nvPr>
        </p:nvSpPr>
        <p:spPr>
          <a:xfrm>
            <a:off x="579119" y="262816"/>
            <a:ext cx="11312996" cy="101782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Mid tread Quantization</a:t>
            </a:r>
            <a:br>
              <a:rPr lang="en-US" dirty="0">
                <a:solidFill>
                  <a:schemeClr val="accent1"/>
                </a:solidFill>
              </a:rPr>
            </a:br>
            <a:r>
              <a:rPr lang="en-US" dirty="0">
                <a:solidFill>
                  <a:schemeClr val="accent1"/>
                </a:solidFill>
                <a:sym typeface="Wingdings" panose="05000000000000000000" pitchFamily="2" charset="2"/>
              </a:rPr>
              <a:t>( Not symmetrical and Equally Spaced)</a:t>
            </a:r>
            <a:endParaRPr lang="en-US" dirty="0">
              <a:solidFill>
                <a:schemeClr val="accent1"/>
              </a:solidFill>
            </a:endParaRPr>
          </a:p>
        </p:txBody>
      </p:sp>
      <p:sp>
        <p:nvSpPr>
          <p:cNvPr id="100" name="Google Shape;100;p2">
            <a:extLst>
              <a:ext uri="{FF2B5EF4-FFF2-40B4-BE49-F238E27FC236}">
                <a16:creationId xmlns:a16="http://schemas.microsoft.com/office/drawing/2014/main" id="{20C51605-8B8F-A4DE-4DA9-078A0D122025}"/>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9EDA31D7-5081-C905-1A2C-F7396A2B9112}"/>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pic>
        <p:nvPicPr>
          <p:cNvPr id="102" name="Google Shape;102;p2">
            <a:extLst>
              <a:ext uri="{FF2B5EF4-FFF2-40B4-BE49-F238E27FC236}">
                <a16:creationId xmlns:a16="http://schemas.microsoft.com/office/drawing/2014/main" id="{83B6B581-D928-5350-A679-E2198B7CF295}"/>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C0AD001F-29B0-9B58-DDD7-E73D40150680}"/>
                  </a:ext>
                </a:extLst>
              </p:cNvPr>
              <p:cNvGraphicFramePr>
                <a:graphicFrameLocks noGrp="1"/>
              </p:cNvGraphicFramePr>
              <p:nvPr>
                <p:extLst>
                  <p:ext uri="{D42A27DB-BD31-4B8C-83A1-F6EECF244321}">
                    <p14:modId xmlns:p14="http://schemas.microsoft.com/office/powerpoint/2010/main" val="3144705290"/>
                  </p:ext>
                </p:extLst>
              </p:nvPr>
            </p:nvGraphicFramePr>
            <p:xfrm>
              <a:off x="7777315" y="1376516"/>
              <a:ext cx="4114800" cy="4699818"/>
            </p:xfrm>
            <a:graphic>
              <a:graphicData uri="http://schemas.openxmlformats.org/drawingml/2006/table">
                <a:tbl>
                  <a:tblPr firstRow="1" bandRow="1">
                    <a:tableStyleId>{616DA210-FB5B-4158-B5E0-FEB733F419BA}</a:tableStyleId>
                  </a:tblPr>
                  <a:tblGrid>
                    <a:gridCol w="2057400">
                      <a:extLst>
                        <a:ext uri="{9D8B030D-6E8A-4147-A177-3AD203B41FA5}">
                          <a16:colId xmlns:a16="http://schemas.microsoft.com/office/drawing/2014/main" val="992023195"/>
                        </a:ext>
                      </a:extLst>
                    </a:gridCol>
                    <a:gridCol w="2057400">
                      <a:extLst>
                        <a:ext uri="{9D8B030D-6E8A-4147-A177-3AD203B41FA5}">
                          <a16:colId xmlns:a16="http://schemas.microsoft.com/office/drawing/2014/main" val="4075397016"/>
                        </a:ext>
                      </a:extLst>
                    </a:gridCol>
                  </a:tblGrid>
                  <a:tr h="522202">
                    <a:tc>
                      <a:txBody>
                        <a:bodyPr/>
                        <a:lstStyle/>
                        <a:p>
                          <a:r>
                            <a:rPr lang="en-US" dirty="0"/>
                            <a:t>Quantization Range</a:t>
                          </a:r>
                        </a:p>
                      </a:txBody>
                      <a:tcPr/>
                    </a:tc>
                    <a:tc>
                      <a:txBody>
                        <a:bodyPr/>
                        <a:lstStyle/>
                        <a:p>
                          <a:r>
                            <a:rPr lang="en-US" dirty="0"/>
                            <a:t>Quantization Level</a:t>
                          </a:r>
                        </a:p>
                      </a:txBody>
                      <a:tcPr/>
                    </a:tc>
                    <a:extLst>
                      <a:ext uri="{0D108BD9-81ED-4DB2-BD59-A6C34878D82A}">
                        <a16:rowId xmlns:a16="http://schemas.microsoft.com/office/drawing/2014/main" val="3262667754"/>
                      </a:ext>
                    </a:extLst>
                  </a:tr>
                  <a:tr h="522202">
                    <a:tc>
                      <a:txBody>
                        <a:bodyPr/>
                        <a:lstStyle/>
                        <a:p>
                          <a:r>
                            <a:rPr lang="en-US" b="0" dirty="0">
                              <a:ea typeface="Cambria Math" panose="02040503050406030204" pitchFamily="18" charset="0"/>
                            </a:rPr>
                            <a:t>(</a:t>
                          </a:r>
                          <a14:m>
                            <m:oMath xmlns:m="http://schemas.openxmlformats.org/officeDocument/2006/math">
                              <m:r>
                                <a:rPr lang="en-US" b="0" i="1" smtClean="0">
                                  <a:latin typeface="Cambria Math" panose="02040503050406030204" pitchFamily="18" charset="0"/>
                                  <a:ea typeface="Cambria Math" panose="02040503050406030204" pitchFamily="18" charset="0"/>
                                </a:rPr>
                                <m:t>−4</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.5∆)</m:t>
                              </m:r>
                            </m:oMath>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−3.75</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oMath>
                            </m:oMathPara>
                          </a14:m>
                          <a:endParaRPr lang="en-US" dirty="0"/>
                        </a:p>
                      </a:txBody>
                      <a:tcPr/>
                    </a:tc>
                    <a:extLst>
                      <a:ext uri="{0D108BD9-81ED-4DB2-BD59-A6C34878D82A}">
                        <a16:rowId xmlns:a16="http://schemas.microsoft.com/office/drawing/2014/main" val="3367036410"/>
                      </a:ext>
                    </a:extLst>
                  </a:tr>
                  <a:tr h="5222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ea typeface="Cambria Math" panose="02040503050406030204" pitchFamily="18" charset="0"/>
                            </a:rPr>
                            <a:t>(</a:t>
                          </a: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.5</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.5∆)</m:t>
                              </m:r>
                            </m:oMath>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oMath>
                            </m:oMathPara>
                          </a14:m>
                          <a:endParaRPr lang="en-US" dirty="0"/>
                        </a:p>
                      </a:txBody>
                      <a:tcPr/>
                    </a:tc>
                    <a:extLst>
                      <a:ext uri="{0D108BD9-81ED-4DB2-BD59-A6C34878D82A}">
                        <a16:rowId xmlns:a16="http://schemas.microsoft.com/office/drawing/2014/main" val="4172571095"/>
                      </a:ext>
                    </a:extLst>
                  </a:tr>
                  <a:tr h="5222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ea typeface="Cambria Math" panose="02040503050406030204" pitchFamily="18" charset="0"/>
                            </a:rPr>
                            <a:t>(</a:t>
                          </a:r>
                          <a14:m>
                            <m:oMath xmlns:m="http://schemas.openxmlformats.org/officeDocument/2006/math">
                              <m:r>
                                <a:rPr lang="en-US" b="0" i="1" smtClean="0">
                                  <a:latin typeface="Cambria Math" panose="02040503050406030204" pitchFamily="18" charset="0"/>
                                  <a:ea typeface="Cambria Math" panose="02040503050406030204" pitchFamily="18" charset="0"/>
                                </a:rPr>
                                <m:t>−2.5</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−1.5∆)</m:t>
                              </m:r>
                            </m:oMath>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−2 </m:t>
                                </m:r>
                                <m:r>
                                  <a:rPr lang="en-US" b="0" i="1" smtClean="0">
                                    <a:latin typeface="Cambria Math" panose="02040503050406030204" pitchFamily="18" charset="0"/>
                                    <a:ea typeface="Cambria Math" panose="02040503050406030204" pitchFamily="18" charset="0"/>
                                  </a:rPr>
                                  <m:t>∆</m:t>
                                </m:r>
                              </m:oMath>
                            </m:oMathPara>
                          </a14:m>
                          <a:endParaRPr lang="en-US" dirty="0"/>
                        </a:p>
                      </a:txBody>
                      <a:tcPr/>
                    </a:tc>
                    <a:extLst>
                      <a:ext uri="{0D108BD9-81ED-4DB2-BD59-A6C34878D82A}">
                        <a16:rowId xmlns:a16="http://schemas.microsoft.com/office/drawing/2014/main" val="875464189"/>
                      </a:ext>
                    </a:extLst>
                  </a:tr>
                  <a:tr h="5222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ea typeface="Cambria Math" panose="02040503050406030204" pitchFamily="18" charset="0"/>
                            </a:rPr>
                            <a:t>(</a:t>
                          </a:r>
                          <a14:m>
                            <m:oMath xmlns:m="http://schemas.openxmlformats.org/officeDocument/2006/math">
                              <m:r>
                                <a:rPr lang="en-US" b="0" i="1" smtClean="0">
                                  <a:latin typeface="Cambria Math" panose="02040503050406030204" pitchFamily="18" charset="0"/>
                                  <a:ea typeface="Cambria Math" panose="02040503050406030204" pitchFamily="18" charset="0"/>
                                </a:rPr>
                                <m:t>−1.5</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−0.5∆)</m:t>
                              </m:r>
                            </m:oMath>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oMath>
                            </m:oMathPara>
                          </a14:m>
                          <a:endParaRPr lang="en-US" dirty="0"/>
                        </a:p>
                      </a:txBody>
                      <a:tcPr/>
                    </a:tc>
                    <a:extLst>
                      <a:ext uri="{0D108BD9-81ED-4DB2-BD59-A6C34878D82A}">
                        <a16:rowId xmlns:a16="http://schemas.microsoft.com/office/drawing/2014/main" val="1904888121"/>
                      </a:ext>
                    </a:extLst>
                  </a:tr>
                  <a:tr h="5222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ea typeface="Cambria Math" panose="02040503050406030204" pitchFamily="18" charset="0"/>
                            </a:rPr>
                            <a:t>(</a:t>
                          </a:r>
                          <a14:m>
                            <m:oMath xmlns:m="http://schemas.openxmlformats.org/officeDocument/2006/math">
                              <m:r>
                                <a:rPr lang="en-US" b="0" i="1" smtClean="0">
                                  <a:latin typeface="Cambria Math" panose="02040503050406030204" pitchFamily="18" charset="0"/>
                                  <a:ea typeface="Cambria Math" panose="02040503050406030204" pitchFamily="18" charset="0"/>
                                </a:rPr>
                                <m:t>−0.5</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0.5</m:t>
                              </m:r>
                              <m:r>
                                <m:rPr>
                                  <m:sty m:val="p"/>
                                </m:rPr>
                                <a:rPr lang="en-US" b="0" i="0" smtClean="0">
                                  <a:latin typeface="Cambria Math" panose="02040503050406030204" pitchFamily="18" charset="0"/>
                                  <a:ea typeface="Cambria Math" panose="02040503050406030204" pitchFamily="18" charset="0"/>
                                </a:rPr>
                                <m:t>Δ</m:t>
                              </m:r>
                              <m:r>
                                <a:rPr lang="en-US" b="0" i="1" smtClean="0">
                                  <a:latin typeface="Cambria Math" panose="02040503050406030204" pitchFamily="18" charset="0"/>
                                  <a:ea typeface="Cambria Math" panose="02040503050406030204" pitchFamily="18" charset="0"/>
                                </a:rPr>
                                <m:t>)</m:t>
                              </m:r>
                            </m:oMath>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a:txBody>
                      <a:tcPr/>
                    </a:tc>
                    <a:extLst>
                      <a:ext uri="{0D108BD9-81ED-4DB2-BD59-A6C34878D82A}">
                        <a16:rowId xmlns:a16="http://schemas.microsoft.com/office/drawing/2014/main" val="2325831527"/>
                      </a:ext>
                    </a:extLst>
                  </a:tr>
                  <a:tr h="5222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ea typeface="Cambria Math" panose="02040503050406030204" pitchFamily="18" charset="0"/>
                            </a:rPr>
                            <a:t>(</a:t>
                          </a:r>
                          <a14:m>
                            <m:oMath xmlns:m="http://schemas.openxmlformats.org/officeDocument/2006/math">
                              <m:r>
                                <a:rPr lang="en-US" b="0" i="1" smtClean="0">
                                  <a:latin typeface="Cambria Math" panose="02040503050406030204" pitchFamily="18" charset="0"/>
                                  <a:ea typeface="Cambria Math" panose="02040503050406030204" pitchFamily="18" charset="0"/>
                                </a:rPr>
                                <m:t>0.5</m:t>
                              </m:r>
                              <m:r>
                                <m:rPr>
                                  <m:sty m:val="p"/>
                                </m:rPr>
                                <a:rPr lang="en-US" b="0" i="0" smtClean="0">
                                  <a:latin typeface="Cambria Math" panose="02040503050406030204" pitchFamily="18" charset="0"/>
                                  <a:ea typeface="Cambria Math" panose="02040503050406030204" pitchFamily="18" charset="0"/>
                                </a:rPr>
                                <m:t>Δ</m:t>
                              </m:r>
                              <m:r>
                                <a:rPr lang="en-US" b="0" i="1" smtClean="0">
                                  <a:latin typeface="Cambria Math" panose="02040503050406030204" pitchFamily="18" charset="0"/>
                                  <a:ea typeface="Cambria Math" panose="02040503050406030204" pitchFamily="18" charset="0"/>
                                </a:rPr>
                                <m:t>, 1.5∆)</m:t>
                              </m:r>
                            </m:oMath>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oMath>
                            </m:oMathPara>
                          </a14:m>
                          <a:endParaRPr lang="en-US" dirty="0"/>
                        </a:p>
                      </a:txBody>
                      <a:tcPr/>
                    </a:tc>
                    <a:extLst>
                      <a:ext uri="{0D108BD9-81ED-4DB2-BD59-A6C34878D82A}">
                        <a16:rowId xmlns:a16="http://schemas.microsoft.com/office/drawing/2014/main" val="4067309563"/>
                      </a:ext>
                    </a:extLst>
                  </a:tr>
                  <a:tr h="5222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ea typeface="Cambria Math" panose="02040503050406030204" pitchFamily="18" charset="0"/>
                            </a:rPr>
                            <a:t>(</a:t>
                          </a:r>
                          <a14:m>
                            <m:oMath xmlns:m="http://schemas.openxmlformats.org/officeDocument/2006/math">
                              <m:r>
                                <a:rPr lang="en-US" b="0" i="0" smtClean="0">
                                  <a:latin typeface="Cambria Math" panose="02040503050406030204" pitchFamily="18" charset="0"/>
                                  <a:ea typeface="Cambria Math" panose="02040503050406030204" pitchFamily="18" charset="0"/>
                                </a:rPr>
                                <m:t>1.5</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2.5∆)</m:t>
                              </m:r>
                            </m:oMath>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2 </m:t>
                                </m:r>
                                <m:r>
                                  <a:rPr lang="en-US" b="0" i="1" smtClean="0">
                                    <a:latin typeface="Cambria Math" panose="02040503050406030204" pitchFamily="18" charset="0"/>
                                    <a:ea typeface="Cambria Math" panose="02040503050406030204" pitchFamily="18" charset="0"/>
                                  </a:rPr>
                                  <m:t>∆</m:t>
                                </m:r>
                              </m:oMath>
                            </m:oMathPara>
                          </a14:m>
                          <a:endParaRPr lang="en-US" dirty="0"/>
                        </a:p>
                      </a:txBody>
                      <a:tcPr/>
                    </a:tc>
                    <a:extLst>
                      <a:ext uri="{0D108BD9-81ED-4DB2-BD59-A6C34878D82A}">
                        <a16:rowId xmlns:a16="http://schemas.microsoft.com/office/drawing/2014/main" val="3039577478"/>
                      </a:ext>
                    </a:extLst>
                  </a:tr>
                  <a:tr h="5222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ea typeface="Cambria Math" panose="02040503050406030204" pitchFamily="18" charset="0"/>
                            </a:rPr>
                            <a:t>(</a:t>
                          </a:r>
                          <a14:m>
                            <m:oMath xmlns:m="http://schemas.openxmlformats.org/officeDocument/2006/math">
                              <m:r>
                                <a:rPr lang="en-US" b="0" i="1" smtClean="0">
                                  <a:latin typeface="Cambria Math" panose="02040503050406030204" pitchFamily="18" charset="0"/>
                                  <a:ea typeface="Cambria Math" panose="02040503050406030204" pitchFamily="18" charset="0"/>
                                </a:rPr>
                                <m:t>2.5</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m:t>
                              </m:r>
                            </m:oMath>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3.25</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oMath>
                            </m:oMathPara>
                          </a14:m>
                          <a:endParaRPr lang="en-US" dirty="0"/>
                        </a:p>
                      </a:txBody>
                      <a:tcPr/>
                    </a:tc>
                    <a:extLst>
                      <a:ext uri="{0D108BD9-81ED-4DB2-BD59-A6C34878D82A}">
                        <a16:rowId xmlns:a16="http://schemas.microsoft.com/office/drawing/2014/main" val="20450000"/>
                      </a:ext>
                    </a:extLst>
                  </a:tr>
                </a:tbl>
              </a:graphicData>
            </a:graphic>
          </p:graphicFrame>
        </mc:Choice>
        <mc:Fallback>
          <p:graphicFrame>
            <p:nvGraphicFramePr>
              <p:cNvPr id="4" name="Table 3">
                <a:extLst>
                  <a:ext uri="{FF2B5EF4-FFF2-40B4-BE49-F238E27FC236}">
                    <a16:creationId xmlns:a16="http://schemas.microsoft.com/office/drawing/2014/main" id="{C0AD001F-29B0-9B58-DDD7-E73D40150680}"/>
                  </a:ext>
                </a:extLst>
              </p:cNvPr>
              <p:cNvGraphicFramePr>
                <a:graphicFrameLocks noGrp="1"/>
              </p:cNvGraphicFramePr>
              <p:nvPr>
                <p:extLst>
                  <p:ext uri="{D42A27DB-BD31-4B8C-83A1-F6EECF244321}">
                    <p14:modId xmlns:p14="http://schemas.microsoft.com/office/powerpoint/2010/main" val="3144705290"/>
                  </p:ext>
                </p:extLst>
              </p:nvPr>
            </p:nvGraphicFramePr>
            <p:xfrm>
              <a:off x="7777315" y="1376516"/>
              <a:ext cx="4114800" cy="4699818"/>
            </p:xfrm>
            <a:graphic>
              <a:graphicData uri="http://schemas.openxmlformats.org/drawingml/2006/table">
                <a:tbl>
                  <a:tblPr firstRow="1" bandRow="1">
                    <a:tableStyleId>{616DA210-FB5B-4158-B5E0-FEB733F419BA}</a:tableStyleId>
                  </a:tblPr>
                  <a:tblGrid>
                    <a:gridCol w="2057400">
                      <a:extLst>
                        <a:ext uri="{9D8B030D-6E8A-4147-A177-3AD203B41FA5}">
                          <a16:colId xmlns:a16="http://schemas.microsoft.com/office/drawing/2014/main" val="992023195"/>
                        </a:ext>
                      </a:extLst>
                    </a:gridCol>
                    <a:gridCol w="2057400">
                      <a:extLst>
                        <a:ext uri="{9D8B030D-6E8A-4147-A177-3AD203B41FA5}">
                          <a16:colId xmlns:a16="http://schemas.microsoft.com/office/drawing/2014/main" val="4075397016"/>
                        </a:ext>
                      </a:extLst>
                    </a:gridCol>
                  </a:tblGrid>
                  <a:tr h="522202">
                    <a:tc>
                      <a:txBody>
                        <a:bodyPr/>
                        <a:lstStyle/>
                        <a:p>
                          <a:r>
                            <a:rPr lang="en-US" dirty="0"/>
                            <a:t>Quantization Range</a:t>
                          </a:r>
                        </a:p>
                      </a:txBody>
                      <a:tcPr/>
                    </a:tc>
                    <a:tc>
                      <a:txBody>
                        <a:bodyPr/>
                        <a:lstStyle/>
                        <a:p>
                          <a:r>
                            <a:rPr lang="en-US" dirty="0"/>
                            <a:t>Quantization Level</a:t>
                          </a:r>
                        </a:p>
                      </a:txBody>
                      <a:tcPr/>
                    </a:tc>
                    <a:extLst>
                      <a:ext uri="{0D108BD9-81ED-4DB2-BD59-A6C34878D82A}">
                        <a16:rowId xmlns:a16="http://schemas.microsoft.com/office/drawing/2014/main" val="3262667754"/>
                      </a:ext>
                    </a:extLst>
                  </a:tr>
                  <a:tr h="522202">
                    <a:tc>
                      <a:txBody>
                        <a:bodyPr/>
                        <a:lstStyle/>
                        <a:p>
                          <a:endParaRPr lang="en-US"/>
                        </a:p>
                      </a:txBody>
                      <a:tcPr>
                        <a:blipFill>
                          <a:blip r:embed="rId4"/>
                          <a:stretch>
                            <a:fillRect l="-296" t="-101163" r="-100888" b="-700000"/>
                          </a:stretch>
                        </a:blipFill>
                      </a:tcPr>
                    </a:tc>
                    <a:tc>
                      <a:txBody>
                        <a:bodyPr/>
                        <a:lstStyle/>
                        <a:p>
                          <a:endParaRPr lang="en-US"/>
                        </a:p>
                      </a:txBody>
                      <a:tcPr>
                        <a:blipFill>
                          <a:blip r:embed="rId4"/>
                          <a:stretch>
                            <a:fillRect l="-100296" t="-101163" r="-888" b="-700000"/>
                          </a:stretch>
                        </a:blipFill>
                      </a:tcPr>
                    </a:tc>
                    <a:extLst>
                      <a:ext uri="{0D108BD9-81ED-4DB2-BD59-A6C34878D82A}">
                        <a16:rowId xmlns:a16="http://schemas.microsoft.com/office/drawing/2014/main" val="3367036410"/>
                      </a:ext>
                    </a:extLst>
                  </a:tr>
                  <a:tr h="522202">
                    <a:tc>
                      <a:txBody>
                        <a:bodyPr/>
                        <a:lstStyle/>
                        <a:p>
                          <a:endParaRPr lang="en-US"/>
                        </a:p>
                      </a:txBody>
                      <a:tcPr>
                        <a:blipFill>
                          <a:blip r:embed="rId4"/>
                          <a:stretch>
                            <a:fillRect l="-296" t="-203529" r="-100888" b="-608235"/>
                          </a:stretch>
                        </a:blipFill>
                      </a:tcPr>
                    </a:tc>
                    <a:tc>
                      <a:txBody>
                        <a:bodyPr/>
                        <a:lstStyle/>
                        <a:p>
                          <a:endParaRPr lang="en-US"/>
                        </a:p>
                      </a:txBody>
                      <a:tcPr>
                        <a:blipFill>
                          <a:blip r:embed="rId4"/>
                          <a:stretch>
                            <a:fillRect l="-100296" t="-203529" r="-888" b="-608235"/>
                          </a:stretch>
                        </a:blipFill>
                      </a:tcPr>
                    </a:tc>
                    <a:extLst>
                      <a:ext uri="{0D108BD9-81ED-4DB2-BD59-A6C34878D82A}">
                        <a16:rowId xmlns:a16="http://schemas.microsoft.com/office/drawing/2014/main" val="4172571095"/>
                      </a:ext>
                    </a:extLst>
                  </a:tr>
                  <a:tr h="522202">
                    <a:tc>
                      <a:txBody>
                        <a:bodyPr/>
                        <a:lstStyle/>
                        <a:p>
                          <a:endParaRPr lang="en-US"/>
                        </a:p>
                      </a:txBody>
                      <a:tcPr>
                        <a:blipFill>
                          <a:blip r:embed="rId4"/>
                          <a:stretch>
                            <a:fillRect l="-296" t="-300000" r="-100888" b="-501163"/>
                          </a:stretch>
                        </a:blipFill>
                      </a:tcPr>
                    </a:tc>
                    <a:tc>
                      <a:txBody>
                        <a:bodyPr/>
                        <a:lstStyle/>
                        <a:p>
                          <a:endParaRPr lang="en-US"/>
                        </a:p>
                      </a:txBody>
                      <a:tcPr>
                        <a:blipFill>
                          <a:blip r:embed="rId4"/>
                          <a:stretch>
                            <a:fillRect l="-100296" t="-300000" r="-888" b="-501163"/>
                          </a:stretch>
                        </a:blipFill>
                      </a:tcPr>
                    </a:tc>
                    <a:extLst>
                      <a:ext uri="{0D108BD9-81ED-4DB2-BD59-A6C34878D82A}">
                        <a16:rowId xmlns:a16="http://schemas.microsoft.com/office/drawing/2014/main" val="875464189"/>
                      </a:ext>
                    </a:extLst>
                  </a:tr>
                  <a:tr h="522202">
                    <a:tc>
                      <a:txBody>
                        <a:bodyPr/>
                        <a:lstStyle/>
                        <a:p>
                          <a:endParaRPr lang="en-US"/>
                        </a:p>
                      </a:txBody>
                      <a:tcPr>
                        <a:blipFill>
                          <a:blip r:embed="rId4"/>
                          <a:stretch>
                            <a:fillRect l="-296" t="-400000" r="-100888" b="-401163"/>
                          </a:stretch>
                        </a:blipFill>
                      </a:tcPr>
                    </a:tc>
                    <a:tc>
                      <a:txBody>
                        <a:bodyPr/>
                        <a:lstStyle/>
                        <a:p>
                          <a:endParaRPr lang="en-US"/>
                        </a:p>
                      </a:txBody>
                      <a:tcPr>
                        <a:blipFill>
                          <a:blip r:embed="rId4"/>
                          <a:stretch>
                            <a:fillRect l="-100296" t="-400000" r="-888" b="-401163"/>
                          </a:stretch>
                        </a:blipFill>
                      </a:tcPr>
                    </a:tc>
                    <a:extLst>
                      <a:ext uri="{0D108BD9-81ED-4DB2-BD59-A6C34878D82A}">
                        <a16:rowId xmlns:a16="http://schemas.microsoft.com/office/drawing/2014/main" val="1904888121"/>
                      </a:ext>
                    </a:extLst>
                  </a:tr>
                  <a:tr h="522202">
                    <a:tc>
                      <a:txBody>
                        <a:bodyPr/>
                        <a:lstStyle/>
                        <a:p>
                          <a:endParaRPr lang="en-US"/>
                        </a:p>
                      </a:txBody>
                      <a:tcPr>
                        <a:blipFill>
                          <a:blip r:embed="rId4"/>
                          <a:stretch>
                            <a:fillRect l="-296" t="-500000" r="-100888" b="-301163"/>
                          </a:stretch>
                        </a:blipFill>
                      </a:tcPr>
                    </a:tc>
                    <a:tc>
                      <a:txBody>
                        <a:bodyPr/>
                        <a:lstStyle/>
                        <a:p>
                          <a:endParaRPr lang="en-US"/>
                        </a:p>
                      </a:txBody>
                      <a:tcPr>
                        <a:blipFill>
                          <a:blip r:embed="rId4"/>
                          <a:stretch>
                            <a:fillRect l="-100296" t="-500000" r="-888" b="-301163"/>
                          </a:stretch>
                        </a:blipFill>
                      </a:tcPr>
                    </a:tc>
                    <a:extLst>
                      <a:ext uri="{0D108BD9-81ED-4DB2-BD59-A6C34878D82A}">
                        <a16:rowId xmlns:a16="http://schemas.microsoft.com/office/drawing/2014/main" val="2325831527"/>
                      </a:ext>
                    </a:extLst>
                  </a:tr>
                  <a:tr h="522202">
                    <a:tc>
                      <a:txBody>
                        <a:bodyPr/>
                        <a:lstStyle/>
                        <a:p>
                          <a:endParaRPr lang="en-US"/>
                        </a:p>
                      </a:txBody>
                      <a:tcPr>
                        <a:blipFill>
                          <a:blip r:embed="rId4"/>
                          <a:stretch>
                            <a:fillRect l="-296" t="-607059" r="-100888" b="-204706"/>
                          </a:stretch>
                        </a:blipFill>
                      </a:tcPr>
                    </a:tc>
                    <a:tc>
                      <a:txBody>
                        <a:bodyPr/>
                        <a:lstStyle/>
                        <a:p>
                          <a:endParaRPr lang="en-US"/>
                        </a:p>
                      </a:txBody>
                      <a:tcPr>
                        <a:blipFill>
                          <a:blip r:embed="rId4"/>
                          <a:stretch>
                            <a:fillRect l="-100296" t="-607059" r="-888" b="-204706"/>
                          </a:stretch>
                        </a:blipFill>
                      </a:tcPr>
                    </a:tc>
                    <a:extLst>
                      <a:ext uri="{0D108BD9-81ED-4DB2-BD59-A6C34878D82A}">
                        <a16:rowId xmlns:a16="http://schemas.microsoft.com/office/drawing/2014/main" val="4067309563"/>
                      </a:ext>
                    </a:extLst>
                  </a:tr>
                  <a:tr h="522202">
                    <a:tc>
                      <a:txBody>
                        <a:bodyPr/>
                        <a:lstStyle/>
                        <a:p>
                          <a:endParaRPr lang="en-US"/>
                        </a:p>
                      </a:txBody>
                      <a:tcPr>
                        <a:blipFill>
                          <a:blip r:embed="rId4"/>
                          <a:stretch>
                            <a:fillRect l="-296" t="-698837" r="-100888" b="-102326"/>
                          </a:stretch>
                        </a:blipFill>
                      </a:tcPr>
                    </a:tc>
                    <a:tc>
                      <a:txBody>
                        <a:bodyPr/>
                        <a:lstStyle/>
                        <a:p>
                          <a:endParaRPr lang="en-US"/>
                        </a:p>
                      </a:txBody>
                      <a:tcPr>
                        <a:blipFill>
                          <a:blip r:embed="rId4"/>
                          <a:stretch>
                            <a:fillRect l="-100296" t="-698837" r="-888" b="-102326"/>
                          </a:stretch>
                        </a:blipFill>
                      </a:tcPr>
                    </a:tc>
                    <a:extLst>
                      <a:ext uri="{0D108BD9-81ED-4DB2-BD59-A6C34878D82A}">
                        <a16:rowId xmlns:a16="http://schemas.microsoft.com/office/drawing/2014/main" val="3039577478"/>
                      </a:ext>
                    </a:extLst>
                  </a:tr>
                  <a:tr h="522202">
                    <a:tc>
                      <a:txBody>
                        <a:bodyPr/>
                        <a:lstStyle/>
                        <a:p>
                          <a:endParaRPr lang="en-US"/>
                        </a:p>
                      </a:txBody>
                      <a:tcPr>
                        <a:blipFill>
                          <a:blip r:embed="rId4"/>
                          <a:stretch>
                            <a:fillRect l="-296" t="-798837" r="-100888" b="-2326"/>
                          </a:stretch>
                        </a:blipFill>
                      </a:tcPr>
                    </a:tc>
                    <a:tc>
                      <a:txBody>
                        <a:bodyPr/>
                        <a:lstStyle/>
                        <a:p>
                          <a:endParaRPr lang="en-US"/>
                        </a:p>
                      </a:txBody>
                      <a:tcPr>
                        <a:blipFill>
                          <a:blip r:embed="rId4"/>
                          <a:stretch>
                            <a:fillRect l="-100296" t="-798837" r="-888" b="-2326"/>
                          </a:stretch>
                        </a:blipFill>
                      </a:tcPr>
                    </a:tc>
                    <a:extLst>
                      <a:ext uri="{0D108BD9-81ED-4DB2-BD59-A6C34878D82A}">
                        <a16:rowId xmlns:a16="http://schemas.microsoft.com/office/drawing/2014/main" val="20450000"/>
                      </a:ext>
                    </a:extLst>
                  </a:tr>
                </a:tbl>
              </a:graphicData>
            </a:graphic>
          </p:graphicFrame>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AACF61C-051F-B3F4-7E9C-884C420F5247}"/>
                  </a:ext>
                </a:extLst>
              </p:cNvPr>
              <p:cNvSpPr txBox="1"/>
              <p:nvPr/>
            </p:nvSpPr>
            <p:spPr>
              <a:xfrm>
                <a:off x="1272684" y="5811312"/>
                <a:ext cx="5608932" cy="523220"/>
              </a:xfrm>
              <a:prstGeom prst="rect">
                <a:avLst/>
              </a:prstGeom>
              <a:noFill/>
            </p:spPr>
            <p:txBody>
              <a:bodyPr wrap="square" rtlCol="0">
                <a:spAutoFit/>
              </a:bodyPr>
              <a:lstStyle/>
              <a:p>
                <a:r>
                  <a:rPr lang="en-US" dirty="0"/>
                  <a:t>Here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is the resolution, you can assume any value of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𝑚𝑎𝑥</m:t>
                        </m:r>
                      </m:sub>
                    </m:sSub>
                    <m:r>
                      <a:rPr lang="en-US" b="0" i="1" smtClean="0">
                        <a:latin typeface="Cambria Math" panose="02040503050406030204" pitchFamily="18" charset="0"/>
                      </a:rPr>
                      <m:t>=4</m:t>
                    </m:r>
                    <m:r>
                      <a:rPr lang="en-US" b="0" i="1" smtClean="0">
                        <a:latin typeface="Cambria Math" panose="02040503050406030204" pitchFamily="18" charset="0"/>
                        <a:ea typeface="Cambria Math" panose="02040503050406030204" pitchFamily="18" charset="0"/>
                      </a:rPr>
                      <m:t>∆</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𝑚𝑖𝑛</m:t>
                        </m:r>
                      </m:sub>
                    </m:sSub>
                    <m:r>
                      <a:rPr lang="en-US" b="0" i="1" smtClean="0">
                        <a:latin typeface="Cambria Math" panose="02040503050406030204" pitchFamily="18" charset="0"/>
                      </a:rPr>
                      <m:t>=−4</m:t>
                    </m:r>
                    <m:r>
                      <a:rPr lang="en-US" i="1">
                        <a:latin typeface="Cambria Math" panose="02040503050406030204" pitchFamily="18" charset="0"/>
                        <a:ea typeface="Cambria Math" panose="02040503050406030204" pitchFamily="18" charset="0"/>
                      </a:rPr>
                      <m:t>∆</m:t>
                    </m:r>
                  </m:oMath>
                </a14:m>
                <a:endParaRPr lang="en-US" dirty="0"/>
              </a:p>
            </p:txBody>
          </p:sp>
        </mc:Choice>
        <mc:Fallback>
          <p:sp>
            <p:nvSpPr>
              <p:cNvPr id="6" name="TextBox 5">
                <a:extLst>
                  <a:ext uri="{FF2B5EF4-FFF2-40B4-BE49-F238E27FC236}">
                    <a16:creationId xmlns:a16="http://schemas.microsoft.com/office/drawing/2014/main" id="{BAACF61C-051F-B3F4-7E9C-884C420F5247}"/>
                  </a:ext>
                </a:extLst>
              </p:cNvPr>
              <p:cNvSpPr txBox="1">
                <a:spLocks noRot="1" noChangeAspect="1" noMove="1" noResize="1" noEditPoints="1" noAdjustHandles="1" noChangeArrowheads="1" noChangeShapeType="1" noTextEdit="1"/>
              </p:cNvSpPr>
              <p:nvPr/>
            </p:nvSpPr>
            <p:spPr>
              <a:xfrm>
                <a:off x="1272684" y="5811312"/>
                <a:ext cx="5608932" cy="523220"/>
              </a:xfrm>
              <a:prstGeom prst="rect">
                <a:avLst/>
              </a:prstGeom>
              <a:blipFill>
                <a:blip r:embed="rId5"/>
                <a:stretch>
                  <a:fillRect l="-326" t="-1163" b="-11628"/>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8662890E-7D35-9642-C07B-2F0E8DA097B1}"/>
              </a:ext>
            </a:extLst>
          </p:cNvPr>
          <p:cNvPicPr>
            <a:picLocks noChangeAspect="1"/>
          </p:cNvPicPr>
          <p:nvPr/>
        </p:nvPicPr>
        <p:blipFill>
          <a:blip r:embed="rId6"/>
          <a:stretch>
            <a:fillRect/>
          </a:stretch>
        </p:blipFill>
        <p:spPr>
          <a:xfrm>
            <a:off x="1005483" y="1783439"/>
            <a:ext cx="5230134" cy="3885971"/>
          </a:xfrm>
          <a:prstGeom prst="rect">
            <a:avLst/>
          </a:prstGeom>
        </p:spPr>
      </p:pic>
    </p:spTree>
    <p:extLst>
      <p:ext uri="{BB962C8B-B14F-4D97-AF65-F5344CB8AC3E}">
        <p14:creationId xmlns:p14="http://schemas.microsoft.com/office/powerpoint/2010/main" val="3408016506"/>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146FCC5C-2CF0-EF21-25A7-356CE93B7C03}"/>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0F895061-A118-08D2-18B5-D29DAD5AAA24}"/>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Encoding</a:t>
            </a:r>
          </a:p>
        </p:txBody>
      </p:sp>
      <p:sp>
        <p:nvSpPr>
          <p:cNvPr id="100" name="Google Shape;100;p2">
            <a:extLst>
              <a:ext uri="{FF2B5EF4-FFF2-40B4-BE49-F238E27FC236}">
                <a16:creationId xmlns:a16="http://schemas.microsoft.com/office/drawing/2014/main" id="{D68724A4-B631-15DA-C04A-44347AD467DD}"/>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C041A22E-0555-A3A8-184D-55FDDC7976BC}"/>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pic>
        <p:nvPicPr>
          <p:cNvPr id="102" name="Google Shape;102;p2">
            <a:extLst>
              <a:ext uri="{FF2B5EF4-FFF2-40B4-BE49-F238E27FC236}">
                <a16:creationId xmlns:a16="http://schemas.microsoft.com/office/drawing/2014/main" id="{0414DA0D-8869-5D69-49F2-DB9506410EA7}"/>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357304DB-3D38-FA4B-79AB-35B1CB9FCE93}"/>
                  </a:ext>
                </a:extLst>
              </p:cNvPr>
              <p:cNvSpPr>
                <a:spLocks noGrp="1"/>
              </p:cNvSpPr>
              <p:nvPr>
                <p:ph type="body" idx="1"/>
              </p:nvPr>
            </p:nvSpPr>
            <p:spPr>
              <a:xfrm>
                <a:off x="400171" y="1037641"/>
                <a:ext cx="11654177" cy="5104118"/>
              </a:xfrm>
            </p:spPr>
            <p:txBody>
              <a:bodyPr>
                <a:normAutofit/>
              </a:bodyPr>
              <a:lstStyle/>
              <a:p>
                <a:pPr marL="114300" indent="0">
                  <a:buNone/>
                </a:pPr>
                <a:r>
                  <a:rPr lang="en-US" dirty="0"/>
                  <a:t>We can choose binary values for each of the level.</a:t>
                </a:r>
              </a:p>
              <a:p>
                <a:pPr marL="114300" indent="0">
                  <a:buNone/>
                </a:pPr>
                <a:r>
                  <a:rPr lang="en-US" dirty="0"/>
                  <a:t> </a:t>
                </a:r>
                <a14:m>
                  <m:oMath xmlns:m="http://schemas.openxmlformats.org/officeDocument/2006/math">
                    <m:r>
                      <a:rPr lang="en-US" b="0" i="1" smtClean="0">
                        <a:latin typeface="Cambria Math" panose="02040503050406030204" pitchFamily="18" charset="0"/>
                      </a:rPr>
                      <m:t>𝑁𝑢𝑚𝑏𝑒𝑟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𝑏𝑖𝑡𝑠</m:t>
                    </m:r>
                    <m:r>
                      <a:rPr lang="en-US" b="0" i="1" smtClean="0">
                        <a:latin typeface="Cambria Math" panose="02040503050406030204" pitchFamily="18" charset="0"/>
                      </a:rPr>
                      <m:t>=</m:t>
                    </m:r>
                    <m:r>
                      <a:rPr lang="en-US" b="0" i="1" smtClean="0">
                        <a:latin typeface="Cambria Math" panose="02040503050406030204" pitchFamily="18" charset="0"/>
                      </a:rPr>
                      <m:t>𝐶𝑒𝑖𝑙</m:t>
                    </m:r>
                    <m:r>
                      <a:rPr lang="en-US" b="0" i="1" smtClean="0">
                        <a:latin typeface="Cambria Math" panose="02040503050406030204" pitchFamily="18" charset="0"/>
                      </a:rPr>
                      <m:t> (</m:t>
                    </m:r>
                    <m:r>
                      <a:rPr lang="en-US" b="0" i="1" smtClean="0">
                        <a:latin typeface="Cambria Math" panose="02040503050406030204" pitchFamily="18" charset="0"/>
                      </a:rPr>
                      <m:t>𝑙𝑜𝑔</m:t>
                    </m:r>
                    <m:r>
                      <a:rPr lang="en-US" b="0" i="1" smtClean="0">
                        <a:latin typeface="Cambria Math" panose="02040503050406030204" pitchFamily="18" charset="0"/>
                      </a:rPr>
                      <m:t>2</m:t>
                    </m:r>
                    <m:d>
                      <m:dPr>
                        <m:ctrlPr>
                          <a:rPr lang="en-US" b="0" i="1" smtClean="0">
                            <a:latin typeface="Cambria Math" panose="02040503050406030204" pitchFamily="18" charset="0"/>
                          </a:rPr>
                        </m:ctrlPr>
                      </m:dPr>
                      <m:e>
                        <m:r>
                          <a:rPr lang="en-US" b="0" i="1" smtClean="0">
                            <a:latin typeface="Cambria Math" panose="02040503050406030204" pitchFamily="18" charset="0"/>
                          </a:rPr>
                          <m:t> </m:t>
                        </m:r>
                        <m:r>
                          <a:rPr lang="en-US" b="0" i="1" smtClean="0">
                            <a:latin typeface="Cambria Math" panose="02040503050406030204" pitchFamily="18" charset="0"/>
                          </a:rPr>
                          <m:t>𝑁𝑢𝑚𝑏𝑒𝑟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𝑙𝑒𝑣𝑒𝑙𝑠</m:t>
                        </m:r>
                        <m:r>
                          <a:rPr lang="en-US" b="0" i="1" smtClean="0">
                            <a:latin typeface="Cambria Math" panose="02040503050406030204" pitchFamily="18" charset="0"/>
                          </a:rPr>
                          <m:t> </m:t>
                        </m:r>
                      </m:e>
                    </m:d>
                    <m:r>
                      <a:rPr lang="en-US" b="0" i="0" smtClean="0">
                        <a:latin typeface="Cambria Math" panose="02040503050406030204" pitchFamily="18" charset="0"/>
                      </a:rPr>
                      <m:t>)</m:t>
                    </m:r>
                  </m:oMath>
                </a14:m>
                <a:endParaRPr lang="en-US" dirty="0"/>
              </a:p>
              <a:p>
                <a:pPr marL="114300" indent="0">
                  <a:buNone/>
                </a:pPr>
                <a:endParaRPr lang="en-US" dirty="0"/>
              </a:p>
              <a:p>
                <a:pPr marL="114300" indent="0">
                  <a:buNone/>
                </a:pPr>
                <a:r>
                  <a:rPr lang="en-US" dirty="0"/>
                  <a:t>Assign lower Q level to 0</a:t>
                </a:r>
              </a:p>
              <a:p>
                <a:pPr marL="114300" indent="0">
                  <a:buNone/>
                </a:pPr>
                <a:r>
                  <a:rPr lang="en-US" dirty="0"/>
                  <a:t>Then increase one for each next level ( Binary )</a:t>
                </a:r>
              </a:p>
            </p:txBody>
          </p:sp>
        </mc:Choice>
        <mc:Fallback>
          <p:sp>
            <p:nvSpPr>
              <p:cNvPr id="3" name="Text Placeholder 2">
                <a:extLst>
                  <a:ext uri="{FF2B5EF4-FFF2-40B4-BE49-F238E27FC236}">
                    <a16:creationId xmlns:a16="http://schemas.microsoft.com/office/drawing/2014/main" id="{357304DB-3D38-FA4B-79AB-35B1CB9FCE93}"/>
                  </a:ext>
                </a:extLst>
              </p:cNvPr>
              <p:cNvSpPr>
                <a:spLocks noGrp="1" noRot="1" noChangeAspect="1" noMove="1" noResize="1" noEditPoints="1" noAdjustHandles="1" noChangeArrowheads="1" noChangeShapeType="1" noTextEdit="1"/>
              </p:cNvSpPr>
              <p:nvPr>
                <p:ph type="body" idx="1"/>
              </p:nvPr>
            </p:nvSpPr>
            <p:spPr>
              <a:xfrm>
                <a:off x="400171" y="1037641"/>
                <a:ext cx="11654177" cy="5104118"/>
              </a:xfrm>
              <a:blipFill>
                <a:blip r:embed="rId4"/>
                <a:stretch>
                  <a:fillRect l="-105"/>
                </a:stretch>
              </a:blipFill>
            </p:spPr>
            <p:txBody>
              <a:bodyPr/>
              <a:lstStyle/>
              <a:p>
                <a:r>
                  <a:rPr lang="en-US">
                    <a:noFill/>
                  </a:rPr>
                  <a:t> </a:t>
                </a:r>
              </a:p>
            </p:txBody>
          </p:sp>
        </mc:Fallback>
      </mc:AlternateContent>
    </p:spTree>
    <p:extLst>
      <p:ext uri="{BB962C8B-B14F-4D97-AF65-F5344CB8AC3E}">
        <p14:creationId xmlns:p14="http://schemas.microsoft.com/office/powerpoint/2010/main" val="1712992389"/>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A2FE300E-F630-0AB1-25D0-FB861B026E49}"/>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97AEDB52-F7EA-A76B-CDFB-E02B41D960FD}"/>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Quantization Range, Level, code</a:t>
            </a:r>
          </a:p>
        </p:txBody>
      </p:sp>
      <p:sp>
        <p:nvSpPr>
          <p:cNvPr id="100" name="Google Shape;100;p2">
            <a:extLst>
              <a:ext uri="{FF2B5EF4-FFF2-40B4-BE49-F238E27FC236}">
                <a16:creationId xmlns:a16="http://schemas.microsoft.com/office/drawing/2014/main" id="{F883C718-CE70-1AE6-8F00-3B825188F087}"/>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B880906A-A8B6-4877-C201-A98F7CAC47E3}"/>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pic>
        <p:nvPicPr>
          <p:cNvPr id="102" name="Google Shape;102;p2">
            <a:extLst>
              <a:ext uri="{FF2B5EF4-FFF2-40B4-BE49-F238E27FC236}">
                <a16:creationId xmlns:a16="http://schemas.microsoft.com/office/drawing/2014/main" id="{864253D0-DFE0-AA41-098C-2A7EAFFE67D3}"/>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2264A785-B055-EC94-9F08-3EC081376E5C}"/>
              </a:ext>
            </a:extLst>
          </p:cNvPr>
          <p:cNvSpPr>
            <a:spLocks noGrp="1"/>
          </p:cNvSpPr>
          <p:nvPr>
            <p:ph type="body" idx="1"/>
          </p:nvPr>
        </p:nvSpPr>
        <p:spPr>
          <a:xfrm>
            <a:off x="400171" y="1037641"/>
            <a:ext cx="11654177" cy="5104118"/>
          </a:xfrm>
        </p:spPr>
        <p:txBody>
          <a:bodyPr>
            <a:normAutofit/>
          </a:bodyPr>
          <a:lstStyle/>
          <a:p>
            <a:pPr marL="114300" indent="0">
              <a:buNone/>
            </a:pPr>
            <a:r>
              <a:rPr lang="en-US" dirty="0"/>
              <a:t>Ex: Identify which one is Mid rise and Mid tread.</a:t>
            </a:r>
          </a:p>
          <a:p>
            <a:pPr marL="114300" indent="0">
              <a:buNone/>
            </a:pPr>
            <a:endParaRPr lang="en-US" dirty="0"/>
          </a:p>
        </p:txBody>
      </p:sp>
      <p:pic>
        <p:nvPicPr>
          <p:cNvPr id="8" name="Picture 7">
            <a:extLst>
              <a:ext uri="{FF2B5EF4-FFF2-40B4-BE49-F238E27FC236}">
                <a16:creationId xmlns:a16="http://schemas.microsoft.com/office/drawing/2014/main" id="{73538173-4554-D944-417D-33261467E85A}"/>
              </a:ext>
            </a:extLst>
          </p:cNvPr>
          <p:cNvPicPr>
            <a:picLocks noChangeAspect="1"/>
          </p:cNvPicPr>
          <p:nvPr/>
        </p:nvPicPr>
        <p:blipFill>
          <a:blip r:embed="rId4"/>
          <a:stretch>
            <a:fillRect/>
          </a:stretch>
        </p:blipFill>
        <p:spPr>
          <a:xfrm>
            <a:off x="7374194" y="1699184"/>
            <a:ext cx="3419439" cy="4347011"/>
          </a:xfrm>
          <a:prstGeom prst="rect">
            <a:avLst/>
          </a:prstGeom>
        </p:spPr>
      </p:pic>
      <p:pic>
        <p:nvPicPr>
          <p:cNvPr id="4" name="Picture 3">
            <a:extLst>
              <a:ext uri="{FF2B5EF4-FFF2-40B4-BE49-F238E27FC236}">
                <a16:creationId xmlns:a16="http://schemas.microsoft.com/office/drawing/2014/main" id="{12EF49DD-1F24-3248-BEB9-C17E329831DA}"/>
              </a:ext>
            </a:extLst>
          </p:cNvPr>
          <p:cNvPicPr>
            <a:picLocks noChangeAspect="1"/>
          </p:cNvPicPr>
          <p:nvPr/>
        </p:nvPicPr>
        <p:blipFill>
          <a:blip r:embed="rId5"/>
          <a:stretch>
            <a:fillRect/>
          </a:stretch>
        </p:blipFill>
        <p:spPr>
          <a:xfrm>
            <a:off x="2208479" y="1699184"/>
            <a:ext cx="3737344" cy="4085544"/>
          </a:xfrm>
          <a:prstGeom prst="rect">
            <a:avLst/>
          </a:prstGeom>
        </p:spPr>
      </p:pic>
    </p:spTree>
    <p:extLst>
      <p:ext uri="{BB962C8B-B14F-4D97-AF65-F5344CB8AC3E}">
        <p14:creationId xmlns:p14="http://schemas.microsoft.com/office/powerpoint/2010/main" val="2709395792"/>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76362B69-4C28-5104-5B7C-BAA9866DBDA7}"/>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B0AEB292-FD60-7BBD-676C-189DA2FC01E5}"/>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Quantization Range, Level, code</a:t>
            </a:r>
          </a:p>
        </p:txBody>
      </p:sp>
      <p:sp>
        <p:nvSpPr>
          <p:cNvPr id="100" name="Google Shape;100;p2">
            <a:extLst>
              <a:ext uri="{FF2B5EF4-FFF2-40B4-BE49-F238E27FC236}">
                <a16:creationId xmlns:a16="http://schemas.microsoft.com/office/drawing/2014/main" id="{2E0D462D-5348-552C-A986-63B311176856}"/>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D9591C07-CEA5-08CD-476A-996F72C7274A}"/>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pic>
        <p:nvPicPr>
          <p:cNvPr id="102" name="Google Shape;102;p2">
            <a:extLst>
              <a:ext uri="{FF2B5EF4-FFF2-40B4-BE49-F238E27FC236}">
                <a16:creationId xmlns:a16="http://schemas.microsoft.com/office/drawing/2014/main" id="{787A3467-069C-E411-3A7F-92DFD50EDBE6}"/>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22F2F8D-672B-1505-FD18-D3DE683C604C}"/>
                  </a:ext>
                </a:extLst>
              </p:cNvPr>
              <p:cNvSpPr txBox="1"/>
              <p:nvPr/>
            </p:nvSpPr>
            <p:spPr>
              <a:xfrm>
                <a:off x="6489289" y="2487559"/>
                <a:ext cx="4699821" cy="1591846"/>
              </a:xfrm>
              <a:prstGeom prst="rect">
                <a:avLst/>
              </a:prstGeom>
              <a:noFill/>
            </p:spPr>
            <p:txBody>
              <a:bodyPr wrap="square" rtlCol="0">
                <a:spAutoFit/>
              </a:bodyPr>
              <a:lstStyle/>
              <a:p>
                <a:r>
                  <a:rPr lang="en-US" sz="2000" b="0" i="1" dirty="0">
                    <a:latin typeface="Cambria Math" panose="02040503050406030204" pitchFamily="18" charset="0"/>
                  </a:rPr>
                  <a:t>Here,  </a:t>
                </a:r>
                <a:endParaRPr lang="en-US" sz="20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𝑉𝑚𝑎𝑥</m:t>
                          </m:r>
                          <m:r>
                            <a:rPr lang="en-US" sz="2000" b="0" i="1" smtClean="0">
                              <a:latin typeface="Cambria Math" panose="02040503050406030204" pitchFamily="18" charset="0"/>
                            </a:rPr>
                            <m:t>+</m:t>
                          </m:r>
                          <m:r>
                            <a:rPr lang="en-US" sz="2000" b="0" i="1" smtClean="0">
                              <a:latin typeface="Cambria Math" panose="02040503050406030204" pitchFamily="18" charset="0"/>
                            </a:rPr>
                            <m:t>𝑉𝑚𝑖𝑛</m:t>
                          </m:r>
                          <m:r>
                            <a:rPr lang="en-US" sz="2000" b="0" i="1" smtClean="0">
                              <a:latin typeface="Cambria Math" panose="02040503050406030204" pitchFamily="18" charset="0"/>
                            </a:rPr>
                            <m:t> </m:t>
                          </m:r>
                        </m:num>
                        <m:den>
                          <m:r>
                            <a:rPr lang="en-US" sz="2000" b="0" i="1" smtClean="0">
                              <a:latin typeface="Cambria Math" panose="02040503050406030204" pitchFamily="18" charset="0"/>
                            </a:rPr>
                            <m:t>2</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8+0</m:t>
                          </m:r>
                        </m:num>
                        <m:den>
                          <m:r>
                            <a:rPr lang="en-US" sz="2000" b="0" i="1" smtClean="0">
                              <a:latin typeface="Cambria Math" panose="02040503050406030204" pitchFamily="18" charset="0"/>
                            </a:rPr>
                            <m:t>2</m:t>
                          </m:r>
                        </m:den>
                      </m:f>
                      <m:r>
                        <a:rPr lang="en-US" sz="2000" b="0" i="1" smtClean="0">
                          <a:latin typeface="Cambria Math" panose="02040503050406030204" pitchFamily="18" charset="0"/>
                        </a:rPr>
                        <m:t>=4 </m:t>
                      </m:r>
                      <m:r>
                        <a:rPr lang="en-US" sz="2000" b="0" i="1" smtClean="0">
                          <a:latin typeface="Cambria Math" panose="02040503050406030204" pitchFamily="18" charset="0"/>
                        </a:rPr>
                        <m:t>𝑉</m:t>
                      </m:r>
                      <m:r>
                        <a:rPr lang="en-US" sz="2000" b="0" i="1" smtClean="0">
                          <a:latin typeface="Cambria Math" panose="02040503050406030204" pitchFamily="18" charset="0"/>
                        </a:rPr>
                        <m:t> </m:t>
                      </m:r>
                    </m:oMath>
                  </m:oMathPara>
                </a14:m>
                <a:endParaRPr lang="en-US" sz="2000" dirty="0"/>
              </a:p>
              <a:p>
                <a:r>
                  <a:rPr lang="en-US" sz="2000" dirty="0"/>
                  <a:t>As 4 V is a Quantization level. So, it is a mid tread quantization</a:t>
                </a:r>
              </a:p>
            </p:txBody>
          </p:sp>
        </mc:Choice>
        <mc:Fallback xmlns="">
          <p:sp>
            <p:nvSpPr>
              <p:cNvPr id="2" name="TextBox 1">
                <a:extLst>
                  <a:ext uri="{FF2B5EF4-FFF2-40B4-BE49-F238E27FC236}">
                    <a16:creationId xmlns:a16="http://schemas.microsoft.com/office/drawing/2014/main" id="{E22F2F8D-672B-1505-FD18-D3DE683C604C}"/>
                  </a:ext>
                </a:extLst>
              </p:cNvPr>
              <p:cNvSpPr txBox="1">
                <a:spLocks noRot="1" noChangeAspect="1" noMove="1" noResize="1" noEditPoints="1" noAdjustHandles="1" noChangeArrowheads="1" noChangeShapeType="1" noTextEdit="1"/>
              </p:cNvSpPr>
              <p:nvPr/>
            </p:nvSpPr>
            <p:spPr>
              <a:xfrm>
                <a:off x="6489289" y="2487559"/>
                <a:ext cx="4699821" cy="1591846"/>
              </a:xfrm>
              <a:prstGeom prst="rect">
                <a:avLst/>
              </a:prstGeom>
              <a:blipFill>
                <a:blip r:embed="rId5"/>
                <a:stretch>
                  <a:fillRect l="-1429" t="-1916" r="-2208" b="-6130"/>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AA943C75-5BA3-1AE1-6DDB-2BECA421A19C}"/>
              </a:ext>
            </a:extLst>
          </p:cNvPr>
          <p:cNvPicPr>
            <a:picLocks noChangeAspect="1"/>
          </p:cNvPicPr>
          <p:nvPr/>
        </p:nvPicPr>
        <p:blipFill>
          <a:blip r:embed="rId6"/>
          <a:stretch>
            <a:fillRect/>
          </a:stretch>
        </p:blipFill>
        <p:spPr>
          <a:xfrm>
            <a:off x="1449317" y="959575"/>
            <a:ext cx="4114800" cy="4498167"/>
          </a:xfrm>
          <a:prstGeom prst="rect">
            <a:avLst/>
          </a:prstGeom>
        </p:spPr>
      </p:pic>
    </p:spTree>
    <p:extLst>
      <p:ext uri="{BB962C8B-B14F-4D97-AF65-F5344CB8AC3E}">
        <p14:creationId xmlns:p14="http://schemas.microsoft.com/office/powerpoint/2010/main" val="3499545584"/>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755DC855-4901-64B8-C4E9-6235823495BA}"/>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8EAC4069-E1E2-C72B-1CF6-E8CC0FEB2032}"/>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Quantization Range, Level, code</a:t>
            </a:r>
          </a:p>
        </p:txBody>
      </p:sp>
      <p:sp>
        <p:nvSpPr>
          <p:cNvPr id="100" name="Google Shape;100;p2">
            <a:extLst>
              <a:ext uri="{FF2B5EF4-FFF2-40B4-BE49-F238E27FC236}">
                <a16:creationId xmlns:a16="http://schemas.microsoft.com/office/drawing/2014/main" id="{1F3B9FB0-CAD6-741A-A928-83014A1EE575}"/>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025C87A9-7913-5171-6BBC-403501DE7672}"/>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pic>
        <p:nvPicPr>
          <p:cNvPr id="102" name="Google Shape;102;p2">
            <a:extLst>
              <a:ext uri="{FF2B5EF4-FFF2-40B4-BE49-F238E27FC236}">
                <a16:creationId xmlns:a16="http://schemas.microsoft.com/office/drawing/2014/main" id="{B8C9096C-6C87-03EA-E3F6-3AA60EF9C0AF}"/>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94947F9B-59A5-711F-0F17-70584AD448BE}"/>
              </a:ext>
            </a:extLst>
          </p:cNvPr>
          <p:cNvSpPr>
            <a:spLocks noGrp="1"/>
          </p:cNvSpPr>
          <p:nvPr>
            <p:ph type="body" idx="1"/>
          </p:nvPr>
        </p:nvSpPr>
        <p:spPr>
          <a:xfrm>
            <a:off x="400171" y="1037641"/>
            <a:ext cx="11654177" cy="5104118"/>
          </a:xfrm>
        </p:spPr>
        <p:txBody>
          <a:bodyPr>
            <a:normAutofit/>
          </a:bodyPr>
          <a:lstStyle/>
          <a:p>
            <a:pPr marL="114300" indent="0">
              <a:buNone/>
            </a:pPr>
            <a:r>
              <a:rPr lang="en-US" dirty="0"/>
              <a:t>Ex: Identify which one is Mid rise and Mid tread.</a:t>
            </a:r>
          </a:p>
          <a:p>
            <a:pPr marL="114300" indent="0">
              <a:buNone/>
            </a:pPr>
            <a:endParaRPr lang="en-US" dirty="0"/>
          </a:p>
        </p:txBody>
      </p:sp>
      <p:pic>
        <p:nvPicPr>
          <p:cNvPr id="8" name="Picture 7">
            <a:extLst>
              <a:ext uri="{FF2B5EF4-FFF2-40B4-BE49-F238E27FC236}">
                <a16:creationId xmlns:a16="http://schemas.microsoft.com/office/drawing/2014/main" id="{64F88DCC-44DA-87C1-DE2C-5E89CB2DC5B3}"/>
              </a:ext>
            </a:extLst>
          </p:cNvPr>
          <p:cNvPicPr>
            <a:picLocks noChangeAspect="1"/>
          </p:cNvPicPr>
          <p:nvPr/>
        </p:nvPicPr>
        <p:blipFill>
          <a:blip r:embed="rId4"/>
          <a:stretch>
            <a:fillRect/>
          </a:stretch>
        </p:blipFill>
        <p:spPr>
          <a:xfrm>
            <a:off x="1877962" y="1718849"/>
            <a:ext cx="3419439" cy="4347011"/>
          </a:xfrm>
          <a:prstGeom prst="rect">
            <a:avLst/>
          </a:prstGeom>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33060869-8B57-DD59-6A93-2B0F23B14D13}"/>
                  </a:ext>
                </a:extLst>
              </p:cNvPr>
              <p:cNvSpPr txBox="1"/>
              <p:nvPr/>
            </p:nvSpPr>
            <p:spPr>
              <a:xfrm>
                <a:off x="6489289" y="2487559"/>
                <a:ext cx="4699821" cy="1591846"/>
              </a:xfrm>
              <a:prstGeom prst="rect">
                <a:avLst/>
              </a:prstGeom>
              <a:noFill/>
            </p:spPr>
            <p:txBody>
              <a:bodyPr wrap="square" rtlCol="0">
                <a:spAutoFit/>
              </a:bodyPr>
              <a:lstStyle/>
              <a:p>
                <a:r>
                  <a:rPr lang="en-US" sz="2000" b="0" i="1" dirty="0">
                    <a:latin typeface="Cambria Math" panose="02040503050406030204" pitchFamily="18" charset="0"/>
                  </a:rPr>
                  <a:t>Here,  </a:t>
                </a:r>
                <a:endParaRPr lang="en-US" sz="20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𝑉𝑚𝑎𝑥</m:t>
                          </m:r>
                          <m:r>
                            <a:rPr lang="en-US" sz="2000" b="0" i="1" smtClean="0">
                              <a:latin typeface="Cambria Math" panose="02040503050406030204" pitchFamily="18" charset="0"/>
                            </a:rPr>
                            <m:t>+</m:t>
                          </m:r>
                          <m:r>
                            <a:rPr lang="en-US" sz="2000" b="0" i="1" smtClean="0">
                              <a:latin typeface="Cambria Math" panose="02040503050406030204" pitchFamily="18" charset="0"/>
                            </a:rPr>
                            <m:t>𝑉𝑚𝑖𝑛</m:t>
                          </m:r>
                          <m:r>
                            <a:rPr lang="en-US" sz="2000" b="0" i="1" smtClean="0">
                              <a:latin typeface="Cambria Math" panose="02040503050406030204" pitchFamily="18" charset="0"/>
                            </a:rPr>
                            <m:t> </m:t>
                          </m:r>
                        </m:num>
                        <m:den>
                          <m:r>
                            <a:rPr lang="en-US" sz="2000" b="0" i="1" smtClean="0">
                              <a:latin typeface="Cambria Math" panose="02040503050406030204" pitchFamily="18" charset="0"/>
                            </a:rPr>
                            <m:t>2</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10+0</m:t>
                          </m:r>
                        </m:num>
                        <m:den>
                          <m:r>
                            <a:rPr lang="en-US" sz="2000" b="0" i="1" smtClean="0">
                              <a:latin typeface="Cambria Math" panose="02040503050406030204" pitchFamily="18" charset="0"/>
                            </a:rPr>
                            <m:t>2</m:t>
                          </m:r>
                        </m:den>
                      </m:f>
                      <m:r>
                        <a:rPr lang="en-US" sz="2000" b="0" i="1" smtClean="0">
                          <a:latin typeface="Cambria Math" panose="02040503050406030204" pitchFamily="18" charset="0"/>
                        </a:rPr>
                        <m:t>=5 </m:t>
                      </m:r>
                      <m:r>
                        <a:rPr lang="en-US" sz="2000" b="0" i="1" smtClean="0">
                          <a:latin typeface="Cambria Math" panose="02040503050406030204" pitchFamily="18" charset="0"/>
                        </a:rPr>
                        <m:t>𝑉</m:t>
                      </m:r>
                      <m:r>
                        <a:rPr lang="en-US" sz="2000" b="0" i="1" smtClean="0">
                          <a:latin typeface="Cambria Math" panose="02040503050406030204" pitchFamily="18" charset="0"/>
                        </a:rPr>
                        <m:t> </m:t>
                      </m:r>
                    </m:oMath>
                  </m:oMathPara>
                </a14:m>
                <a:endParaRPr lang="en-US" sz="2000" dirty="0"/>
              </a:p>
              <a:p>
                <a:r>
                  <a:rPr lang="en-US" sz="2000" dirty="0"/>
                  <a:t>As 5 V is not a Quantization level. So, it is a mid rise quantization.</a:t>
                </a:r>
              </a:p>
            </p:txBody>
          </p:sp>
        </mc:Choice>
        <mc:Fallback>
          <p:sp>
            <p:nvSpPr>
              <p:cNvPr id="2" name="TextBox 1">
                <a:extLst>
                  <a:ext uri="{FF2B5EF4-FFF2-40B4-BE49-F238E27FC236}">
                    <a16:creationId xmlns:a16="http://schemas.microsoft.com/office/drawing/2014/main" id="{33060869-8B57-DD59-6A93-2B0F23B14D13}"/>
                  </a:ext>
                </a:extLst>
              </p:cNvPr>
              <p:cNvSpPr txBox="1">
                <a:spLocks noRot="1" noChangeAspect="1" noMove="1" noResize="1" noEditPoints="1" noAdjustHandles="1" noChangeArrowheads="1" noChangeShapeType="1" noTextEdit="1"/>
              </p:cNvSpPr>
              <p:nvPr/>
            </p:nvSpPr>
            <p:spPr>
              <a:xfrm>
                <a:off x="6489289" y="2487559"/>
                <a:ext cx="4699821" cy="1591846"/>
              </a:xfrm>
              <a:prstGeom prst="rect">
                <a:avLst/>
              </a:prstGeom>
              <a:blipFill>
                <a:blip r:embed="rId5"/>
                <a:stretch>
                  <a:fillRect l="-1429" t="-1916" r="-1299" b="-6130"/>
                </a:stretch>
              </a:blipFill>
            </p:spPr>
            <p:txBody>
              <a:bodyPr/>
              <a:lstStyle/>
              <a:p>
                <a:r>
                  <a:rPr lang="en-US">
                    <a:noFill/>
                  </a:rPr>
                  <a:t> </a:t>
                </a:r>
              </a:p>
            </p:txBody>
          </p:sp>
        </mc:Fallback>
      </mc:AlternateContent>
    </p:spTree>
    <p:extLst>
      <p:ext uri="{BB962C8B-B14F-4D97-AF65-F5344CB8AC3E}">
        <p14:creationId xmlns:p14="http://schemas.microsoft.com/office/powerpoint/2010/main" val="2714396165"/>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81F0EB6F-140E-D374-9651-3F8369A85E55}"/>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996F91D9-CB1A-83BA-AAA8-42598AB3D087}"/>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Flash A/D converter</a:t>
            </a:r>
          </a:p>
        </p:txBody>
      </p:sp>
      <p:sp>
        <p:nvSpPr>
          <p:cNvPr id="100" name="Google Shape;100;p2">
            <a:extLst>
              <a:ext uri="{FF2B5EF4-FFF2-40B4-BE49-F238E27FC236}">
                <a16:creationId xmlns:a16="http://schemas.microsoft.com/office/drawing/2014/main" id="{B950FE34-1548-E0AD-6CBD-EF61EEB66816}"/>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CC3D27FA-42DE-88A5-1443-F081CCEDE5FA}"/>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pic>
        <p:nvPicPr>
          <p:cNvPr id="102" name="Google Shape;102;p2">
            <a:extLst>
              <a:ext uri="{FF2B5EF4-FFF2-40B4-BE49-F238E27FC236}">
                <a16:creationId xmlns:a16="http://schemas.microsoft.com/office/drawing/2014/main" id="{37669DA1-433E-BB4D-874B-5E5A67ADA326}"/>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6A6C42B8-FB7B-7F25-880E-65E06F7EDE42}"/>
              </a:ext>
            </a:extLst>
          </p:cNvPr>
          <p:cNvSpPr>
            <a:spLocks noGrp="1"/>
          </p:cNvSpPr>
          <p:nvPr>
            <p:ph type="body" idx="1"/>
          </p:nvPr>
        </p:nvSpPr>
        <p:spPr>
          <a:xfrm>
            <a:off x="400171" y="1037641"/>
            <a:ext cx="11654177" cy="5104118"/>
          </a:xfrm>
        </p:spPr>
        <p:txBody>
          <a:bodyPr>
            <a:normAutofit/>
          </a:bodyPr>
          <a:lstStyle/>
          <a:p>
            <a:pPr marL="114300" indent="0">
              <a:buNone/>
            </a:pPr>
            <a:r>
              <a:rPr lang="en-US" dirty="0"/>
              <a:t>Features of the Flash A/D converter</a:t>
            </a:r>
          </a:p>
          <a:p>
            <a:pPr>
              <a:buFont typeface="Wingdings" panose="05000000000000000000" pitchFamily="2" charset="2"/>
              <a:buChar char="ü"/>
            </a:pPr>
            <a:r>
              <a:rPr lang="en-US" dirty="0"/>
              <a:t>This converter  is very fast.</a:t>
            </a:r>
          </a:p>
          <a:p>
            <a:pPr>
              <a:buFont typeface="Wingdings" panose="05000000000000000000" pitchFamily="2" charset="2"/>
              <a:buChar char="ü"/>
            </a:pPr>
            <a:r>
              <a:rPr lang="en-US" dirty="0"/>
              <a:t>It requires one clock cycle to convert the analog to digital data.</a:t>
            </a:r>
          </a:p>
          <a:p>
            <a:pPr>
              <a:buFont typeface="Wingdings" panose="05000000000000000000" pitchFamily="2" charset="2"/>
              <a:buChar char="ü"/>
            </a:pPr>
            <a:r>
              <a:rPr lang="en-US" dirty="0"/>
              <a:t>It requires a lot components.</a:t>
            </a:r>
          </a:p>
        </p:txBody>
      </p:sp>
    </p:spTree>
    <p:extLst>
      <p:ext uri="{BB962C8B-B14F-4D97-AF65-F5344CB8AC3E}">
        <p14:creationId xmlns:p14="http://schemas.microsoft.com/office/powerpoint/2010/main" val="1662188590"/>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9C58FD0F-76DA-F414-3985-4D33EB539630}"/>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1C983C48-D496-20EF-5DEF-42E7AF5BE1F3}"/>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Op-Amp </a:t>
            </a:r>
          </a:p>
        </p:txBody>
      </p:sp>
      <p:sp>
        <p:nvSpPr>
          <p:cNvPr id="100" name="Google Shape;100;p2">
            <a:extLst>
              <a:ext uri="{FF2B5EF4-FFF2-40B4-BE49-F238E27FC236}">
                <a16:creationId xmlns:a16="http://schemas.microsoft.com/office/drawing/2014/main" id="{D02A8B1A-FC25-EF45-ED24-94B2109798A9}"/>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BA0CF4F7-796C-74A0-A34B-B84C8F73D53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pic>
        <p:nvPicPr>
          <p:cNvPr id="102" name="Google Shape;102;p2">
            <a:extLst>
              <a:ext uri="{FF2B5EF4-FFF2-40B4-BE49-F238E27FC236}">
                <a16:creationId xmlns:a16="http://schemas.microsoft.com/office/drawing/2014/main" id="{1E22A2ED-E12D-2CC5-D7E8-4EF673332153}"/>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1F413C1-B362-A6E9-1A12-180D9026D0E5}"/>
                  </a:ext>
                </a:extLst>
              </p:cNvPr>
              <p:cNvSpPr>
                <a:spLocks noGrp="1"/>
              </p:cNvSpPr>
              <p:nvPr>
                <p:ph type="body" idx="1"/>
              </p:nvPr>
            </p:nvSpPr>
            <p:spPr>
              <a:xfrm>
                <a:off x="400171" y="1037641"/>
                <a:ext cx="11654177" cy="5104118"/>
              </a:xfrm>
            </p:spPr>
            <p:txBody>
              <a:bodyPr>
                <a:normAutofit/>
              </a:bodyPr>
              <a:lstStyle/>
              <a:p>
                <a:pPr marL="114300" indent="0">
                  <a:buNone/>
                </a:pPr>
                <a:r>
                  <a:rPr lang="en-US" dirty="0"/>
                  <a:t>For open loop configuration</a:t>
                </a:r>
              </a:p>
              <a:p>
                <a:pPr marL="114300" indent="0">
                  <a:buNone/>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rPr>
                        <m:t>𝐼𝑓</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m:t>
                          </m:r>
                        </m:sub>
                      </m:sSub>
                      <m:r>
                        <a:rPr lang="en-US" i="1">
                          <a:latin typeface="Cambria Math" panose="02040503050406030204" pitchFamily="18" charset="0"/>
                        </a:rPr>
                        <m:t>&gt;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m:t>
                          </m:r>
                        </m:sub>
                      </m:sSub>
                      <m:r>
                        <a:rPr lang="en-US" i="1">
                          <a:latin typeface="Cambria Math" panose="020405030504060302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𝑜𝑢𝑡</m:t>
                          </m:r>
                        </m:sub>
                      </m:sSub>
                      <m:r>
                        <a:rPr lang="en-US" i="1">
                          <a:latin typeface="Cambria Math" panose="02040503050406030204" pitchFamily="18" charset="0"/>
                        </a:rPr>
                        <m:t>=</m:t>
                      </m:r>
                      <m:r>
                        <a:rPr lang="en-US" i="1">
                          <a:latin typeface="Cambria Math" panose="02040503050406030204" pitchFamily="18" charset="0"/>
                        </a:rPr>
                        <m:t>𝐻𝑖𝑔h</m:t>
                      </m:r>
                      <m:r>
                        <a:rPr lang="en-US" i="1">
                          <a:latin typeface="Cambria Math" panose="02040503050406030204" pitchFamily="18" charset="0"/>
                        </a:rPr>
                        <m:t> (</m:t>
                      </m:r>
                      <m:r>
                        <a:rPr lang="en-US" i="1">
                          <a:latin typeface="Cambria Math" panose="02040503050406030204" pitchFamily="18" charset="0"/>
                        </a:rPr>
                        <m:t>𝑙𝑜𝑔𝑖𝑐</m:t>
                      </m:r>
                      <m:r>
                        <a:rPr lang="en-US" i="1">
                          <a:latin typeface="Cambria Math" panose="02040503050406030204" pitchFamily="18" charset="0"/>
                        </a:rPr>
                        <m:t> 1 )</m:t>
                      </m:r>
                    </m:oMath>
                  </m:oMathPara>
                </a14:m>
                <a:endParaRPr lang="en-US" dirty="0"/>
              </a:p>
              <a:p>
                <a:pPr marL="11430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𝐼𝑓</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𝑜𝑢𝑡</m:t>
                          </m:r>
                        </m:sub>
                      </m:sSub>
                      <m:r>
                        <a:rPr lang="en-US" b="0" i="1" smtClean="0">
                          <a:latin typeface="Cambria Math" panose="02040503050406030204" pitchFamily="18" charset="0"/>
                        </a:rPr>
                        <m:t>=</m:t>
                      </m:r>
                      <m:r>
                        <a:rPr lang="en-US" b="0" i="1" smtClean="0">
                          <a:latin typeface="Cambria Math" panose="02040503050406030204" pitchFamily="18" charset="0"/>
                        </a:rPr>
                        <m:t>𝐿𝑜𝑤</m:t>
                      </m:r>
                      <m:r>
                        <a:rPr lang="en-US" b="0" i="1" smtClean="0">
                          <a:latin typeface="Cambria Math" panose="02040503050406030204" pitchFamily="18" charset="0"/>
                        </a:rPr>
                        <m:t> (</m:t>
                      </m:r>
                      <m:r>
                        <a:rPr lang="en-US" b="0" i="1" smtClean="0">
                          <a:latin typeface="Cambria Math" panose="02040503050406030204" pitchFamily="18" charset="0"/>
                        </a:rPr>
                        <m:t>𝑙𝑜𝑔𝑖𝑐</m:t>
                      </m:r>
                      <m:r>
                        <a:rPr lang="en-US" b="0" i="1" smtClean="0">
                          <a:latin typeface="Cambria Math" panose="02040503050406030204" pitchFamily="18" charset="0"/>
                        </a:rPr>
                        <m:t> 0 )</m:t>
                      </m:r>
                    </m:oMath>
                  </m:oMathPara>
                </a14:m>
                <a:endParaRPr lang="en-US"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B1F413C1-B362-A6E9-1A12-180D9026D0E5}"/>
                  </a:ext>
                </a:extLst>
              </p:cNvPr>
              <p:cNvSpPr>
                <a:spLocks noGrp="1" noRot="1" noChangeAspect="1" noMove="1" noResize="1" noEditPoints="1" noAdjustHandles="1" noChangeArrowheads="1" noChangeShapeType="1" noTextEdit="1"/>
              </p:cNvSpPr>
              <p:nvPr>
                <p:ph type="body" idx="1"/>
              </p:nvPr>
            </p:nvSpPr>
            <p:spPr>
              <a:xfrm>
                <a:off x="400171" y="1037641"/>
                <a:ext cx="11654177" cy="5104118"/>
              </a:xfrm>
              <a:blipFill>
                <a:blip r:embed="rId4"/>
                <a:stretch>
                  <a:fillRect l="-105"/>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702CF5FA-AEB1-F6C7-9D0F-D90972E1EA1B}"/>
              </a:ext>
            </a:extLst>
          </p:cNvPr>
          <p:cNvPicPr>
            <a:picLocks noChangeAspect="1"/>
          </p:cNvPicPr>
          <p:nvPr/>
        </p:nvPicPr>
        <p:blipFill>
          <a:blip r:embed="rId5"/>
          <a:stretch>
            <a:fillRect/>
          </a:stretch>
        </p:blipFill>
        <p:spPr>
          <a:xfrm>
            <a:off x="6096000" y="1310691"/>
            <a:ext cx="5410955" cy="3134162"/>
          </a:xfrm>
          <a:prstGeom prst="rect">
            <a:avLst/>
          </a:prstGeom>
        </p:spPr>
      </p:pic>
    </p:spTree>
    <p:extLst>
      <p:ext uri="{BB962C8B-B14F-4D97-AF65-F5344CB8AC3E}">
        <p14:creationId xmlns:p14="http://schemas.microsoft.com/office/powerpoint/2010/main" val="4144688577"/>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C4935AC5-4555-BA80-DF21-A55756BE4E73}"/>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49D2ABC3-0D33-8F7F-854A-FF0B63EC660C}"/>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Flash ADC design </a:t>
            </a:r>
          </a:p>
        </p:txBody>
      </p:sp>
      <p:sp>
        <p:nvSpPr>
          <p:cNvPr id="100" name="Google Shape;100;p2">
            <a:extLst>
              <a:ext uri="{FF2B5EF4-FFF2-40B4-BE49-F238E27FC236}">
                <a16:creationId xmlns:a16="http://schemas.microsoft.com/office/drawing/2014/main" id="{3C1EE369-5654-E279-1B5D-3CA899AD865E}"/>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AC713128-A24D-7A91-2505-7F137E4FB263}"/>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pic>
        <p:nvPicPr>
          <p:cNvPr id="102" name="Google Shape;102;p2">
            <a:extLst>
              <a:ext uri="{FF2B5EF4-FFF2-40B4-BE49-F238E27FC236}">
                <a16:creationId xmlns:a16="http://schemas.microsoft.com/office/drawing/2014/main" id="{1193EF08-F5E9-0C75-4F3D-517E21D73536}"/>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BBBDED7-FB5D-1C66-7423-EBA6B2966193}"/>
                  </a:ext>
                </a:extLst>
              </p:cNvPr>
              <p:cNvSpPr>
                <a:spLocks noGrp="1"/>
              </p:cNvSpPr>
              <p:nvPr>
                <p:ph type="body" idx="1"/>
              </p:nvPr>
            </p:nvSpPr>
            <p:spPr>
              <a:xfrm>
                <a:off x="400171" y="1037641"/>
                <a:ext cx="11654177" cy="5104118"/>
              </a:xfrm>
            </p:spPr>
            <p:txBody>
              <a:bodyPr>
                <a:normAutofit/>
              </a:bodyPr>
              <a:lstStyle/>
              <a:p>
                <a:pPr marL="114300" indent="0">
                  <a:buNone/>
                </a:pPr>
                <a:r>
                  <a:rPr lang="en-US" dirty="0"/>
                  <a:t>Suppose you have  a signal with </a:t>
                </a:r>
                <a14:m>
                  <m:oMath xmlns:m="http://schemas.openxmlformats.org/officeDocument/2006/math">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V</m:t>
                        </m:r>
                      </m:e>
                      <m:sub>
                        <m:r>
                          <m:rPr>
                            <m:sty m:val="p"/>
                          </m:rPr>
                          <a:rPr lang="en-US" b="0" i="0" dirty="0" smtClean="0">
                            <a:latin typeface="Cambria Math" panose="02040503050406030204" pitchFamily="18" charset="0"/>
                          </a:rPr>
                          <m:t>max</m:t>
                        </m:r>
                      </m:sub>
                    </m:sSub>
                    <m:r>
                      <a:rPr lang="en-US" i="1" dirty="0" smtClean="0">
                        <a:latin typeface="Cambria Math" panose="02040503050406030204" pitchFamily="18" charset="0"/>
                      </a:rPr>
                      <m:t> = 10 </m:t>
                    </m:r>
                    <m:r>
                      <a:rPr lang="en-US" i="1" dirty="0" smtClean="0">
                        <a:latin typeface="Cambria Math" panose="02040503050406030204" pitchFamily="18" charset="0"/>
                      </a:rPr>
                      <m:t>𝑉</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𝑚𝑖𝑛</m:t>
                        </m:r>
                      </m:sub>
                    </m:sSub>
                  </m:oMath>
                </a14:m>
                <a:r>
                  <a:rPr lang="en-US" dirty="0"/>
                  <a:t> = 0V. Design a simple flash ADC converter. </a:t>
                </a:r>
              </a:p>
              <a:p>
                <a:pPr marL="114300" indent="0">
                  <a:buNone/>
                </a:pPr>
                <a:r>
                  <a:rPr lang="en-US" dirty="0"/>
                  <a:t>Specifications:</a:t>
                </a:r>
              </a:p>
              <a:p>
                <a:pPr marL="685800" indent="-571500">
                  <a:buAutoNum type="romanLcPeriod"/>
                </a:pPr>
                <a:r>
                  <a:rPr lang="en-US" dirty="0"/>
                  <a:t>3 bits output system</a:t>
                </a:r>
              </a:p>
              <a:p>
                <a:pPr marL="685800" indent="-571500">
                  <a:buAutoNum type="romanLcPeriod"/>
                </a:pPr>
                <a:r>
                  <a:rPr lang="en-US" dirty="0"/>
                  <a:t>Equal quantization range and mid rise quantization</a:t>
                </a:r>
              </a:p>
              <a:p>
                <a:pPr marL="685800" indent="-571500">
                  <a:buAutoNum type="romanLcPeriod"/>
                </a:pPr>
                <a:r>
                  <a:rPr lang="en-US" b="1" dirty="0"/>
                  <a:t>Active high</a:t>
                </a:r>
                <a:r>
                  <a:rPr lang="en-US" dirty="0"/>
                  <a:t> Priority Encoder/</a:t>
                </a:r>
                <a:r>
                  <a:rPr lang="en-US" b="1" dirty="0"/>
                  <a:t> Active low</a:t>
                </a:r>
                <a:r>
                  <a:rPr lang="en-US" dirty="0"/>
                  <a:t> Priority Encoder</a:t>
                </a:r>
              </a:p>
              <a:p>
                <a:pPr marL="114300" indent="0">
                  <a:buNone/>
                </a:pPr>
                <a:r>
                  <a:rPr lang="en-US" dirty="0"/>
                  <a:t>[ Note: In Active high logic,  </a:t>
                </a:r>
                <a:r>
                  <a:rPr lang="en-US" b="1" dirty="0"/>
                  <a:t>logic 1 denotes high voltage </a:t>
                </a:r>
                <a:r>
                  <a:rPr lang="en-US" dirty="0"/>
                  <a:t>and logic 0 denotes low voltage ( normal ), </a:t>
                </a:r>
              </a:p>
              <a:p>
                <a:pPr marL="114300" indent="0">
                  <a:buNone/>
                </a:pPr>
                <a:r>
                  <a:rPr lang="en-US" dirty="0"/>
                  <a:t>In Active low logic, </a:t>
                </a:r>
                <a:r>
                  <a:rPr lang="en-US" b="1" dirty="0"/>
                  <a:t>logic 1 denotes low voltage </a:t>
                </a:r>
                <a:r>
                  <a:rPr lang="en-US" dirty="0"/>
                  <a:t>and logic 0 denotes high voltage]</a:t>
                </a:r>
              </a:p>
              <a:p>
                <a:pPr marL="685800" indent="-571500">
                  <a:buAutoNum type="romanLcPeriod"/>
                </a:pPr>
                <a:endParaRPr lang="en-US" dirty="0"/>
              </a:p>
              <a:p>
                <a:pPr marL="114300" indent="0">
                  <a:buNone/>
                </a:pPr>
                <a:endParaRPr lang="en-US"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0BBBDED7-FB5D-1C66-7423-EBA6B2966193}"/>
                  </a:ext>
                </a:extLst>
              </p:cNvPr>
              <p:cNvSpPr>
                <a:spLocks noGrp="1" noRot="1" noChangeAspect="1" noMove="1" noResize="1" noEditPoints="1" noAdjustHandles="1" noChangeArrowheads="1" noChangeShapeType="1" noTextEdit="1"/>
              </p:cNvSpPr>
              <p:nvPr>
                <p:ph type="body" idx="1"/>
              </p:nvPr>
            </p:nvSpPr>
            <p:spPr>
              <a:xfrm>
                <a:off x="400171" y="1037641"/>
                <a:ext cx="11654177" cy="5104118"/>
              </a:xfrm>
              <a:blipFill>
                <a:blip r:embed="rId4"/>
                <a:stretch>
                  <a:fillRect l="-105" r="-942"/>
                </a:stretch>
              </a:blipFill>
            </p:spPr>
            <p:txBody>
              <a:bodyPr/>
              <a:lstStyle/>
              <a:p>
                <a:r>
                  <a:rPr lang="en-US">
                    <a:noFill/>
                  </a:rPr>
                  <a:t> </a:t>
                </a:r>
              </a:p>
            </p:txBody>
          </p:sp>
        </mc:Fallback>
      </mc:AlternateContent>
    </p:spTree>
    <p:extLst>
      <p:ext uri="{BB962C8B-B14F-4D97-AF65-F5344CB8AC3E}">
        <p14:creationId xmlns:p14="http://schemas.microsoft.com/office/powerpoint/2010/main" val="3312901882"/>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5040E7FD-DB66-2596-84A8-252BF0AA686E}"/>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F9CA84C5-05B3-65BD-A683-2CCA36C18906}"/>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Flash ADC design </a:t>
            </a:r>
          </a:p>
        </p:txBody>
      </p:sp>
      <p:sp>
        <p:nvSpPr>
          <p:cNvPr id="100" name="Google Shape;100;p2">
            <a:extLst>
              <a:ext uri="{FF2B5EF4-FFF2-40B4-BE49-F238E27FC236}">
                <a16:creationId xmlns:a16="http://schemas.microsoft.com/office/drawing/2014/main" id="{CFDDA890-1ADA-B03E-C408-6E5A62B26C0E}"/>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676B05BB-2DA3-8117-76E4-171278EC32D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pic>
        <p:nvPicPr>
          <p:cNvPr id="102" name="Google Shape;102;p2">
            <a:extLst>
              <a:ext uri="{FF2B5EF4-FFF2-40B4-BE49-F238E27FC236}">
                <a16:creationId xmlns:a16="http://schemas.microsoft.com/office/drawing/2014/main" id="{F55F2F39-73E3-F64B-1A02-C38B7A900F68}"/>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79F64FC-1387-848D-F0D9-463DF1C02283}"/>
                  </a:ext>
                </a:extLst>
              </p:cNvPr>
              <p:cNvSpPr>
                <a:spLocks noGrp="1"/>
              </p:cNvSpPr>
              <p:nvPr>
                <p:ph type="body" idx="1"/>
              </p:nvPr>
            </p:nvSpPr>
            <p:spPr>
              <a:xfrm>
                <a:off x="400171" y="1037641"/>
                <a:ext cx="11654177" cy="5104118"/>
              </a:xfrm>
            </p:spPr>
            <p:txBody>
              <a:bodyPr>
                <a:normAutofit/>
              </a:bodyPr>
              <a:lstStyle/>
              <a:p>
                <a:pPr marL="114300" indent="0">
                  <a:buNone/>
                </a:pPr>
                <a:r>
                  <a:rPr lang="en-US" dirty="0"/>
                  <a:t>Design:</a:t>
                </a:r>
              </a:p>
              <a:p>
                <a:pPr marL="114300" indent="0">
                  <a:buNone/>
                </a:pPr>
                <a:r>
                  <a:rPr lang="en-US" dirty="0"/>
                  <a:t>Here,</a:t>
                </a:r>
              </a:p>
              <a:p>
                <a:pPr marL="11430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=3</m:t>
                      </m:r>
                    </m:oMath>
                  </m:oMathPara>
                </a14:m>
                <a:endParaRPr lang="en-US" b="0" dirty="0"/>
              </a:p>
              <a:p>
                <a:pPr marL="114300" indent="0">
                  <a:buNone/>
                </a:pP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𝑁𝑢𝑚𝑏𝑒𝑟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𝑟𝑒𝑔𝑖𝑠𝑡𝑜𝑟</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3</m:t>
                        </m:r>
                      </m:sup>
                    </m:sSup>
                    <m:r>
                      <a:rPr lang="en-US" b="0" i="1" smtClean="0">
                        <a:latin typeface="Cambria Math" panose="02040503050406030204" pitchFamily="18" charset="0"/>
                      </a:rPr>
                      <m:t>=8 </m:t>
                    </m:r>
                  </m:oMath>
                </a14:m>
                <a:r>
                  <a:rPr lang="en-US" b="0" dirty="0"/>
                  <a:t> </a:t>
                </a:r>
              </a:p>
              <a:p>
                <a:pPr marL="114300" indent="0">
                  <a:buNone/>
                </a:pP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𝑁𝑢𝑚𝑏𝑒𝑟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𝑐𝑜𝑚𝑝𝑎𝑟𝑎𝑡𝑜𝑟</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3</m:t>
                        </m:r>
                      </m:sup>
                    </m:sSup>
                    <m:r>
                      <a:rPr lang="en-US" b="0" i="1" smtClean="0">
                        <a:latin typeface="Cambria Math" panose="02040503050406030204" pitchFamily="18" charset="0"/>
                      </a:rPr>
                      <m:t>−1=7</m:t>
                    </m:r>
                  </m:oMath>
                </a14:m>
                <a:r>
                  <a:rPr lang="en-US" b="0" dirty="0"/>
                  <a:t> ( One additional Comparator can also be used but it has no effect ) </a:t>
                </a:r>
              </a:p>
              <a:p>
                <a:pPr marL="114300" indent="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r>
                            <a:rPr lang="en-US" b="0" i="1" smtClean="0">
                              <a:latin typeface="Cambria Math" panose="02040503050406030204" pitchFamily="18" charset="0"/>
                            </a:rPr>
                            <m:t>𝑟𝑒𝑓</m:t>
                          </m:r>
                        </m:sub>
                      </m:sSub>
                      <m:r>
                        <a:rPr lang="en-US" b="0" i="1" smtClean="0">
                          <a:latin typeface="Cambria Math" panose="02040503050406030204" pitchFamily="18" charset="0"/>
                        </a:rPr>
                        <m:t>=</m:t>
                      </m:r>
                      <m:r>
                        <a:rPr lang="en-US" b="0" i="1" smtClean="0">
                          <a:latin typeface="Cambria Math" panose="02040503050406030204" pitchFamily="18" charset="0"/>
                        </a:rPr>
                        <m:t>𝑉𝑚𝑎𝑥</m:t>
                      </m:r>
                      <m:r>
                        <a:rPr lang="en-US" b="0" i="1" smtClean="0">
                          <a:latin typeface="Cambria Math" panose="02040503050406030204" pitchFamily="18" charset="0"/>
                        </a:rPr>
                        <m:t>=10 </m:t>
                      </m:r>
                      <m:r>
                        <a:rPr lang="en-US" b="0" i="1" smtClean="0">
                          <a:latin typeface="Cambria Math" panose="02040503050406030204" pitchFamily="18" charset="0"/>
                        </a:rPr>
                        <m:t>𝑉</m:t>
                      </m:r>
                    </m:oMath>
                  </m:oMathPara>
                </a14:m>
                <a:endParaRPr lang="en-US" b="0" dirty="0"/>
              </a:p>
              <a:p>
                <a:pPr marL="114300" indent="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r>
                            <a:rPr lang="en-US" b="0" i="1" smtClean="0">
                              <a:latin typeface="Cambria Math" panose="02040503050406030204" pitchFamily="18" charset="0"/>
                            </a:rPr>
                            <m:t>𝑟𝑒𝑓</m:t>
                          </m:r>
                        </m:sub>
                      </m:sSub>
                      <m:r>
                        <a:rPr lang="en-US" b="0" i="1" smtClean="0">
                          <a:latin typeface="Cambria Math" panose="02040503050406030204" pitchFamily="18" charset="0"/>
                        </a:rPr>
                        <m:t>=</m:t>
                      </m:r>
                      <m:r>
                        <a:rPr lang="en-US" b="0" i="1" smtClean="0">
                          <a:latin typeface="Cambria Math" panose="02040503050406030204" pitchFamily="18" charset="0"/>
                        </a:rPr>
                        <m:t>𝑉𝑚𝑖𝑛</m:t>
                      </m:r>
                      <m:r>
                        <a:rPr lang="en-US" b="0" i="1" smtClean="0">
                          <a:latin typeface="Cambria Math" panose="02040503050406030204" pitchFamily="18" charset="0"/>
                        </a:rPr>
                        <m:t>=0 </m:t>
                      </m:r>
                      <m:r>
                        <a:rPr lang="en-US" b="0" i="1" smtClean="0">
                          <a:latin typeface="Cambria Math" panose="02040503050406030204" pitchFamily="18" charset="0"/>
                        </a:rPr>
                        <m:t>𝑉</m:t>
                      </m:r>
                      <m:r>
                        <a:rPr lang="en-US" b="0" i="1" smtClean="0">
                          <a:latin typeface="Cambria Math" panose="02040503050406030204" pitchFamily="18" charset="0"/>
                        </a:rPr>
                        <m:t> </m:t>
                      </m:r>
                    </m:oMath>
                  </m:oMathPara>
                </a14:m>
                <a:endParaRPr lang="en-US" b="0" dirty="0"/>
              </a:p>
              <a:p>
                <a:pPr marL="114300" indent="0">
                  <a:buNone/>
                </a:pPr>
                <a:endParaRPr lang="en-US"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279F64FC-1387-848D-F0D9-463DF1C02283}"/>
                  </a:ext>
                </a:extLst>
              </p:cNvPr>
              <p:cNvSpPr>
                <a:spLocks noGrp="1" noRot="1" noChangeAspect="1" noMove="1" noResize="1" noEditPoints="1" noAdjustHandles="1" noChangeArrowheads="1" noChangeShapeType="1" noTextEdit="1"/>
              </p:cNvSpPr>
              <p:nvPr>
                <p:ph type="body" idx="1"/>
              </p:nvPr>
            </p:nvSpPr>
            <p:spPr>
              <a:xfrm>
                <a:off x="400171" y="1037641"/>
                <a:ext cx="11654177" cy="5104118"/>
              </a:xfrm>
              <a:blipFill>
                <a:blip r:embed="rId4"/>
                <a:stretch>
                  <a:fillRect l="-105"/>
                </a:stretch>
              </a:blipFill>
            </p:spPr>
            <p:txBody>
              <a:bodyPr/>
              <a:lstStyle/>
              <a:p>
                <a:r>
                  <a:rPr lang="en-US">
                    <a:noFill/>
                  </a:rPr>
                  <a:t> </a:t>
                </a:r>
              </a:p>
            </p:txBody>
          </p:sp>
        </mc:Fallback>
      </mc:AlternateContent>
    </p:spTree>
    <p:extLst>
      <p:ext uri="{BB962C8B-B14F-4D97-AF65-F5344CB8AC3E}">
        <p14:creationId xmlns:p14="http://schemas.microsoft.com/office/powerpoint/2010/main" val="433682487"/>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98C2D7CB-F329-A74B-AD0B-292879F63F51}"/>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282BE51B-6A0E-9A81-C1DF-8AF5E3E1694E}"/>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Circuit</a:t>
            </a:r>
          </a:p>
        </p:txBody>
      </p:sp>
      <p:sp>
        <p:nvSpPr>
          <p:cNvPr id="100" name="Google Shape;100;p2">
            <a:extLst>
              <a:ext uri="{FF2B5EF4-FFF2-40B4-BE49-F238E27FC236}">
                <a16:creationId xmlns:a16="http://schemas.microsoft.com/office/drawing/2014/main" id="{F43C9E99-DA64-DC4F-D64C-0C8D2040FF64}"/>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48AADAB9-74C9-1BE7-7BC2-FBCB93707017}"/>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pic>
        <p:nvPicPr>
          <p:cNvPr id="102" name="Google Shape;102;p2">
            <a:extLst>
              <a:ext uri="{FF2B5EF4-FFF2-40B4-BE49-F238E27FC236}">
                <a16:creationId xmlns:a16="http://schemas.microsoft.com/office/drawing/2014/main" id="{BC1E0185-E802-36B5-0B99-CD2F73E79037}"/>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E1BC9D48-A000-A3A4-2A39-F0119876A33C}"/>
              </a:ext>
            </a:extLst>
          </p:cNvPr>
          <p:cNvSpPr>
            <a:spLocks noGrp="1"/>
          </p:cNvSpPr>
          <p:nvPr>
            <p:ph type="body" idx="1"/>
          </p:nvPr>
        </p:nvSpPr>
        <p:spPr>
          <a:xfrm>
            <a:off x="400171" y="959575"/>
            <a:ext cx="4948577" cy="5182184"/>
          </a:xfrm>
        </p:spPr>
        <p:txBody>
          <a:bodyPr>
            <a:normAutofit/>
          </a:bodyPr>
          <a:lstStyle/>
          <a:p>
            <a:pPr marL="114300" indent="0">
              <a:buNone/>
            </a:pPr>
            <a:r>
              <a:rPr lang="en-US" dirty="0"/>
              <a:t>The following is the Circuit of a 3 bits Flash ADC,</a:t>
            </a:r>
          </a:p>
          <a:p>
            <a:pPr marL="114300" indent="0">
              <a:buNone/>
            </a:pPr>
            <a:r>
              <a:rPr lang="en-US" b="1" dirty="0">
                <a:solidFill>
                  <a:srgbClr val="FF0000"/>
                </a:solidFill>
              </a:rPr>
              <a:t>For active high priority encoder, V+ of the comparator is connected to the input.</a:t>
            </a:r>
          </a:p>
          <a:p>
            <a:pPr marL="114300" indent="0">
              <a:buNone/>
            </a:pPr>
            <a:endParaRPr lang="en-US" dirty="0"/>
          </a:p>
          <a:p>
            <a:pPr marL="114300" indent="0">
              <a:buNone/>
            </a:pPr>
            <a:endParaRPr lang="en-US" dirty="0"/>
          </a:p>
        </p:txBody>
      </p:sp>
      <p:pic>
        <p:nvPicPr>
          <p:cNvPr id="6" name="Picture 5">
            <a:extLst>
              <a:ext uri="{FF2B5EF4-FFF2-40B4-BE49-F238E27FC236}">
                <a16:creationId xmlns:a16="http://schemas.microsoft.com/office/drawing/2014/main" id="{1FD3A8AF-F7CF-11F0-5AAB-E9C1E474E229}"/>
              </a:ext>
            </a:extLst>
          </p:cNvPr>
          <p:cNvPicPr>
            <a:picLocks noChangeAspect="1"/>
          </p:cNvPicPr>
          <p:nvPr/>
        </p:nvPicPr>
        <p:blipFill>
          <a:blip r:embed="rId4"/>
          <a:stretch>
            <a:fillRect/>
          </a:stretch>
        </p:blipFill>
        <p:spPr>
          <a:xfrm>
            <a:off x="5430410" y="422786"/>
            <a:ext cx="6002895" cy="5801033"/>
          </a:xfrm>
          <a:prstGeom prst="rect">
            <a:avLst/>
          </a:prstGeom>
        </p:spPr>
      </p:pic>
    </p:spTree>
    <p:extLst>
      <p:ext uri="{BB962C8B-B14F-4D97-AF65-F5344CB8AC3E}">
        <p14:creationId xmlns:p14="http://schemas.microsoft.com/office/powerpoint/2010/main" val="3026998562"/>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8DC02DE2-594F-ACC7-C5A5-F36FE2EDEE31}"/>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F9D8D6AC-CD6B-04E3-68F7-1BDF85DE6DF3}"/>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Circuit Analysis</a:t>
            </a:r>
          </a:p>
        </p:txBody>
      </p:sp>
      <p:sp>
        <p:nvSpPr>
          <p:cNvPr id="100" name="Google Shape;100;p2">
            <a:extLst>
              <a:ext uri="{FF2B5EF4-FFF2-40B4-BE49-F238E27FC236}">
                <a16:creationId xmlns:a16="http://schemas.microsoft.com/office/drawing/2014/main" id="{88689CCC-544B-E5ED-424F-5215E80DDF39}"/>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3B19B43F-04C7-FE7E-3625-1F707B3FC58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pic>
        <p:nvPicPr>
          <p:cNvPr id="102" name="Google Shape;102;p2">
            <a:extLst>
              <a:ext uri="{FF2B5EF4-FFF2-40B4-BE49-F238E27FC236}">
                <a16:creationId xmlns:a16="http://schemas.microsoft.com/office/drawing/2014/main" id="{8E4431A3-5FDA-C1F4-40A4-FDB860866A82}"/>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FE6ADA39-0F42-E290-4698-36557E941C01}"/>
                  </a:ext>
                </a:extLst>
              </p:cNvPr>
              <p:cNvSpPr>
                <a:spLocks noGrp="1"/>
              </p:cNvSpPr>
              <p:nvPr>
                <p:ph type="body" idx="1"/>
              </p:nvPr>
            </p:nvSpPr>
            <p:spPr>
              <a:xfrm>
                <a:off x="400171" y="1042167"/>
                <a:ext cx="6462745" cy="5099591"/>
              </a:xfrm>
            </p:spPr>
            <p:txBody>
              <a:bodyPr>
                <a:normAutofit fontScale="92500" lnSpcReduction="10000"/>
              </a:bodyPr>
              <a:lstStyle/>
              <a:p>
                <a:pPr marL="114300" indent="0">
                  <a:buNone/>
                </a:pPr>
                <a:r>
                  <a:rPr lang="en-US" dirty="0"/>
                  <a:t>The following is the Circuit of a 3 bits Flash ADC,</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10−0</m:t>
                          </m:r>
                        </m:num>
                        <m:den>
                          <m:r>
                            <a:rPr lang="en-US" b="0" i="1" smtClean="0">
                              <a:latin typeface="Cambria Math" panose="02040503050406030204" pitchFamily="18" charset="0"/>
                            </a:rPr>
                            <m:t>8</m:t>
                          </m:r>
                          <m:r>
                            <a:rPr lang="en-US" b="0" i="1" smtClean="0">
                              <a:latin typeface="Cambria Math" panose="02040503050406030204" pitchFamily="18" charset="0"/>
                            </a:rPr>
                            <m:t>𝑅</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10</m:t>
                          </m:r>
                        </m:num>
                        <m:den>
                          <m:r>
                            <a:rPr lang="en-US" b="0" i="1" smtClean="0">
                              <a:latin typeface="Cambria Math" panose="02040503050406030204" pitchFamily="18" charset="0"/>
                            </a:rPr>
                            <m:t>8</m:t>
                          </m:r>
                          <m:r>
                            <a:rPr lang="en-US" b="0" i="1" smtClean="0">
                              <a:latin typeface="Cambria Math" panose="02040503050406030204" pitchFamily="18" charset="0"/>
                            </a:rPr>
                            <m:t>𝑅</m:t>
                          </m:r>
                        </m:den>
                      </m:f>
                    </m:oMath>
                  </m:oMathPara>
                </a14:m>
                <a:endParaRPr lang="en-US" b="0" dirty="0"/>
              </a:p>
              <a:p>
                <a:pPr marL="114300" indent="0">
                  <a:buNone/>
                </a:pPr>
                <a:endParaRPr lang="en-US" b="0" dirty="0"/>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r>
                                <a:rPr lang="en-US" b="0" i="1" smtClean="0">
                                  <a:latin typeface="Cambria Math" panose="02040503050406030204" pitchFamily="18" charset="0"/>
                                </a:rPr>
                                <m:t>𝑟𝑒𝑓</m:t>
                              </m:r>
                            </m:sub>
                          </m:sSub>
                        </m:num>
                        <m:den>
                          <m:r>
                            <a:rPr lang="en-US" b="0" i="1" smtClean="0">
                              <a:latin typeface="Cambria Math" panose="02040503050406030204" pitchFamily="18" charset="0"/>
                            </a:rPr>
                            <m:t>𝑅</m:t>
                          </m:r>
                        </m:den>
                      </m:f>
                    </m:oMath>
                  </m:oMathPara>
                </a14:m>
                <a:endParaRPr lang="en-US" b="0" dirty="0"/>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r>
                            <a:rPr lang="en-US" b="0" i="1" smtClean="0">
                              <a:latin typeface="Cambria Math" panose="02040503050406030204" pitchFamily="18" charset="0"/>
                            </a:rPr>
                            <m:t>𝑟𝑒𝑓</m:t>
                          </m:r>
                        </m:sub>
                      </m:sSub>
                      <m:r>
                        <a:rPr lang="en-US" b="0" i="1" smtClean="0">
                          <a:latin typeface="Cambria Math" panose="02040503050406030204" pitchFamily="18" charset="0"/>
                        </a:rPr>
                        <m:t>+</m:t>
                      </m:r>
                      <m:r>
                        <a:rPr lang="en-US" b="0" i="1" smtClean="0">
                          <a:latin typeface="Cambria Math" panose="02040503050406030204" pitchFamily="18" charset="0"/>
                        </a:rPr>
                        <m:t>𝐼𝑅</m:t>
                      </m:r>
                      <m:r>
                        <a:rPr lang="en-US" b="0" i="1" smtClean="0">
                          <a:latin typeface="Cambria Math" panose="02040503050406030204" pitchFamily="18" charset="0"/>
                        </a:rPr>
                        <m:t>=0+</m:t>
                      </m:r>
                      <m:f>
                        <m:fPr>
                          <m:ctrlPr>
                            <a:rPr lang="en-US" b="0" i="1" smtClean="0">
                              <a:latin typeface="Cambria Math" panose="02040503050406030204" pitchFamily="18" charset="0"/>
                            </a:rPr>
                          </m:ctrlPr>
                        </m:fPr>
                        <m:num>
                          <m:r>
                            <a:rPr lang="en-US" b="0" i="1" smtClean="0">
                              <a:latin typeface="Cambria Math" panose="02040503050406030204" pitchFamily="18" charset="0"/>
                            </a:rPr>
                            <m:t>10</m:t>
                          </m:r>
                        </m:num>
                        <m:den>
                          <m:r>
                            <a:rPr lang="en-US" b="0" i="1" smtClean="0">
                              <a:latin typeface="Cambria Math" panose="02040503050406030204" pitchFamily="18" charset="0"/>
                            </a:rPr>
                            <m:t>8</m:t>
                          </m:r>
                          <m:r>
                            <a:rPr lang="en-US" b="0" i="1" smtClean="0">
                              <a:latin typeface="Cambria Math" panose="02040503050406030204" pitchFamily="18" charset="0"/>
                            </a:rPr>
                            <m:t>𝑅</m:t>
                          </m:r>
                        </m:den>
                      </m:f>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=1.25 </m:t>
                      </m:r>
                      <m:r>
                        <a:rPr lang="en-US" b="0" i="1" smtClean="0">
                          <a:latin typeface="Cambria Math" panose="02040503050406030204" pitchFamily="18" charset="0"/>
                        </a:rPr>
                        <m:t>𝑉</m:t>
                      </m:r>
                    </m:oMath>
                  </m:oMathPara>
                </a14:m>
                <a:endParaRPr lang="en-US" b="0" dirty="0"/>
              </a:p>
              <a:p>
                <a:pPr marL="114300" indent="0">
                  <a:buNone/>
                </a:pPr>
                <a:r>
                  <a:rPr lang="en-US" dirty="0"/>
                  <a:t>Similarly, </a:t>
                </a:r>
                <a14:m>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r>
                          <a:rPr lang="en-US" b="0" i="1" smtClean="0">
                            <a:latin typeface="Cambria Math" panose="02040503050406030204" pitchFamily="18" charset="0"/>
                          </a:rPr>
                          <m:t>2 −</m:t>
                        </m:r>
                        <m:r>
                          <a:rPr lang="en-US" b="0" i="1" smtClean="0">
                            <a:latin typeface="Cambria Math" panose="02040503050406030204" pitchFamily="18" charset="0"/>
                          </a:rPr>
                          <m:t>𝑉</m:t>
                        </m:r>
                        <m:r>
                          <a:rPr lang="en-US" b="0" i="1" smtClean="0">
                            <a:latin typeface="Cambria Math" panose="02040503050406030204" pitchFamily="18" charset="0"/>
                          </a:rPr>
                          <m:t>1 </m:t>
                        </m:r>
                      </m:num>
                      <m:den>
                        <m:r>
                          <a:rPr lang="en-US" b="0" i="1" smtClean="0">
                            <a:latin typeface="Cambria Math" panose="02040503050406030204" pitchFamily="18" charset="0"/>
                          </a:rPr>
                          <m:t>𝑅</m:t>
                        </m:r>
                      </m:den>
                    </m:f>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2=</m:t>
                    </m:r>
                    <m:r>
                      <a:rPr lang="en-US" b="0" i="1" smtClean="0">
                        <a:latin typeface="Cambria Math" panose="02040503050406030204" pitchFamily="18" charset="0"/>
                      </a:rPr>
                      <m:t>𝑉</m:t>
                    </m:r>
                    <m:r>
                      <a:rPr lang="en-US" b="0" i="1" smtClean="0">
                        <a:latin typeface="Cambria Math" panose="02040503050406030204" pitchFamily="18" charset="0"/>
                      </a:rPr>
                      <m:t>1+</m:t>
                    </m:r>
                    <m:r>
                      <a:rPr lang="en-US" b="0" i="1" smtClean="0">
                        <a:latin typeface="Cambria Math" panose="02040503050406030204" pitchFamily="18" charset="0"/>
                      </a:rPr>
                      <m:t>𝐼𝑅</m:t>
                    </m:r>
                    <m:r>
                      <a:rPr lang="en-US" b="0" i="1" smtClean="0">
                        <a:latin typeface="Cambria Math" panose="02040503050406030204" pitchFamily="18" charset="0"/>
                      </a:rPr>
                      <m:t> </m:t>
                    </m:r>
                  </m:oMath>
                </a14:m>
                <a:endParaRPr lang="en-US" b="0" dirty="0"/>
              </a:p>
              <a:p>
                <a:pPr marL="114300" indent="0">
                  <a:buNone/>
                </a:pPr>
                <a:r>
                  <a:rPr lang="en-US" b="0" dirty="0"/>
                  <a:t>		</a:t>
                </a:r>
                <a14:m>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𝑉</m:t>
                    </m:r>
                    <m:r>
                      <a:rPr lang="en-US" b="0" i="1" smtClean="0">
                        <a:latin typeface="Cambria Math" panose="02040503050406030204" pitchFamily="18" charset="0"/>
                      </a:rPr>
                      <m:t>2=1.25+</m:t>
                    </m:r>
                    <m:f>
                      <m:fPr>
                        <m:ctrlPr>
                          <a:rPr lang="en-US" b="0" i="1" smtClean="0">
                            <a:latin typeface="Cambria Math" panose="02040503050406030204" pitchFamily="18" charset="0"/>
                          </a:rPr>
                        </m:ctrlPr>
                      </m:fPr>
                      <m:num>
                        <m:r>
                          <a:rPr lang="en-US" b="0" i="1" smtClean="0">
                            <a:latin typeface="Cambria Math" panose="02040503050406030204" pitchFamily="18" charset="0"/>
                          </a:rPr>
                          <m:t>10</m:t>
                        </m:r>
                      </m:num>
                      <m:den>
                        <m:r>
                          <a:rPr lang="en-US" b="0" i="1" smtClean="0">
                            <a:latin typeface="Cambria Math" panose="02040503050406030204" pitchFamily="18" charset="0"/>
                          </a:rPr>
                          <m:t>8</m:t>
                        </m:r>
                        <m:r>
                          <a:rPr lang="en-US" b="0" i="1" smtClean="0">
                            <a:latin typeface="Cambria Math" panose="02040503050406030204" pitchFamily="18" charset="0"/>
                          </a:rPr>
                          <m:t>𝑅</m:t>
                        </m:r>
                      </m:den>
                    </m:f>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=2.5 </m:t>
                    </m:r>
                    <m:r>
                      <a:rPr lang="en-US" b="0" i="1" smtClean="0">
                        <a:latin typeface="Cambria Math" panose="02040503050406030204" pitchFamily="18" charset="0"/>
                      </a:rPr>
                      <m:t>𝑉</m:t>
                    </m:r>
                  </m:oMath>
                </a14:m>
                <a:endParaRPr lang="en-US" b="0" dirty="0"/>
              </a:p>
              <a:p>
                <a:pPr marL="114300" indent="0">
                  <a:buNone/>
                </a:pPr>
                <a:r>
                  <a:rPr lang="en-US" b="0" dirty="0"/>
                  <a:t>	You can find other voltage in this way. </a:t>
                </a:r>
              </a:p>
              <a:p>
                <a:pPr marL="114300" indent="0">
                  <a:buNone/>
                </a:pPr>
                <a:endParaRPr lang="en-US" dirty="0"/>
              </a:p>
            </p:txBody>
          </p:sp>
        </mc:Choice>
        <mc:Fallback xmlns="">
          <p:sp>
            <p:nvSpPr>
              <p:cNvPr id="3" name="Text Placeholder 2">
                <a:extLst>
                  <a:ext uri="{FF2B5EF4-FFF2-40B4-BE49-F238E27FC236}">
                    <a16:creationId xmlns:a16="http://schemas.microsoft.com/office/drawing/2014/main" id="{FE6ADA39-0F42-E290-4698-36557E941C01}"/>
                  </a:ext>
                </a:extLst>
              </p:cNvPr>
              <p:cNvSpPr>
                <a:spLocks noGrp="1" noRot="1" noChangeAspect="1" noMove="1" noResize="1" noEditPoints="1" noAdjustHandles="1" noChangeArrowheads="1" noChangeShapeType="1" noTextEdit="1"/>
              </p:cNvSpPr>
              <p:nvPr>
                <p:ph type="body" idx="1"/>
              </p:nvPr>
            </p:nvSpPr>
            <p:spPr>
              <a:xfrm>
                <a:off x="400171" y="1042167"/>
                <a:ext cx="6462745" cy="5099591"/>
              </a:xfrm>
              <a:blipFill>
                <a:blip r:embed="rId4"/>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3A874D3A-9F11-804C-F53D-99955C4D9CBB}"/>
              </a:ext>
            </a:extLst>
          </p:cNvPr>
          <p:cNvPicPr>
            <a:picLocks noChangeAspect="1"/>
          </p:cNvPicPr>
          <p:nvPr/>
        </p:nvPicPr>
        <p:blipFill>
          <a:blip r:embed="rId5"/>
          <a:stretch>
            <a:fillRect/>
          </a:stretch>
        </p:blipFill>
        <p:spPr>
          <a:xfrm>
            <a:off x="6735098" y="1633687"/>
            <a:ext cx="4805516" cy="4722663"/>
          </a:xfrm>
          <a:prstGeom prst="rect">
            <a:avLst/>
          </a:prstGeom>
        </p:spPr>
      </p:pic>
    </p:spTree>
    <p:extLst>
      <p:ext uri="{BB962C8B-B14F-4D97-AF65-F5344CB8AC3E}">
        <p14:creationId xmlns:p14="http://schemas.microsoft.com/office/powerpoint/2010/main" val="2530407589"/>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C25390DB-9807-7A75-49AA-B4B624057875}"/>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64EE0232-52FF-0E06-3480-AB517174CB7D}"/>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Circuit Analysis</a:t>
            </a:r>
          </a:p>
        </p:txBody>
      </p:sp>
      <p:sp>
        <p:nvSpPr>
          <p:cNvPr id="100" name="Google Shape;100;p2">
            <a:extLst>
              <a:ext uri="{FF2B5EF4-FFF2-40B4-BE49-F238E27FC236}">
                <a16:creationId xmlns:a16="http://schemas.microsoft.com/office/drawing/2014/main" id="{B04945E9-E274-4248-0B33-DF1416D9823A}"/>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F216B761-1FB1-C840-5040-E04E359E159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pic>
        <p:nvPicPr>
          <p:cNvPr id="102" name="Google Shape;102;p2">
            <a:extLst>
              <a:ext uri="{FF2B5EF4-FFF2-40B4-BE49-F238E27FC236}">
                <a16:creationId xmlns:a16="http://schemas.microsoft.com/office/drawing/2014/main" id="{B48D6E4C-EBA1-9D3A-9DF5-48FEDB12F236}"/>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C3F71E14-DC6A-58D9-A960-30896D79905B}"/>
              </a:ext>
            </a:extLst>
          </p:cNvPr>
          <p:cNvSpPr>
            <a:spLocks noGrp="1"/>
          </p:cNvSpPr>
          <p:nvPr>
            <p:ph type="body" idx="1"/>
          </p:nvPr>
        </p:nvSpPr>
        <p:spPr>
          <a:xfrm>
            <a:off x="400171" y="1042167"/>
            <a:ext cx="6462745" cy="5099591"/>
          </a:xfrm>
        </p:spPr>
        <p:txBody>
          <a:bodyPr>
            <a:normAutofit/>
          </a:bodyPr>
          <a:lstStyle/>
          <a:p>
            <a:pPr marL="114300" indent="0">
              <a:buNone/>
            </a:pPr>
            <a:r>
              <a:rPr lang="en-US" dirty="0"/>
              <a:t>Summary table: </a:t>
            </a:r>
          </a:p>
          <a:p>
            <a:pPr marL="114300" indent="0">
              <a:buNone/>
            </a:pPr>
            <a:endParaRPr lang="en-US" dirty="0"/>
          </a:p>
        </p:txBody>
      </p:sp>
      <p:pic>
        <p:nvPicPr>
          <p:cNvPr id="6" name="Picture 5">
            <a:extLst>
              <a:ext uri="{FF2B5EF4-FFF2-40B4-BE49-F238E27FC236}">
                <a16:creationId xmlns:a16="http://schemas.microsoft.com/office/drawing/2014/main" id="{631DA236-136B-A8F1-BE00-204E0972043E}"/>
              </a:ext>
            </a:extLst>
          </p:cNvPr>
          <p:cNvPicPr>
            <a:picLocks noChangeAspect="1"/>
          </p:cNvPicPr>
          <p:nvPr/>
        </p:nvPicPr>
        <p:blipFill>
          <a:blip r:embed="rId4"/>
          <a:stretch>
            <a:fillRect/>
          </a:stretch>
        </p:blipFill>
        <p:spPr>
          <a:xfrm>
            <a:off x="6595398" y="827575"/>
            <a:ext cx="5407413" cy="5314183"/>
          </a:xfrm>
          <a:prstGeom prst="rect">
            <a:avLst/>
          </a:prstGeom>
        </p:spPr>
      </p:pic>
      <p:graphicFrame>
        <p:nvGraphicFramePr>
          <p:cNvPr id="2" name="Table 1">
            <a:extLst>
              <a:ext uri="{FF2B5EF4-FFF2-40B4-BE49-F238E27FC236}">
                <a16:creationId xmlns:a16="http://schemas.microsoft.com/office/drawing/2014/main" id="{5ED430AD-513C-7B25-BB97-3CAB21B9AED4}"/>
              </a:ext>
            </a:extLst>
          </p:cNvPr>
          <p:cNvGraphicFramePr>
            <a:graphicFrameLocks noGrp="1"/>
          </p:cNvGraphicFramePr>
          <p:nvPr>
            <p:extLst>
              <p:ext uri="{D42A27DB-BD31-4B8C-83A1-F6EECF244321}">
                <p14:modId xmlns:p14="http://schemas.microsoft.com/office/powerpoint/2010/main" val="2453506959"/>
              </p:ext>
            </p:extLst>
          </p:nvPr>
        </p:nvGraphicFramePr>
        <p:xfrm>
          <a:off x="400171" y="1687620"/>
          <a:ext cx="6334928" cy="3919305"/>
        </p:xfrm>
        <a:graphic>
          <a:graphicData uri="http://schemas.openxmlformats.org/drawingml/2006/table">
            <a:tbl>
              <a:tblPr firstRow="1" bandRow="1">
                <a:tableStyleId>{616DA210-FB5B-4158-B5E0-FEB733F419BA}</a:tableStyleId>
              </a:tblPr>
              <a:tblGrid>
                <a:gridCol w="1583732">
                  <a:extLst>
                    <a:ext uri="{9D8B030D-6E8A-4147-A177-3AD203B41FA5}">
                      <a16:colId xmlns:a16="http://schemas.microsoft.com/office/drawing/2014/main" val="3574067696"/>
                    </a:ext>
                  </a:extLst>
                </a:gridCol>
                <a:gridCol w="1583732">
                  <a:extLst>
                    <a:ext uri="{9D8B030D-6E8A-4147-A177-3AD203B41FA5}">
                      <a16:colId xmlns:a16="http://schemas.microsoft.com/office/drawing/2014/main" val="2219630699"/>
                    </a:ext>
                  </a:extLst>
                </a:gridCol>
                <a:gridCol w="1583732">
                  <a:extLst>
                    <a:ext uri="{9D8B030D-6E8A-4147-A177-3AD203B41FA5}">
                      <a16:colId xmlns:a16="http://schemas.microsoft.com/office/drawing/2014/main" val="3761038584"/>
                    </a:ext>
                  </a:extLst>
                </a:gridCol>
                <a:gridCol w="1583732">
                  <a:extLst>
                    <a:ext uri="{9D8B030D-6E8A-4147-A177-3AD203B41FA5}">
                      <a16:colId xmlns:a16="http://schemas.microsoft.com/office/drawing/2014/main" val="2418979318"/>
                    </a:ext>
                  </a:extLst>
                </a:gridCol>
              </a:tblGrid>
              <a:tr h="515513">
                <a:tc>
                  <a:txBody>
                    <a:bodyPr/>
                    <a:lstStyle/>
                    <a:p>
                      <a:r>
                        <a:rPr lang="en-US" dirty="0"/>
                        <a:t>Q Range</a:t>
                      </a:r>
                    </a:p>
                  </a:txBody>
                  <a:tcPr/>
                </a:tc>
                <a:tc>
                  <a:txBody>
                    <a:bodyPr/>
                    <a:lstStyle/>
                    <a:p>
                      <a:r>
                        <a:rPr lang="en-US" dirty="0"/>
                        <a:t>Q level </a:t>
                      </a:r>
                    </a:p>
                  </a:txBody>
                  <a:tcPr/>
                </a:tc>
                <a:tc>
                  <a:txBody>
                    <a:bodyPr/>
                    <a:lstStyle/>
                    <a:p>
                      <a:r>
                        <a:rPr lang="en-US" dirty="0"/>
                        <a:t>I7I6I5I4I3I2I1</a:t>
                      </a:r>
                    </a:p>
                  </a:txBody>
                  <a:tcPr/>
                </a:tc>
                <a:tc>
                  <a:txBody>
                    <a:bodyPr/>
                    <a:lstStyle/>
                    <a:p>
                      <a:r>
                        <a:rPr lang="en-US" dirty="0"/>
                        <a:t>Binary (B2B1B0)</a:t>
                      </a:r>
                    </a:p>
                  </a:txBody>
                  <a:tcPr/>
                </a:tc>
                <a:extLst>
                  <a:ext uri="{0D108BD9-81ED-4DB2-BD59-A6C34878D82A}">
                    <a16:rowId xmlns:a16="http://schemas.microsoft.com/office/drawing/2014/main" val="174331173"/>
                  </a:ext>
                </a:extLst>
              </a:tr>
              <a:tr h="425474">
                <a:tc>
                  <a:txBody>
                    <a:bodyPr/>
                    <a:lstStyle/>
                    <a:p>
                      <a:r>
                        <a:rPr lang="en-US" dirty="0"/>
                        <a:t>0 -  1.25</a:t>
                      </a:r>
                    </a:p>
                  </a:txBody>
                  <a:tcPr/>
                </a:tc>
                <a:tc>
                  <a:txBody>
                    <a:bodyPr/>
                    <a:lstStyle/>
                    <a:p>
                      <a:r>
                        <a:rPr lang="en-US" dirty="0"/>
                        <a:t>0.675</a:t>
                      </a:r>
                    </a:p>
                  </a:txBody>
                  <a:tcPr/>
                </a:tc>
                <a:tc>
                  <a:txBody>
                    <a:bodyPr/>
                    <a:lstStyle/>
                    <a:p>
                      <a:r>
                        <a:rPr lang="en-US" dirty="0"/>
                        <a:t>000 000 0</a:t>
                      </a:r>
                    </a:p>
                  </a:txBody>
                  <a:tcPr/>
                </a:tc>
                <a:tc>
                  <a:txBody>
                    <a:bodyPr/>
                    <a:lstStyle/>
                    <a:p>
                      <a:endParaRPr lang="en-US" dirty="0"/>
                    </a:p>
                  </a:txBody>
                  <a:tcPr/>
                </a:tc>
                <a:extLst>
                  <a:ext uri="{0D108BD9-81ED-4DB2-BD59-A6C34878D82A}">
                    <a16:rowId xmlns:a16="http://schemas.microsoft.com/office/drawing/2014/main" val="2540230428"/>
                  </a:ext>
                </a:extLst>
              </a:tr>
              <a:tr h="425474">
                <a:tc>
                  <a:txBody>
                    <a:bodyPr/>
                    <a:lstStyle/>
                    <a:p>
                      <a:r>
                        <a:rPr lang="en-US" dirty="0"/>
                        <a:t>1.25  - 2.5</a:t>
                      </a:r>
                    </a:p>
                  </a:txBody>
                  <a:tcPr/>
                </a:tc>
                <a:tc>
                  <a:txBody>
                    <a:bodyPr/>
                    <a:lstStyle/>
                    <a:p>
                      <a:r>
                        <a:rPr lang="en-US" dirty="0"/>
                        <a:t>1.875</a:t>
                      </a:r>
                    </a:p>
                  </a:txBody>
                  <a:tcPr/>
                </a:tc>
                <a:tc>
                  <a:txBody>
                    <a:bodyPr/>
                    <a:lstStyle/>
                    <a:p>
                      <a:r>
                        <a:rPr lang="en-US" dirty="0"/>
                        <a:t>000 000 1</a:t>
                      </a:r>
                    </a:p>
                  </a:txBody>
                  <a:tcPr/>
                </a:tc>
                <a:tc>
                  <a:txBody>
                    <a:bodyPr/>
                    <a:lstStyle/>
                    <a:p>
                      <a:endParaRPr lang="en-US" dirty="0"/>
                    </a:p>
                  </a:txBody>
                  <a:tcPr/>
                </a:tc>
                <a:extLst>
                  <a:ext uri="{0D108BD9-81ED-4DB2-BD59-A6C34878D82A}">
                    <a16:rowId xmlns:a16="http://schemas.microsoft.com/office/drawing/2014/main" val="1020801613"/>
                  </a:ext>
                </a:extLst>
              </a:tr>
              <a:tr h="425474">
                <a:tc>
                  <a:txBody>
                    <a:bodyPr/>
                    <a:lstStyle/>
                    <a:p>
                      <a:r>
                        <a:rPr lang="en-US" dirty="0"/>
                        <a:t>2.5  - 3.75 </a:t>
                      </a:r>
                    </a:p>
                  </a:txBody>
                  <a:tcPr/>
                </a:tc>
                <a:tc>
                  <a:txBody>
                    <a:bodyPr/>
                    <a:lstStyle/>
                    <a:p>
                      <a:r>
                        <a:rPr lang="en-US" dirty="0"/>
                        <a:t>3.125</a:t>
                      </a:r>
                    </a:p>
                  </a:txBody>
                  <a:tcPr/>
                </a:tc>
                <a:tc>
                  <a:txBody>
                    <a:bodyPr/>
                    <a:lstStyle/>
                    <a:p>
                      <a:r>
                        <a:rPr lang="en-US" dirty="0"/>
                        <a:t>000 001 1</a:t>
                      </a:r>
                    </a:p>
                  </a:txBody>
                  <a:tcPr/>
                </a:tc>
                <a:tc>
                  <a:txBody>
                    <a:bodyPr/>
                    <a:lstStyle/>
                    <a:p>
                      <a:endParaRPr lang="en-US"/>
                    </a:p>
                  </a:txBody>
                  <a:tcPr/>
                </a:tc>
                <a:extLst>
                  <a:ext uri="{0D108BD9-81ED-4DB2-BD59-A6C34878D82A}">
                    <a16:rowId xmlns:a16="http://schemas.microsoft.com/office/drawing/2014/main" val="1106787647"/>
                  </a:ext>
                </a:extLst>
              </a:tr>
              <a:tr h="425474">
                <a:tc>
                  <a:txBody>
                    <a:bodyPr/>
                    <a:lstStyle/>
                    <a:p>
                      <a:r>
                        <a:rPr lang="en-US" dirty="0"/>
                        <a:t>3.75 – 5</a:t>
                      </a:r>
                    </a:p>
                  </a:txBody>
                  <a:tcPr/>
                </a:tc>
                <a:tc>
                  <a:txBody>
                    <a:bodyPr/>
                    <a:lstStyle/>
                    <a:p>
                      <a:r>
                        <a:rPr lang="en-US" dirty="0"/>
                        <a:t>4.375</a:t>
                      </a:r>
                    </a:p>
                  </a:txBody>
                  <a:tcPr/>
                </a:tc>
                <a:tc>
                  <a:txBody>
                    <a:bodyPr/>
                    <a:lstStyle/>
                    <a:p>
                      <a:r>
                        <a:rPr lang="en-US" dirty="0"/>
                        <a:t>000 011 1</a:t>
                      </a:r>
                    </a:p>
                  </a:txBody>
                  <a:tcPr/>
                </a:tc>
                <a:tc>
                  <a:txBody>
                    <a:bodyPr/>
                    <a:lstStyle/>
                    <a:p>
                      <a:endParaRPr lang="en-US"/>
                    </a:p>
                  </a:txBody>
                  <a:tcPr/>
                </a:tc>
                <a:extLst>
                  <a:ext uri="{0D108BD9-81ED-4DB2-BD59-A6C34878D82A}">
                    <a16:rowId xmlns:a16="http://schemas.microsoft.com/office/drawing/2014/main" val="236490638"/>
                  </a:ext>
                </a:extLst>
              </a:tr>
              <a:tr h="425474">
                <a:tc>
                  <a:txBody>
                    <a:bodyPr/>
                    <a:lstStyle/>
                    <a:p>
                      <a:r>
                        <a:rPr lang="en-US" dirty="0"/>
                        <a:t>5 – 6.25</a:t>
                      </a:r>
                    </a:p>
                  </a:txBody>
                  <a:tcPr/>
                </a:tc>
                <a:tc>
                  <a:txBody>
                    <a:bodyPr/>
                    <a:lstStyle/>
                    <a:p>
                      <a:r>
                        <a:rPr lang="en-US" dirty="0"/>
                        <a:t>5.625</a:t>
                      </a:r>
                    </a:p>
                  </a:txBody>
                  <a:tcPr/>
                </a:tc>
                <a:tc>
                  <a:txBody>
                    <a:bodyPr/>
                    <a:lstStyle/>
                    <a:p>
                      <a:r>
                        <a:rPr lang="en-US" dirty="0"/>
                        <a:t>000 111 1</a:t>
                      </a:r>
                    </a:p>
                  </a:txBody>
                  <a:tcPr/>
                </a:tc>
                <a:tc>
                  <a:txBody>
                    <a:bodyPr/>
                    <a:lstStyle/>
                    <a:p>
                      <a:endParaRPr lang="en-US"/>
                    </a:p>
                  </a:txBody>
                  <a:tcPr/>
                </a:tc>
                <a:extLst>
                  <a:ext uri="{0D108BD9-81ED-4DB2-BD59-A6C34878D82A}">
                    <a16:rowId xmlns:a16="http://schemas.microsoft.com/office/drawing/2014/main" val="1632823038"/>
                  </a:ext>
                </a:extLst>
              </a:tr>
              <a:tr h="425474">
                <a:tc>
                  <a:txBody>
                    <a:bodyPr/>
                    <a:lstStyle/>
                    <a:p>
                      <a:r>
                        <a:rPr lang="en-US" dirty="0"/>
                        <a:t>6.25 – 7.5</a:t>
                      </a:r>
                    </a:p>
                  </a:txBody>
                  <a:tcPr/>
                </a:tc>
                <a:tc>
                  <a:txBody>
                    <a:bodyPr/>
                    <a:lstStyle/>
                    <a:p>
                      <a:r>
                        <a:rPr lang="en-US" dirty="0"/>
                        <a:t>6.875</a:t>
                      </a:r>
                    </a:p>
                  </a:txBody>
                  <a:tcPr/>
                </a:tc>
                <a:tc>
                  <a:txBody>
                    <a:bodyPr/>
                    <a:lstStyle/>
                    <a:p>
                      <a:r>
                        <a:rPr lang="en-US" dirty="0"/>
                        <a:t>001 111 1</a:t>
                      </a:r>
                    </a:p>
                  </a:txBody>
                  <a:tcPr/>
                </a:tc>
                <a:tc>
                  <a:txBody>
                    <a:bodyPr/>
                    <a:lstStyle/>
                    <a:p>
                      <a:endParaRPr lang="en-US"/>
                    </a:p>
                  </a:txBody>
                  <a:tcPr/>
                </a:tc>
                <a:extLst>
                  <a:ext uri="{0D108BD9-81ED-4DB2-BD59-A6C34878D82A}">
                    <a16:rowId xmlns:a16="http://schemas.microsoft.com/office/drawing/2014/main" val="3316520161"/>
                  </a:ext>
                </a:extLst>
              </a:tr>
              <a:tr h="425474">
                <a:tc>
                  <a:txBody>
                    <a:bodyPr/>
                    <a:lstStyle/>
                    <a:p>
                      <a:r>
                        <a:rPr lang="en-US" dirty="0"/>
                        <a:t>7.5 – 8.75</a:t>
                      </a:r>
                    </a:p>
                  </a:txBody>
                  <a:tcPr/>
                </a:tc>
                <a:tc>
                  <a:txBody>
                    <a:bodyPr/>
                    <a:lstStyle/>
                    <a:p>
                      <a:r>
                        <a:rPr lang="en-US" dirty="0"/>
                        <a:t>8.125</a:t>
                      </a:r>
                    </a:p>
                  </a:txBody>
                  <a:tcPr/>
                </a:tc>
                <a:tc>
                  <a:txBody>
                    <a:bodyPr/>
                    <a:lstStyle/>
                    <a:p>
                      <a:r>
                        <a:rPr lang="en-US" dirty="0"/>
                        <a:t>011 111 1</a:t>
                      </a:r>
                    </a:p>
                  </a:txBody>
                  <a:tcPr/>
                </a:tc>
                <a:tc>
                  <a:txBody>
                    <a:bodyPr/>
                    <a:lstStyle/>
                    <a:p>
                      <a:endParaRPr lang="en-US"/>
                    </a:p>
                  </a:txBody>
                  <a:tcPr/>
                </a:tc>
                <a:extLst>
                  <a:ext uri="{0D108BD9-81ED-4DB2-BD59-A6C34878D82A}">
                    <a16:rowId xmlns:a16="http://schemas.microsoft.com/office/drawing/2014/main" val="3274378875"/>
                  </a:ext>
                </a:extLst>
              </a:tr>
              <a:tr h="425474">
                <a:tc>
                  <a:txBody>
                    <a:bodyPr/>
                    <a:lstStyle/>
                    <a:p>
                      <a:r>
                        <a:rPr lang="en-US" dirty="0"/>
                        <a:t>8.75 - 10</a:t>
                      </a:r>
                    </a:p>
                  </a:txBody>
                  <a:tcPr/>
                </a:tc>
                <a:tc>
                  <a:txBody>
                    <a:bodyPr/>
                    <a:lstStyle/>
                    <a:p>
                      <a:r>
                        <a:rPr lang="en-US" dirty="0"/>
                        <a:t>9.375</a:t>
                      </a:r>
                    </a:p>
                  </a:txBody>
                  <a:tcPr/>
                </a:tc>
                <a:tc>
                  <a:txBody>
                    <a:bodyPr/>
                    <a:lstStyle/>
                    <a:p>
                      <a:r>
                        <a:rPr lang="en-US" dirty="0"/>
                        <a:t>111 111 1</a:t>
                      </a:r>
                    </a:p>
                  </a:txBody>
                  <a:tcPr/>
                </a:tc>
                <a:tc>
                  <a:txBody>
                    <a:bodyPr/>
                    <a:lstStyle/>
                    <a:p>
                      <a:endParaRPr lang="en-US" dirty="0"/>
                    </a:p>
                  </a:txBody>
                  <a:tcPr/>
                </a:tc>
                <a:extLst>
                  <a:ext uri="{0D108BD9-81ED-4DB2-BD59-A6C34878D82A}">
                    <a16:rowId xmlns:a16="http://schemas.microsoft.com/office/drawing/2014/main" val="2589441327"/>
                  </a:ext>
                </a:extLst>
              </a:tr>
            </a:tbl>
          </a:graphicData>
        </a:graphic>
      </p:graphicFrame>
    </p:spTree>
    <p:extLst>
      <p:ext uri="{BB962C8B-B14F-4D97-AF65-F5344CB8AC3E}">
        <p14:creationId xmlns:p14="http://schemas.microsoft.com/office/powerpoint/2010/main" val="1205364682"/>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C25390DB-9807-7A75-49AA-B4B624057875}"/>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64EE0232-52FF-0E06-3480-AB517174CB7D}"/>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Circuit Analysis</a:t>
            </a:r>
          </a:p>
        </p:txBody>
      </p:sp>
      <p:sp>
        <p:nvSpPr>
          <p:cNvPr id="100" name="Google Shape;100;p2">
            <a:extLst>
              <a:ext uri="{FF2B5EF4-FFF2-40B4-BE49-F238E27FC236}">
                <a16:creationId xmlns:a16="http://schemas.microsoft.com/office/drawing/2014/main" id="{B04945E9-E274-4248-0B33-DF1416D9823A}"/>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F216B761-1FB1-C840-5040-E04E359E159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pic>
        <p:nvPicPr>
          <p:cNvPr id="102" name="Google Shape;102;p2">
            <a:extLst>
              <a:ext uri="{FF2B5EF4-FFF2-40B4-BE49-F238E27FC236}">
                <a16:creationId xmlns:a16="http://schemas.microsoft.com/office/drawing/2014/main" id="{B48D6E4C-EBA1-9D3A-9DF5-48FEDB12F236}"/>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C3F71E14-DC6A-58D9-A960-30896D79905B}"/>
              </a:ext>
            </a:extLst>
          </p:cNvPr>
          <p:cNvSpPr>
            <a:spLocks noGrp="1"/>
          </p:cNvSpPr>
          <p:nvPr>
            <p:ph type="body" idx="1"/>
          </p:nvPr>
        </p:nvSpPr>
        <p:spPr>
          <a:xfrm>
            <a:off x="400171" y="1042167"/>
            <a:ext cx="6462745" cy="5099591"/>
          </a:xfrm>
        </p:spPr>
        <p:txBody>
          <a:bodyPr>
            <a:normAutofit/>
          </a:bodyPr>
          <a:lstStyle/>
          <a:p>
            <a:pPr marL="114300" indent="0">
              <a:buNone/>
            </a:pPr>
            <a:r>
              <a:rPr lang="en-US" b="1" dirty="0"/>
              <a:t>Encoder Truth Table:</a:t>
            </a:r>
          </a:p>
          <a:p>
            <a:pPr marL="114300" indent="0">
              <a:buNone/>
            </a:pPr>
            <a:r>
              <a:rPr lang="en-US" b="1" dirty="0"/>
              <a:t>( </a:t>
            </a:r>
            <a:r>
              <a:rPr lang="en-US" b="1" dirty="0">
                <a:solidFill>
                  <a:srgbClr val="FF0000"/>
                </a:solidFill>
              </a:rPr>
              <a:t>V+ of the comparator is connected to the Input </a:t>
            </a:r>
            <a:r>
              <a:rPr lang="en-US" b="1" dirty="0"/>
              <a:t>)</a:t>
            </a:r>
          </a:p>
          <a:p>
            <a:pPr marL="114300" indent="0">
              <a:buNone/>
            </a:pPr>
            <a:r>
              <a:rPr lang="en-US" dirty="0"/>
              <a:t>Encoder can be implemented using</a:t>
            </a:r>
          </a:p>
          <a:p>
            <a:pPr marL="114300" indent="0">
              <a:buNone/>
            </a:pPr>
            <a:r>
              <a:rPr lang="en-US" dirty="0"/>
              <a:t>the combinational network.</a:t>
            </a:r>
          </a:p>
          <a:p>
            <a:pPr marL="114300" indent="0">
              <a:buNone/>
            </a:pPr>
            <a:endParaRPr lang="en-US" dirty="0"/>
          </a:p>
          <a:p>
            <a:pPr marL="114300" indent="0">
              <a:buNone/>
            </a:pPr>
            <a:endParaRPr lang="en-US" dirty="0"/>
          </a:p>
        </p:txBody>
      </p:sp>
      <p:graphicFrame>
        <p:nvGraphicFramePr>
          <p:cNvPr id="2" name="Table 1">
            <a:extLst>
              <a:ext uri="{FF2B5EF4-FFF2-40B4-BE49-F238E27FC236}">
                <a16:creationId xmlns:a16="http://schemas.microsoft.com/office/drawing/2014/main" id="{5ED430AD-513C-7B25-BB97-3CAB21B9AED4}"/>
              </a:ext>
            </a:extLst>
          </p:cNvPr>
          <p:cNvGraphicFramePr>
            <a:graphicFrameLocks noGrp="1"/>
          </p:cNvGraphicFramePr>
          <p:nvPr>
            <p:extLst>
              <p:ext uri="{D42A27DB-BD31-4B8C-83A1-F6EECF244321}">
                <p14:modId xmlns:p14="http://schemas.microsoft.com/office/powerpoint/2010/main" val="3863043002"/>
              </p:ext>
            </p:extLst>
          </p:nvPr>
        </p:nvGraphicFramePr>
        <p:xfrm>
          <a:off x="6676381" y="1587395"/>
          <a:ext cx="4222630" cy="3816227"/>
        </p:xfrm>
        <a:graphic>
          <a:graphicData uri="http://schemas.openxmlformats.org/drawingml/2006/table">
            <a:tbl>
              <a:tblPr firstRow="1" bandRow="1">
                <a:tableStyleId>{616DA210-FB5B-4158-B5E0-FEB733F419BA}</a:tableStyleId>
              </a:tblPr>
              <a:tblGrid>
                <a:gridCol w="2111315">
                  <a:extLst>
                    <a:ext uri="{9D8B030D-6E8A-4147-A177-3AD203B41FA5}">
                      <a16:colId xmlns:a16="http://schemas.microsoft.com/office/drawing/2014/main" val="3761038584"/>
                    </a:ext>
                  </a:extLst>
                </a:gridCol>
                <a:gridCol w="2111315">
                  <a:extLst>
                    <a:ext uri="{9D8B030D-6E8A-4147-A177-3AD203B41FA5}">
                      <a16:colId xmlns:a16="http://schemas.microsoft.com/office/drawing/2014/main" val="2418979318"/>
                    </a:ext>
                  </a:extLst>
                </a:gridCol>
              </a:tblGrid>
              <a:tr h="501955">
                <a:tc>
                  <a:txBody>
                    <a:bodyPr/>
                    <a:lstStyle/>
                    <a:p>
                      <a:pPr algn="ctr"/>
                      <a:r>
                        <a:rPr lang="en-US" dirty="0"/>
                        <a:t>I7I6I5I4I3I2I1</a:t>
                      </a:r>
                    </a:p>
                  </a:txBody>
                  <a:tcPr/>
                </a:tc>
                <a:tc>
                  <a:txBody>
                    <a:bodyPr/>
                    <a:lstStyle/>
                    <a:p>
                      <a:pPr algn="ctr"/>
                      <a:r>
                        <a:rPr lang="en-US" dirty="0"/>
                        <a:t>Binary (B2B1B0)</a:t>
                      </a:r>
                    </a:p>
                  </a:txBody>
                  <a:tcPr/>
                </a:tc>
                <a:extLst>
                  <a:ext uri="{0D108BD9-81ED-4DB2-BD59-A6C34878D82A}">
                    <a16:rowId xmlns:a16="http://schemas.microsoft.com/office/drawing/2014/main" val="174331173"/>
                  </a:ext>
                </a:extLst>
              </a:tr>
              <a:tr h="414284">
                <a:tc>
                  <a:txBody>
                    <a:bodyPr/>
                    <a:lstStyle/>
                    <a:p>
                      <a:pPr algn="ctr"/>
                      <a:r>
                        <a:rPr lang="en-US" dirty="0"/>
                        <a:t>000 000 0</a:t>
                      </a:r>
                    </a:p>
                  </a:txBody>
                  <a:tcPr/>
                </a:tc>
                <a:tc>
                  <a:txBody>
                    <a:bodyPr/>
                    <a:lstStyle/>
                    <a:p>
                      <a:pPr algn="ctr"/>
                      <a:r>
                        <a:rPr lang="en-US" dirty="0"/>
                        <a:t>000</a:t>
                      </a:r>
                    </a:p>
                  </a:txBody>
                  <a:tcPr/>
                </a:tc>
                <a:extLst>
                  <a:ext uri="{0D108BD9-81ED-4DB2-BD59-A6C34878D82A}">
                    <a16:rowId xmlns:a16="http://schemas.microsoft.com/office/drawing/2014/main" val="2540230428"/>
                  </a:ext>
                </a:extLst>
              </a:tr>
              <a:tr h="414284">
                <a:tc>
                  <a:txBody>
                    <a:bodyPr/>
                    <a:lstStyle/>
                    <a:p>
                      <a:pPr algn="ctr"/>
                      <a:r>
                        <a:rPr lang="en-US" dirty="0"/>
                        <a:t>000 000 1</a:t>
                      </a:r>
                    </a:p>
                  </a:txBody>
                  <a:tcPr/>
                </a:tc>
                <a:tc>
                  <a:txBody>
                    <a:bodyPr/>
                    <a:lstStyle/>
                    <a:p>
                      <a:pPr algn="ctr"/>
                      <a:r>
                        <a:rPr lang="en-US" dirty="0"/>
                        <a:t>001</a:t>
                      </a:r>
                    </a:p>
                  </a:txBody>
                  <a:tcPr/>
                </a:tc>
                <a:extLst>
                  <a:ext uri="{0D108BD9-81ED-4DB2-BD59-A6C34878D82A}">
                    <a16:rowId xmlns:a16="http://schemas.microsoft.com/office/drawing/2014/main" val="1020801613"/>
                  </a:ext>
                </a:extLst>
              </a:tr>
              <a:tr h="414284">
                <a:tc>
                  <a:txBody>
                    <a:bodyPr/>
                    <a:lstStyle/>
                    <a:p>
                      <a:pPr algn="ctr"/>
                      <a:r>
                        <a:rPr lang="en-US" dirty="0"/>
                        <a:t>000 001 1</a:t>
                      </a:r>
                    </a:p>
                  </a:txBody>
                  <a:tcPr/>
                </a:tc>
                <a:tc>
                  <a:txBody>
                    <a:bodyPr/>
                    <a:lstStyle/>
                    <a:p>
                      <a:pPr algn="ctr"/>
                      <a:r>
                        <a:rPr lang="en-US" dirty="0"/>
                        <a:t>010</a:t>
                      </a:r>
                    </a:p>
                  </a:txBody>
                  <a:tcPr/>
                </a:tc>
                <a:extLst>
                  <a:ext uri="{0D108BD9-81ED-4DB2-BD59-A6C34878D82A}">
                    <a16:rowId xmlns:a16="http://schemas.microsoft.com/office/drawing/2014/main" val="1106787647"/>
                  </a:ext>
                </a:extLst>
              </a:tr>
              <a:tr h="414284">
                <a:tc>
                  <a:txBody>
                    <a:bodyPr/>
                    <a:lstStyle/>
                    <a:p>
                      <a:pPr algn="ctr"/>
                      <a:r>
                        <a:rPr lang="en-US" dirty="0"/>
                        <a:t>000 011 1</a:t>
                      </a:r>
                    </a:p>
                  </a:txBody>
                  <a:tcPr/>
                </a:tc>
                <a:tc>
                  <a:txBody>
                    <a:bodyPr/>
                    <a:lstStyle/>
                    <a:p>
                      <a:pPr algn="ctr"/>
                      <a:r>
                        <a:rPr lang="en-US" dirty="0"/>
                        <a:t>011</a:t>
                      </a:r>
                    </a:p>
                  </a:txBody>
                  <a:tcPr/>
                </a:tc>
                <a:extLst>
                  <a:ext uri="{0D108BD9-81ED-4DB2-BD59-A6C34878D82A}">
                    <a16:rowId xmlns:a16="http://schemas.microsoft.com/office/drawing/2014/main" val="236490638"/>
                  </a:ext>
                </a:extLst>
              </a:tr>
              <a:tr h="414284">
                <a:tc>
                  <a:txBody>
                    <a:bodyPr/>
                    <a:lstStyle/>
                    <a:p>
                      <a:pPr algn="ctr"/>
                      <a:r>
                        <a:rPr lang="en-US" dirty="0"/>
                        <a:t>000 111 1</a:t>
                      </a:r>
                    </a:p>
                  </a:txBody>
                  <a:tcPr/>
                </a:tc>
                <a:tc>
                  <a:txBody>
                    <a:bodyPr/>
                    <a:lstStyle/>
                    <a:p>
                      <a:pPr algn="ctr"/>
                      <a:r>
                        <a:rPr lang="en-US" dirty="0"/>
                        <a:t>100</a:t>
                      </a:r>
                    </a:p>
                  </a:txBody>
                  <a:tcPr/>
                </a:tc>
                <a:extLst>
                  <a:ext uri="{0D108BD9-81ED-4DB2-BD59-A6C34878D82A}">
                    <a16:rowId xmlns:a16="http://schemas.microsoft.com/office/drawing/2014/main" val="1632823038"/>
                  </a:ext>
                </a:extLst>
              </a:tr>
              <a:tr h="414284">
                <a:tc>
                  <a:txBody>
                    <a:bodyPr/>
                    <a:lstStyle/>
                    <a:p>
                      <a:pPr algn="ctr"/>
                      <a:r>
                        <a:rPr lang="en-US" dirty="0"/>
                        <a:t>001 111 1</a:t>
                      </a:r>
                    </a:p>
                  </a:txBody>
                  <a:tcPr/>
                </a:tc>
                <a:tc>
                  <a:txBody>
                    <a:bodyPr/>
                    <a:lstStyle/>
                    <a:p>
                      <a:pPr algn="ctr"/>
                      <a:r>
                        <a:rPr lang="en-US" dirty="0"/>
                        <a:t>101</a:t>
                      </a:r>
                    </a:p>
                  </a:txBody>
                  <a:tcPr/>
                </a:tc>
                <a:extLst>
                  <a:ext uri="{0D108BD9-81ED-4DB2-BD59-A6C34878D82A}">
                    <a16:rowId xmlns:a16="http://schemas.microsoft.com/office/drawing/2014/main" val="3316520161"/>
                  </a:ext>
                </a:extLst>
              </a:tr>
              <a:tr h="414284">
                <a:tc>
                  <a:txBody>
                    <a:bodyPr/>
                    <a:lstStyle/>
                    <a:p>
                      <a:pPr algn="ctr"/>
                      <a:r>
                        <a:rPr lang="en-US" dirty="0"/>
                        <a:t>011 111 1</a:t>
                      </a:r>
                    </a:p>
                  </a:txBody>
                  <a:tcPr/>
                </a:tc>
                <a:tc>
                  <a:txBody>
                    <a:bodyPr/>
                    <a:lstStyle/>
                    <a:p>
                      <a:pPr algn="ctr"/>
                      <a:r>
                        <a:rPr lang="en-US" dirty="0"/>
                        <a:t>110</a:t>
                      </a:r>
                    </a:p>
                  </a:txBody>
                  <a:tcPr/>
                </a:tc>
                <a:extLst>
                  <a:ext uri="{0D108BD9-81ED-4DB2-BD59-A6C34878D82A}">
                    <a16:rowId xmlns:a16="http://schemas.microsoft.com/office/drawing/2014/main" val="3274378875"/>
                  </a:ext>
                </a:extLst>
              </a:tr>
              <a:tr h="414284">
                <a:tc>
                  <a:txBody>
                    <a:bodyPr/>
                    <a:lstStyle/>
                    <a:p>
                      <a:pPr algn="ctr"/>
                      <a:r>
                        <a:rPr lang="en-US" dirty="0"/>
                        <a:t>111 111 1</a:t>
                      </a:r>
                    </a:p>
                  </a:txBody>
                  <a:tcPr/>
                </a:tc>
                <a:tc>
                  <a:txBody>
                    <a:bodyPr/>
                    <a:lstStyle/>
                    <a:p>
                      <a:pPr algn="ctr"/>
                      <a:r>
                        <a:rPr lang="en-US" dirty="0"/>
                        <a:t>111</a:t>
                      </a:r>
                    </a:p>
                  </a:txBody>
                  <a:tcPr/>
                </a:tc>
                <a:extLst>
                  <a:ext uri="{0D108BD9-81ED-4DB2-BD59-A6C34878D82A}">
                    <a16:rowId xmlns:a16="http://schemas.microsoft.com/office/drawing/2014/main" val="2589441327"/>
                  </a:ext>
                </a:extLst>
              </a:tr>
            </a:tbl>
          </a:graphicData>
        </a:graphic>
      </p:graphicFrame>
    </p:spTree>
    <p:extLst>
      <p:ext uri="{BB962C8B-B14F-4D97-AF65-F5344CB8AC3E}">
        <p14:creationId xmlns:p14="http://schemas.microsoft.com/office/powerpoint/2010/main" val="3560526714"/>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C25390DB-9807-7A75-49AA-B4B624057875}"/>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64EE0232-52FF-0E06-3480-AB517174CB7D}"/>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Circuit Analysis</a:t>
            </a:r>
          </a:p>
        </p:txBody>
      </p:sp>
      <p:sp>
        <p:nvSpPr>
          <p:cNvPr id="100" name="Google Shape;100;p2">
            <a:extLst>
              <a:ext uri="{FF2B5EF4-FFF2-40B4-BE49-F238E27FC236}">
                <a16:creationId xmlns:a16="http://schemas.microsoft.com/office/drawing/2014/main" id="{B04945E9-E274-4248-0B33-DF1416D9823A}"/>
              </a:ext>
            </a:extLst>
          </p:cNvPr>
          <p:cNvSpPr txBox="1">
            <a:spLocks noGrp="1"/>
          </p:cNvSpPr>
          <p:nvPr>
            <p:ph type="ftr" idx="11"/>
          </p:nvPr>
        </p:nvSpPr>
        <p:spPr>
          <a:xfrm>
            <a:off x="4023236"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F216B761-1FB1-C840-5040-E04E359E159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pic>
        <p:nvPicPr>
          <p:cNvPr id="102" name="Google Shape;102;p2">
            <a:extLst>
              <a:ext uri="{FF2B5EF4-FFF2-40B4-BE49-F238E27FC236}">
                <a16:creationId xmlns:a16="http://schemas.microsoft.com/office/drawing/2014/main" id="{B48D6E4C-EBA1-9D3A-9DF5-48FEDB12F236}"/>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C3F71E14-DC6A-58D9-A960-30896D79905B}"/>
              </a:ext>
            </a:extLst>
          </p:cNvPr>
          <p:cNvSpPr>
            <a:spLocks noGrp="1"/>
          </p:cNvSpPr>
          <p:nvPr>
            <p:ph type="body" idx="1"/>
          </p:nvPr>
        </p:nvSpPr>
        <p:spPr>
          <a:xfrm>
            <a:off x="400171" y="1042167"/>
            <a:ext cx="5479929" cy="5003033"/>
          </a:xfrm>
        </p:spPr>
        <p:txBody>
          <a:bodyPr>
            <a:normAutofit/>
          </a:bodyPr>
          <a:lstStyle/>
          <a:p>
            <a:pPr marL="114300" indent="0">
              <a:buNone/>
            </a:pPr>
            <a:r>
              <a:rPr lang="en-US" b="1" dirty="0"/>
              <a:t>Encoder Truth Table:</a:t>
            </a:r>
          </a:p>
          <a:p>
            <a:pPr marL="114300" indent="0">
              <a:buNone/>
            </a:pPr>
            <a:r>
              <a:rPr lang="en-US" b="1" dirty="0"/>
              <a:t>( </a:t>
            </a:r>
            <a:r>
              <a:rPr lang="en-US" b="1" dirty="0">
                <a:solidFill>
                  <a:srgbClr val="FF0000"/>
                </a:solidFill>
              </a:rPr>
              <a:t>For active low priority encoder V- of the comparator is connected to the Input </a:t>
            </a:r>
            <a:r>
              <a:rPr lang="en-US" b="1" dirty="0"/>
              <a:t>)</a:t>
            </a:r>
          </a:p>
          <a:p>
            <a:pPr marL="114300" indent="0">
              <a:buNone/>
            </a:pPr>
            <a:r>
              <a:rPr lang="en-US" dirty="0"/>
              <a:t>Encoder can be implemented using</a:t>
            </a:r>
          </a:p>
          <a:p>
            <a:pPr marL="114300" indent="0">
              <a:buNone/>
            </a:pPr>
            <a:r>
              <a:rPr lang="en-US" dirty="0"/>
              <a:t>the combinational network.</a:t>
            </a:r>
          </a:p>
          <a:p>
            <a:pPr marL="114300" indent="0">
              <a:buNone/>
            </a:pPr>
            <a:endParaRPr lang="en-US" dirty="0"/>
          </a:p>
          <a:p>
            <a:pPr marL="114300" indent="0">
              <a:buNone/>
            </a:pPr>
            <a:endParaRPr lang="en-US" dirty="0"/>
          </a:p>
        </p:txBody>
      </p:sp>
      <p:graphicFrame>
        <p:nvGraphicFramePr>
          <p:cNvPr id="2" name="Table 1">
            <a:extLst>
              <a:ext uri="{FF2B5EF4-FFF2-40B4-BE49-F238E27FC236}">
                <a16:creationId xmlns:a16="http://schemas.microsoft.com/office/drawing/2014/main" id="{5ED430AD-513C-7B25-BB97-3CAB21B9AED4}"/>
              </a:ext>
            </a:extLst>
          </p:cNvPr>
          <p:cNvGraphicFramePr>
            <a:graphicFrameLocks noGrp="1"/>
          </p:cNvGraphicFramePr>
          <p:nvPr>
            <p:extLst>
              <p:ext uri="{D42A27DB-BD31-4B8C-83A1-F6EECF244321}">
                <p14:modId xmlns:p14="http://schemas.microsoft.com/office/powerpoint/2010/main" val="297491423"/>
              </p:ext>
            </p:extLst>
          </p:nvPr>
        </p:nvGraphicFramePr>
        <p:xfrm>
          <a:off x="6080636" y="1607398"/>
          <a:ext cx="4222630" cy="3816227"/>
        </p:xfrm>
        <a:graphic>
          <a:graphicData uri="http://schemas.openxmlformats.org/drawingml/2006/table">
            <a:tbl>
              <a:tblPr firstRow="1" bandRow="1">
                <a:tableStyleId>{616DA210-FB5B-4158-B5E0-FEB733F419BA}</a:tableStyleId>
              </a:tblPr>
              <a:tblGrid>
                <a:gridCol w="2111315">
                  <a:extLst>
                    <a:ext uri="{9D8B030D-6E8A-4147-A177-3AD203B41FA5}">
                      <a16:colId xmlns:a16="http://schemas.microsoft.com/office/drawing/2014/main" val="3761038584"/>
                    </a:ext>
                  </a:extLst>
                </a:gridCol>
                <a:gridCol w="2111315">
                  <a:extLst>
                    <a:ext uri="{9D8B030D-6E8A-4147-A177-3AD203B41FA5}">
                      <a16:colId xmlns:a16="http://schemas.microsoft.com/office/drawing/2014/main" val="2418979318"/>
                    </a:ext>
                  </a:extLst>
                </a:gridCol>
              </a:tblGrid>
              <a:tr h="501955">
                <a:tc>
                  <a:txBody>
                    <a:bodyPr/>
                    <a:lstStyle/>
                    <a:p>
                      <a:pPr algn="ctr"/>
                      <a:r>
                        <a:rPr lang="en-US" dirty="0"/>
                        <a:t>I7I6I5I4I3I2I1</a:t>
                      </a:r>
                    </a:p>
                  </a:txBody>
                  <a:tcPr/>
                </a:tc>
                <a:tc>
                  <a:txBody>
                    <a:bodyPr/>
                    <a:lstStyle/>
                    <a:p>
                      <a:pPr algn="ctr"/>
                      <a:r>
                        <a:rPr lang="en-US" dirty="0"/>
                        <a:t>Binary (B2B1B0)</a:t>
                      </a:r>
                    </a:p>
                  </a:txBody>
                  <a:tcPr/>
                </a:tc>
                <a:extLst>
                  <a:ext uri="{0D108BD9-81ED-4DB2-BD59-A6C34878D82A}">
                    <a16:rowId xmlns:a16="http://schemas.microsoft.com/office/drawing/2014/main" val="174331173"/>
                  </a:ext>
                </a:extLst>
              </a:tr>
              <a:tr h="414284">
                <a:tc>
                  <a:txBody>
                    <a:bodyPr/>
                    <a:lstStyle/>
                    <a:p>
                      <a:pPr algn="ctr"/>
                      <a:r>
                        <a:rPr lang="en-US" dirty="0"/>
                        <a:t>111</a:t>
                      </a:r>
                      <a:r>
                        <a:rPr lang="en-US" baseline="0" dirty="0"/>
                        <a:t> 111 1</a:t>
                      </a:r>
                      <a:endParaRPr lang="en-US" dirty="0"/>
                    </a:p>
                  </a:txBody>
                  <a:tcPr/>
                </a:tc>
                <a:tc>
                  <a:txBody>
                    <a:bodyPr/>
                    <a:lstStyle/>
                    <a:p>
                      <a:pPr algn="ctr"/>
                      <a:r>
                        <a:rPr lang="en-US" dirty="0"/>
                        <a:t>000</a:t>
                      </a:r>
                    </a:p>
                  </a:txBody>
                  <a:tcPr/>
                </a:tc>
                <a:extLst>
                  <a:ext uri="{0D108BD9-81ED-4DB2-BD59-A6C34878D82A}">
                    <a16:rowId xmlns:a16="http://schemas.microsoft.com/office/drawing/2014/main" val="2540230428"/>
                  </a:ext>
                </a:extLst>
              </a:tr>
              <a:tr h="414284">
                <a:tc>
                  <a:txBody>
                    <a:bodyPr/>
                    <a:lstStyle/>
                    <a:p>
                      <a:pPr algn="ctr"/>
                      <a:r>
                        <a:rPr lang="en-US" dirty="0"/>
                        <a:t>111</a:t>
                      </a:r>
                      <a:r>
                        <a:rPr lang="en-US" baseline="0" dirty="0"/>
                        <a:t> 111 0</a:t>
                      </a:r>
                      <a:endParaRPr lang="en-US" dirty="0"/>
                    </a:p>
                  </a:txBody>
                  <a:tcPr/>
                </a:tc>
                <a:tc>
                  <a:txBody>
                    <a:bodyPr/>
                    <a:lstStyle/>
                    <a:p>
                      <a:pPr algn="ctr"/>
                      <a:r>
                        <a:rPr lang="en-US" dirty="0"/>
                        <a:t>001</a:t>
                      </a:r>
                    </a:p>
                  </a:txBody>
                  <a:tcPr/>
                </a:tc>
                <a:extLst>
                  <a:ext uri="{0D108BD9-81ED-4DB2-BD59-A6C34878D82A}">
                    <a16:rowId xmlns:a16="http://schemas.microsoft.com/office/drawing/2014/main" val="1020801613"/>
                  </a:ext>
                </a:extLst>
              </a:tr>
              <a:tr h="41428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111 110 0</a:t>
                      </a:r>
                    </a:p>
                  </a:txBody>
                  <a:tcPr/>
                </a:tc>
                <a:tc>
                  <a:txBody>
                    <a:bodyPr/>
                    <a:lstStyle/>
                    <a:p>
                      <a:pPr algn="ctr"/>
                      <a:r>
                        <a:rPr lang="en-US" dirty="0"/>
                        <a:t>010</a:t>
                      </a:r>
                    </a:p>
                  </a:txBody>
                  <a:tcPr/>
                </a:tc>
                <a:extLst>
                  <a:ext uri="{0D108BD9-81ED-4DB2-BD59-A6C34878D82A}">
                    <a16:rowId xmlns:a16="http://schemas.microsoft.com/office/drawing/2014/main" val="1106787647"/>
                  </a:ext>
                </a:extLst>
              </a:tr>
              <a:tr h="41428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111 100 0</a:t>
                      </a:r>
                    </a:p>
                  </a:txBody>
                  <a:tcPr/>
                </a:tc>
                <a:tc>
                  <a:txBody>
                    <a:bodyPr/>
                    <a:lstStyle/>
                    <a:p>
                      <a:pPr algn="ctr"/>
                      <a:r>
                        <a:rPr lang="en-US" dirty="0"/>
                        <a:t>011</a:t>
                      </a:r>
                    </a:p>
                  </a:txBody>
                  <a:tcPr/>
                </a:tc>
                <a:extLst>
                  <a:ext uri="{0D108BD9-81ED-4DB2-BD59-A6C34878D82A}">
                    <a16:rowId xmlns:a16="http://schemas.microsoft.com/office/drawing/2014/main" val="236490638"/>
                  </a:ext>
                </a:extLst>
              </a:tr>
              <a:tr h="41428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111 000 0</a:t>
                      </a:r>
                    </a:p>
                  </a:txBody>
                  <a:tcPr/>
                </a:tc>
                <a:tc>
                  <a:txBody>
                    <a:bodyPr/>
                    <a:lstStyle/>
                    <a:p>
                      <a:pPr algn="ctr"/>
                      <a:r>
                        <a:rPr lang="en-US" dirty="0"/>
                        <a:t>100</a:t>
                      </a:r>
                    </a:p>
                  </a:txBody>
                  <a:tcPr/>
                </a:tc>
                <a:extLst>
                  <a:ext uri="{0D108BD9-81ED-4DB2-BD59-A6C34878D82A}">
                    <a16:rowId xmlns:a16="http://schemas.microsoft.com/office/drawing/2014/main" val="1632823038"/>
                  </a:ext>
                </a:extLst>
              </a:tr>
              <a:tr h="41428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110 000 0 </a:t>
                      </a:r>
                    </a:p>
                  </a:txBody>
                  <a:tcPr/>
                </a:tc>
                <a:tc>
                  <a:txBody>
                    <a:bodyPr/>
                    <a:lstStyle/>
                    <a:p>
                      <a:pPr algn="ctr"/>
                      <a:r>
                        <a:rPr lang="en-US" dirty="0"/>
                        <a:t>101</a:t>
                      </a:r>
                    </a:p>
                  </a:txBody>
                  <a:tcPr/>
                </a:tc>
                <a:extLst>
                  <a:ext uri="{0D108BD9-81ED-4DB2-BD59-A6C34878D82A}">
                    <a16:rowId xmlns:a16="http://schemas.microsoft.com/office/drawing/2014/main" val="3316520161"/>
                  </a:ext>
                </a:extLst>
              </a:tr>
              <a:tr h="41428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1 000 000 </a:t>
                      </a:r>
                    </a:p>
                  </a:txBody>
                  <a:tcPr/>
                </a:tc>
                <a:tc>
                  <a:txBody>
                    <a:bodyPr/>
                    <a:lstStyle/>
                    <a:p>
                      <a:pPr algn="ctr"/>
                      <a:r>
                        <a:rPr lang="en-US" dirty="0"/>
                        <a:t>110</a:t>
                      </a:r>
                    </a:p>
                  </a:txBody>
                  <a:tcPr/>
                </a:tc>
                <a:extLst>
                  <a:ext uri="{0D108BD9-81ED-4DB2-BD59-A6C34878D82A}">
                    <a16:rowId xmlns:a16="http://schemas.microsoft.com/office/drawing/2014/main" val="3274378875"/>
                  </a:ext>
                </a:extLst>
              </a:tr>
              <a:tr h="41428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000 000 0</a:t>
                      </a:r>
                    </a:p>
                  </a:txBody>
                  <a:tcPr/>
                </a:tc>
                <a:tc>
                  <a:txBody>
                    <a:bodyPr/>
                    <a:lstStyle/>
                    <a:p>
                      <a:pPr algn="ctr"/>
                      <a:r>
                        <a:rPr lang="en-US" dirty="0"/>
                        <a:t>111</a:t>
                      </a:r>
                    </a:p>
                  </a:txBody>
                  <a:tcPr/>
                </a:tc>
                <a:extLst>
                  <a:ext uri="{0D108BD9-81ED-4DB2-BD59-A6C34878D82A}">
                    <a16:rowId xmlns:a16="http://schemas.microsoft.com/office/drawing/2014/main" val="2589441327"/>
                  </a:ext>
                </a:extLst>
              </a:tr>
            </a:tbl>
          </a:graphicData>
        </a:graphic>
      </p:graphicFrame>
    </p:spTree>
    <p:extLst>
      <p:ext uri="{BB962C8B-B14F-4D97-AF65-F5344CB8AC3E}">
        <p14:creationId xmlns:p14="http://schemas.microsoft.com/office/powerpoint/2010/main" val="201813371"/>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C25390DB-9807-7A75-49AA-B4B624057875}"/>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64EE0232-52FF-0E06-3480-AB517174CB7D}"/>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b="1" dirty="0">
                <a:solidFill>
                  <a:schemeClr val="accent1"/>
                </a:solidFill>
              </a:rPr>
              <a:t>Quantization Error</a:t>
            </a:r>
          </a:p>
        </p:txBody>
      </p:sp>
      <p:sp>
        <p:nvSpPr>
          <p:cNvPr id="100" name="Google Shape;100;p2">
            <a:extLst>
              <a:ext uri="{FF2B5EF4-FFF2-40B4-BE49-F238E27FC236}">
                <a16:creationId xmlns:a16="http://schemas.microsoft.com/office/drawing/2014/main" id="{B04945E9-E274-4248-0B33-DF1416D9823A}"/>
              </a:ext>
            </a:extLst>
          </p:cNvPr>
          <p:cNvSpPr txBox="1">
            <a:spLocks noGrp="1"/>
          </p:cNvSpPr>
          <p:nvPr>
            <p:ph type="ftr" idx="11"/>
          </p:nvPr>
        </p:nvSpPr>
        <p:spPr>
          <a:xfrm>
            <a:off x="4023236"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F216B761-1FB1-C840-5040-E04E359E159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pic>
        <p:nvPicPr>
          <p:cNvPr id="102" name="Google Shape;102;p2">
            <a:extLst>
              <a:ext uri="{FF2B5EF4-FFF2-40B4-BE49-F238E27FC236}">
                <a16:creationId xmlns:a16="http://schemas.microsoft.com/office/drawing/2014/main" id="{B48D6E4C-EBA1-9D3A-9DF5-48FEDB12F236}"/>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3F71E14-DC6A-58D9-A960-30896D79905B}"/>
                  </a:ext>
                </a:extLst>
              </p:cNvPr>
              <p:cNvSpPr>
                <a:spLocks noGrp="1"/>
              </p:cNvSpPr>
              <p:nvPr>
                <p:ph type="body" idx="1"/>
              </p:nvPr>
            </p:nvSpPr>
            <p:spPr>
              <a:xfrm>
                <a:off x="400171" y="1042167"/>
                <a:ext cx="7150556" cy="5003033"/>
              </a:xfrm>
            </p:spPr>
            <p:txBody>
              <a:bodyPr>
                <a:normAutofit/>
              </a:bodyPr>
              <a:lstStyle/>
              <a:p>
                <a:pPr marL="114300" indent="0">
                  <a:buNone/>
                </a:pPr>
                <a:r>
                  <a:rPr lang="en-US" sz="2400" dirty="0">
                    <a:solidFill>
                      <a:schemeClr val="tx1"/>
                    </a:solidFill>
                  </a:rPr>
                  <a:t>Quantization Error = |Signal value – Quantized vale|</a:t>
                </a:r>
              </a:p>
              <a:p>
                <a:pPr marL="114300" indent="0">
                  <a:buNone/>
                </a:pPr>
                <a:r>
                  <a:rPr lang="en-US" sz="2400" dirty="0">
                    <a:solidFill>
                      <a:schemeClr val="tx1"/>
                    </a:solidFill>
                  </a:rPr>
                  <a:t>Max Quantization Error = </a:t>
                </a:r>
                <a14:m>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∆/2</m:t>
                    </m:r>
                  </m:oMath>
                </a14:m>
                <a:r>
                  <a:rPr lang="en-US" sz="2400" dirty="0">
                    <a:solidFill>
                      <a:schemeClr val="tx1"/>
                    </a:solidFill>
                  </a:rPr>
                  <a:t> ( </a:t>
                </a:r>
                <a14:m>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m:t>
                    </m:r>
                  </m:oMath>
                </a14:m>
                <a:r>
                  <a:rPr lang="en-US" sz="2400" dirty="0">
                    <a:solidFill>
                      <a:schemeClr val="tx1"/>
                    </a:solidFill>
                  </a:rPr>
                  <a:t> = resolution )</a:t>
                </a:r>
              </a:p>
              <a:p>
                <a:pPr marL="114300" indent="0">
                  <a:buNone/>
                </a:pPr>
                <a:endParaRPr lang="en-US" sz="2400" dirty="0">
                  <a:solidFill>
                    <a:schemeClr val="tx1"/>
                  </a:solidFill>
                </a:endParaRPr>
              </a:p>
            </p:txBody>
          </p:sp>
        </mc:Choice>
        <mc:Fallback xmlns="">
          <p:sp>
            <p:nvSpPr>
              <p:cNvPr id="3" name="Text Placeholder 2">
                <a:extLst>
                  <a:ext uri="{FF2B5EF4-FFF2-40B4-BE49-F238E27FC236}">
                    <a16:creationId xmlns:a16="http://schemas.microsoft.com/office/drawing/2014/main" id="{C3F71E14-DC6A-58D9-A960-30896D79905B}"/>
                  </a:ext>
                </a:extLst>
              </p:cNvPr>
              <p:cNvSpPr>
                <a:spLocks noGrp="1" noRot="1" noChangeAspect="1" noMove="1" noResize="1" noEditPoints="1" noAdjustHandles="1" noChangeArrowheads="1" noChangeShapeType="1" noTextEdit="1"/>
              </p:cNvSpPr>
              <p:nvPr>
                <p:ph type="body" idx="1"/>
              </p:nvPr>
            </p:nvSpPr>
            <p:spPr>
              <a:xfrm>
                <a:off x="400171" y="1042167"/>
                <a:ext cx="7150556" cy="5003033"/>
              </a:xfr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34448625"/>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C25390DB-9807-7A75-49AA-B4B624057875}"/>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64EE0232-52FF-0E06-3480-AB517174CB7D}"/>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Problem:</a:t>
            </a:r>
          </a:p>
        </p:txBody>
      </p:sp>
      <p:sp>
        <p:nvSpPr>
          <p:cNvPr id="100" name="Google Shape;100;p2">
            <a:extLst>
              <a:ext uri="{FF2B5EF4-FFF2-40B4-BE49-F238E27FC236}">
                <a16:creationId xmlns:a16="http://schemas.microsoft.com/office/drawing/2014/main" id="{B04945E9-E274-4248-0B33-DF1416D9823A}"/>
              </a:ext>
            </a:extLst>
          </p:cNvPr>
          <p:cNvSpPr txBox="1">
            <a:spLocks noGrp="1"/>
          </p:cNvSpPr>
          <p:nvPr>
            <p:ph type="ftr" idx="11"/>
          </p:nvPr>
        </p:nvSpPr>
        <p:spPr>
          <a:xfrm>
            <a:off x="4023236"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F216B761-1FB1-C840-5040-E04E359E159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24</a:t>
            </a:fld>
            <a:endParaRPr/>
          </a:p>
        </p:txBody>
      </p:sp>
      <p:pic>
        <p:nvPicPr>
          <p:cNvPr id="102" name="Google Shape;102;p2">
            <a:extLst>
              <a:ext uri="{FF2B5EF4-FFF2-40B4-BE49-F238E27FC236}">
                <a16:creationId xmlns:a16="http://schemas.microsoft.com/office/drawing/2014/main" id="{B48D6E4C-EBA1-9D3A-9DF5-48FEDB12F236}"/>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3F71E14-DC6A-58D9-A960-30896D79905B}"/>
                  </a:ext>
                </a:extLst>
              </p:cNvPr>
              <p:cNvSpPr>
                <a:spLocks noGrp="1"/>
              </p:cNvSpPr>
              <p:nvPr>
                <p:ph type="body" idx="1"/>
              </p:nvPr>
            </p:nvSpPr>
            <p:spPr>
              <a:xfrm>
                <a:off x="907370" y="990191"/>
                <a:ext cx="5479929" cy="5003033"/>
              </a:xfrm>
            </p:spPr>
            <p:txBody>
              <a:bodyPr>
                <a:normAutofit/>
              </a:bodyPr>
              <a:lstStyle/>
              <a:p>
                <a:pPr marL="114300" indent="0">
                  <a:buNone/>
                </a:pPr>
                <a:r>
                  <a:rPr lang="en-US" dirty="0"/>
                  <a:t>Make a table with Quantization Range, Quantization Level and Binary values for the given ADC circuit. </a:t>
                </a:r>
              </a:p>
              <a:p>
                <a:pPr marL="114300" indent="0">
                  <a:buNone/>
                </a:pPr>
                <a:r>
                  <a:rPr lang="en-US" dirty="0"/>
                  <a:t>What will be the final output if the input voltage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𝐴</m:t>
                        </m:r>
                      </m:sub>
                    </m:sSub>
                    <m:r>
                      <a:rPr lang="en-US" b="0" i="1" smtClean="0">
                        <a:latin typeface="Cambria Math" panose="02040503050406030204" pitchFamily="18" charset="0"/>
                      </a:rPr>
                      <m:t>=2.125 </m:t>
                    </m:r>
                    <m:r>
                      <a:rPr lang="en-US" b="0" i="1" smtClean="0">
                        <a:latin typeface="Cambria Math" panose="02040503050406030204" pitchFamily="18" charset="0"/>
                      </a:rPr>
                      <m:t>𝑉</m:t>
                    </m:r>
                    <m:r>
                      <a:rPr lang="en-US" b="0" i="1" smtClean="0">
                        <a:latin typeface="Cambria Math" panose="02040503050406030204" pitchFamily="18" charset="0"/>
                      </a:rPr>
                      <m:t>. </m:t>
                    </m:r>
                  </m:oMath>
                </a14:m>
                <a:endParaRPr lang="en-US" dirty="0"/>
              </a:p>
              <a:p>
                <a:pPr marL="114300" indent="0">
                  <a:buNone/>
                </a:pPr>
                <a:r>
                  <a:rPr lang="en-US" dirty="0"/>
                  <a:t>[ VREF = 12 V ]</a:t>
                </a:r>
              </a:p>
              <a:p>
                <a:pPr marL="114300" indent="0">
                  <a:buNone/>
                </a:pPr>
                <a:endParaRPr lang="en-US" dirty="0"/>
              </a:p>
            </p:txBody>
          </p:sp>
        </mc:Choice>
        <mc:Fallback xmlns="">
          <p:sp>
            <p:nvSpPr>
              <p:cNvPr id="3" name="Text Placeholder 2">
                <a:extLst>
                  <a:ext uri="{FF2B5EF4-FFF2-40B4-BE49-F238E27FC236}">
                    <a16:creationId xmlns:a16="http://schemas.microsoft.com/office/drawing/2014/main" id="{C3F71E14-DC6A-58D9-A960-30896D79905B}"/>
                  </a:ext>
                </a:extLst>
              </p:cNvPr>
              <p:cNvSpPr>
                <a:spLocks noGrp="1" noRot="1" noChangeAspect="1" noMove="1" noResize="1" noEditPoints="1" noAdjustHandles="1" noChangeArrowheads="1" noChangeShapeType="1" noTextEdit="1"/>
              </p:cNvSpPr>
              <p:nvPr>
                <p:ph type="body" idx="1"/>
              </p:nvPr>
            </p:nvSpPr>
            <p:spPr>
              <a:xfrm>
                <a:off x="907370" y="990191"/>
                <a:ext cx="5479929" cy="5003033"/>
              </a:xfrm>
              <a:blipFill>
                <a:blip r:embed="rId4"/>
                <a:stretch>
                  <a:fillRect l="-222" r="-111"/>
                </a:stretch>
              </a:blipFill>
            </p:spPr>
            <p:txBody>
              <a:bodyPr/>
              <a:lstStyle/>
              <a:p>
                <a:r>
                  <a:rPr lang="en-US">
                    <a:noFill/>
                  </a:rPr>
                  <a:t> </a:t>
                </a:r>
              </a:p>
            </p:txBody>
          </p:sp>
        </mc:Fallback>
      </mc:AlternateContent>
      <p:pic>
        <p:nvPicPr>
          <p:cNvPr id="4" name="Picture 3"/>
          <p:cNvPicPr>
            <a:picLocks noChangeAspect="1"/>
          </p:cNvPicPr>
          <p:nvPr/>
        </p:nvPicPr>
        <p:blipFill>
          <a:blip r:embed="rId5"/>
          <a:stretch>
            <a:fillRect/>
          </a:stretch>
        </p:blipFill>
        <p:spPr>
          <a:xfrm>
            <a:off x="6387299" y="482948"/>
            <a:ext cx="4294555" cy="6017520"/>
          </a:xfrm>
          <a:prstGeom prst="rect">
            <a:avLst/>
          </a:prstGeom>
        </p:spPr>
      </p:pic>
    </p:spTree>
    <p:extLst>
      <p:ext uri="{BB962C8B-B14F-4D97-AF65-F5344CB8AC3E}">
        <p14:creationId xmlns:p14="http://schemas.microsoft.com/office/powerpoint/2010/main" val="118988337"/>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1086D84A-007F-1FAD-F2F1-EB2EB6CEE19E}"/>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FB7E64D1-76B3-0C93-9445-EDD2D7447AC1}"/>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Dual Slope ADC</a:t>
            </a:r>
          </a:p>
        </p:txBody>
      </p:sp>
      <p:sp>
        <p:nvSpPr>
          <p:cNvPr id="100" name="Google Shape;100;p2">
            <a:extLst>
              <a:ext uri="{FF2B5EF4-FFF2-40B4-BE49-F238E27FC236}">
                <a16:creationId xmlns:a16="http://schemas.microsoft.com/office/drawing/2014/main" id="{228FD497-608E-BB91-7D84-29638ABEF1D2}"/>
              </a:ext>
            </a:extLst>
          </p:cNvPr>
          <p:cNvSpPr txBox="1">
            <a:spLocks noGrp="1"/>
          </p:cNvSpPr>
          <p:nvPr>
            <p:ph type="ftr" idx="11"/>
          </p:nvPr>
        </p:nvSpPr>
        <p:spPr>
          <a:xfrm>
            <a:off x="4023236"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03E4267E-FE7E-00C5-04A9-047C088FD5DA}"/>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25</a:t>
            </a:fld>
            <a:endParaRPr/>
          </a:p>
        </p:txBody>
      </p:sp>
      <p:pic>
        <p:nvPicPr>
          <p:cNvPr id="102" name="Google Shape;102;p2">
            <a:extLst>
              <a:ext uri="{FF2B5EF4-FFF2-40B4-BE49-F238E27FC236}">
                <a16:creationId xmlns:a16="http://schemas.microsoft.com/office/drawing/2014/main" id="{2E5C6D13-134C-D05F-DD38-75FCDCB3038D}"/>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56B9C82-49BC-4112-3467-BDFA02AD3CEA}"/>
                  </a:ext>
                </a:extLst>
              </p:cNvPr>
              <p:cNvSpPr>
                <a:spLocks noGrp="1"/>
              </p:cNvSpPr>
              <p:nvPr>
                <p:ph type="body" idx="1"/>
              </p:nvPr>
            </p:nvSpPr>
            <p:spPr>
              <a:xfrm>
                <a:off x="907370" y="990191"/>
                <a:ext cx="5479929" cy="5003033"/>
              </a:xfrm>
            </p:spPr>
            <p:txBody>
              <a:bodyPr>
                <a:normAutofit fontScale="92500"/>
              </a:bodyPr>
              <a:lstStyle/>
              <a:p>
                <a:pPr marL="114300" indent="0">
                  <a:buNone/>
                </a:pPr>
                <a:r>
                  <a:rPr lang="en-US" dirty="0"/>
                  <a:t>t&lt;0,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oMath>
                </a14:m>
                <a:r>
                  <a:rPr lang="en-US" dirty="0"/>
                  <a:t> was connected to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𝑅𝐸𝐹</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oMath>
                </a14:m>
                <a:r>
                  <a:rPr lang="en-US" dirty="0"/>
                  <a:t> was close.</a:t>
                </a:r>
              </a:p>
              <a:p>
                <a:pPr marL="114300" indent="0">
                  <a:buNone/>
                </a:pPr>
                <a:r>
                  <a:rPr lang="en-US" dirty="0"/>
                  <a:t>t&gt;0,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oMath>
                </a14:m>
                <a:r>
                  <a:rPr lang="en-US" dirty="0"/>
                  <a:t> will be connected to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𝐴</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oMath>
                </a14:m>
                <a:r>
                  <a:rPr lang="en-US" dirty="0"/>
                  <a:t> will be open, Capacitor will start charging.</a:t>
                </a:r>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𝐶</m:t>
                          </m:r>
                        </m:den>
                      </m:f>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𝐴</m:t>
                                  </m:r>
                                </m:sub>
                              </m:sSub>
                            </m:num>
                            <m:den>
                              <m:r>
                                <a:rPr lang="en-US" b="0" i="1" smtClean="0">
                                  <a:latin typeface="Cambria Math" panose="02040503050406030204" pitchFamily="18" charset="0"/>
                                </a:rPr>
                                <m:t>𝑅𝐶</m:t>
                              </m:r>
                            </m:den>
                          </m:f>
                          <m:r>
                            <a:rPr lang="en-US" b="0" i="1" smtClean="0">
                              <a:latin typeface="Cambria Math" panose="02040503050406030204" pitchFamily="18" charset="0"/>
                            </a:rPr>
                            <m:t>𝑑𝑡</m:t>
                          </m:r>
                        </m:e>
                      </m:nary>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𝐴</m:t>
                              </m:r>
                            </m:sub>
                          </m:sSub>
                          <m:r>
                            <a:rPr lang="en-US" b="0" i="1" smtClean="0">
                              <a:latin typeface="Cambria Math" panose="02040503050406030204" pitchFamily="18" charset="0"/>
                            </a:rPr>
                            <m:t>𝑡</m:t>
                          </m:r>
                        </m:num>
                        <m:den>
                          <m:r>
                            <a:rPr lang="en-US" b="0" i="1" smtClean="0">
                              <a:latin typeface="Cambria Math" panose="02040503050406030204" pitchFamily="18" charset="0"/>
                            </a:rPr>
                            <m:t>𝑅𝐶</m:t>
                          </m:r>
                        </m:den>
                      </m:f>
                    </m:oMath>
                  </m:oMathPara>
                </a14:m>
                <a:endParaRPr lang="en-US" dirty="0"/>
              </a:p>
              <a:p>
                <a:pPr marL="114300" indent="0">
                  <a:buNone/>
                </a:pPr>
                <a:r>
                  <a:rPr lang="en-US" dirty="0"/>
                  <a:t>First slope depends  on the input analog signal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𝐴</m:t>
                        </m:r>
                      </m:sub>
                    </m:sSub>
                  </m:oMath>
                </a14:m>
                <a:r>
                  <a:rPr lang="en-US" dirty="0"/>
                  <a:t>) and it will integrate till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𝐶</m:t>
                        </m:r>
                      </m:sub>
                    </m:sSub>
                  </m:oMath>
                </a14:m>
                <a:r>
                  <a:rPr lang="en-US" b="0" dirty="0"/>
                  <a:t> ( Rising Time is fixed )</a:t>
                </a:r>
              </a:p>
              <a:p>
                <a:pPr marL="11430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𝐶</m:t>
                        </m:r>
                      </m:sub>
                    </m:sSub>
                  </m:oMath>
                </a14:m>
                <a:r>
                  <a:rPr lang="en-US" b="0" dirty="0"/>
                  <a:t> </a:t>
                </a:r>
                <a:r>
                  <a:rPr lang="en-US" dirty="0"/>
                  <a:t>is </a:t>
                </a:r>
                <a:r>
                  <a:rPr lang="en-US" b="0" dirty="0"/>
                  <a:t>the clock period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𝐶</m:t>
                        </m:r>
                      </m:sub>
                    </m:sSub>
                  </m:oMath>
                </a14:m>
                <a:r>
                  <a:rPr lang="en-US" b="0" dirty="0"/>
                  <a:t> </a:t>
                </a:r>
                <a:r>
                  <a:rPr lang="en-US" dirty="0"/>
                  <a:t>is clock frequency. Relation: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𝐶</m:t>
                        </m:r>
                      </m:sub>
                    </m:sSub>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𝐶</m:t>
                        </m:r>
                      </m:sub>
                    </m:sSub>
                  </m:oMath>
                </a14:m>
                <a:endParaRPr lang="en-US" b="0" dirty="0"/>
              </a:p>
              <a:p>
                <a:pPr marL="114300" indent="0">
                  <a:buNone/>
                </a:pPr>
                <a:endParaRPr lang="en-US"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956B9C82-49BC-4112-3467-BDFA02AD3CEA}"/>
                  </a:ext>
                </a:extLst>
              </p:cNvPr>
              <p:cNvSpPr>
                <a:spLocks noGrp="1" noRot="1" noChangeAspect="1" noMove="1" noResize="1" noEditPoints="1" noAdjustHandles="1" noChangeArrowheads="1" noChangeShapeType="1" noTextEdit="1"/>
              </p:cNvSpPr>
              <p:nvPr>
                <p:ph type="body" idx="1"/>
              </p:nvPr>
            </p:nvSpPr>
            <p:spPr>
              <a:xfrm>
                <a:off x="907370" y="990191"/>
                <a:ext cx="5479929" cy="5003033"/>
              </a:xfrm>
              <a:blipFill>
                <a:blip r:embed="rId4"/>
                <a:stretch>
                  <a:fillRect r="-1780" b="-1462"/>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0F1FBC99-C419-0871-F1BE-014C95E27F6B}"/>
              </a:ext>
            </a:extLst>
          </p:cNvPr>
          <p:cNvPicPr>
            <a:picLocks noChangeAspect="1"/>
          </p:cNvPicPr>
          <p:nvPr/>
        </p:nvPicPr>
        <p:blipFill>
          <a:blip r:embed="rId5">
            <a:extLst>
              <a:ext uri="{BEBA8EAE-BF5A-486C-A8C5-ECC9F3942E4B}">
                <a14:imgProps xmlns:a14="http://schemas.microsoft.com/office/drawing/2010/main">
                  <a14:imgLayer r:embed="rId6">
                    <a14:imgEffect>
                      <a14:artisticPhotocopy/>
                    </a14:imgEffect>
                  </a14:imgLayer>
                </a14:imgProps>
              </a:ext>
            </a:extLst>
          </a:blip>
          <a:stretch>
            <a:fillRect/>
          </a:stretch>
        </p:blipFill>
        <p:spPr>
          <a:xfrm>
            <a:off x="6323898" y="1642813"/>
            <a:ext cx="5029902" cy="3572374"/>
          </a:xfrm>
          <a:prstGeom prst="rect">
            <a:avLst/>
          </a:prstGeom>
        </p:spPr>
      </p:pic>
    </p:spTree>
    <p:extLst>
      <p:ext uri="{BB962C8B-B14F-4D97-AF65-F5344CB8AC3E}">
        <p14:creationId xmlns:p14="http://schemas.microsoft.com/office/powerpoint/2010/main" val="2733332047"/>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E652949D-9E15-D7AF-6330-7B242A0CC5CF}"/>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ECA894EE-0D60-E538-FDDD-163D054F9725}"/>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Dual Slope ADC</a:t>
            </a:r>
          </a:p>
        </p:txBody>
      </p:sp>
      <p:sp>
        <p:nvSpPr>
          <p:cNvPr id="100" name="Google Shape;100;p2">
            <a:extLst>
              <a:ext uri="{FF2B5EF4-FFF2-40B4-BE49-F238E27FC236}">
                <a16:creationId xmlns:a16="http://schemas.microsoft.com/office/drawing/2014/main" id="{97F005DA-AB36-6D29-A896-C4993A5A66F0}"/>
              </a:ext>
            </a:extLst>
          </p:cNvPr>
          <p:cNvSpPr txBox="1">
            <a:spLocks noGrp="1"/>
          </p:cNvSpPr>
          <p:nvPr>
            <p:ph type="ftr" idx="11"/>
          </p:nvPr>
        </p:nvSpPr>
        <p:spPr>
          <a:xfrm>
            <a:off x="4023236"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9CF18D97-4F13-D8C7-49C7-692D822ED4E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pic>
        <p:nvPicPr>
          <p:cNvPr id="102" name="Google Shape;102;p2">
            <a:extLst>
              <a:ext uri="{FF2B5EF4-FFF2-40B4-BE49-F238E27FC236}">
                <a16:creationId xmlns:a16="http://schemas.microsoft.com/office/drawing/2014/main" id="{494DFC75-B541-460F-A79A-5F3D1427A058}"/>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855C895-95A7-C743-4CCA-5D434B8DEB8C}"/>
                  </a:ext>
                </a:extLst>
              </p:cNvPr>
              <p:cNvSpPr>
                <a:spLocks noGrp="1"/>
              </p:cNvSpPr>
              <p:nvPr>
                <p:ph type="body" idx="1"/>
              </p:nvPr>
            </p:nvSpPr>
            <p:spPr>
              <a:xfrm>
                <a:off x="907371" y="990191"/>
                <a:ext cx="5188630" cy="5366159"/>
              </a:xfrm>
            </p:spPr>
            <p:txBody>
              <a:bodyPr>
                <a:normAutofit fontScale="92500" lnSpcReduction="10000"/>
              </a:bodyPr>
              <a:lstStyle/>
              <a:p>
                <a:pPr marL="114300" indent="0">
                  <a:buNone/>
                </a:pPr>
                <a:r>
                  <a:rPr lang="en-US" dirty="0"/>
                  <a:t>After </a:t>
                </a:r>
                <a14:m>
                  <m:oMath xmlns:m="http://schemas.openxmlformats.org/officeDocument/2006/math">
                    <m:r>
                      <m:rPr>
                        <m:sty m:val="p"/>
                      </m:rPr>
                      <a:rPr lang="en-US" b="0" i="0" smtClean="0">
                        <a:latin typeface="Cambria Math" panose="02040503050406030204" pitchFamily="18" charset="0"/>
                      </a:rPr>
                      <m:t>t</m:t>
                    </m:r>
                    <m:r>
                      <a:rPr lang="en-US" b="0" i="0"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a:t>
                </a:r>
              </a:p>
              <a:p>
                <a:pPr marL="11430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oMath>
                </a14:m>
                <a:r>
                  <a:rPr lang="en-US" dirty="0"/>
                  <a:t> will shift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𝑅𝐸𝐹</m:t>
                        </m:r>
                      </m:sub>
                    </m:sSub>
                    <m:r>
                      <a:rPr lang="en-US" b="0" i="0" smtClean="0">
                        <a:latin typeface="Cambria Math" panose="02040503050406030204" pitchFamily="18" charset="0"/>
                      </a:rPr>
                      <m:t> </m:t>
                    </m:r>
                  </m:oMath>
                </a14:m>
                <a:endParaRPr lang="en-US" b="0" dirty="0"/>
              </a:p>
              <a:p>
                <a:pPr marL="114300" indent="0">
                  <a:buNone/>
                </a:pPr>
                <a:endParaRPr lang="en-US" b="0" dirty="0"/>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𝑂</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𝐶</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𝑅𝐸𝐹</m:t>
                              </m:r>
                            </m:sub>
                          </m:sSub>
                        </m:num>
                        <m:den>
                          <m:r>
                            <a:rPr lang="en-US" b="0" i="1" smtClean="0">
                              <a:latin typeface="Cambria Math" panose="02040503050406030204" pitchFamily="18" charset="0"/>
                            </a:rPr>
                            <m:t>𝑅𝐶</m:t>
                          </m:r>
                        </m:den>
                      </m:f>
                      <m:r>
                        <a:rPr lang="en-US" b="0" i="1" smtClean="0">
                          <a:latin typeface="Cambria Math" panose="02040503050406030204" pitchFamily="18" charset="0"/>
                        </a:rPr>
                        <m:t>𝑑𝑡</m:t>
                      </m:r>
                    </m:oMath>
                  </m:oMathPara>
                </a14:m>
                <a:endParaRPr lang="en-US" dirty="0"/>
              </a:p>
              <a:p>
                <a:pPr marL="114300" indent="0">
                  <a:buNone/>
                </a:pPr>
                <a:endParaRPr lang="en-US" dirty="0"/>
              </a:p>
              <a:p>
                <a:pPr marL="11430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𝐶</m:t>
                        </m:r>
                      </m:sub>
                    </m:sSub>
                    <m:r>
                      <a:rPr lang="en-US" b="0" i="1" smtClean="0">
                        <a:latin typeface="Cambria Math" panose="02040503050406030204" pitchFamily="18" charset="0"/>
                      </a:rPr>
                      <m:t> </m:t>
                    </m:r>
                  </m:oMath>
                </a14:m>
                <a:r>
                  <a:rPr lang="en-US" b="0" i="1" dirty="0">
                    <a:latin typeface="+mj-lt"/>
                    <a:ea typeface="Calibri" panose="020F0502020204030204" pitchFamily="34" charset="0"/>
                    <a:cs typeface="Calibri" panose="020F0502020204030204" pitchFamily="34" charset="0"/>
                  </a:rPr>
                  <a:t>(Rising time ) </a:t>
                </a:r>
              </a:p>
              <a:p>
                <a:pPr marL="11430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𝐶</m:t>
                        </m:r>
                      </m:sub>
                    </m:sSub>
                  </m:oMath>
                </a14:m>
                <a:r>
                  <a:rPr lang="en-US" dirty="0"/>
                  <a:t> ( Falling time)</a:t>
                </a:r>
              </a:p>
              <a:p>
                <a:pPr marL="114300" indent="0">
                  <a:buNone/>
                </a:pPr>
                <a:endParaRPr lang="en-US" dirty="0"/>
              </a:p>
              <a:p>
                <a:pPr marL="11430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𝐴</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r>
                            <a:rPr lang="en-US" b="0" i="1" smtClean="0">
                              <a:latin typeface="Cambria Math" panose="02040503050406030204" pitchFamily="18" charset="0"/>
                            </a:rPr>
                            <m:t>𝑅𝐶</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𝑅𝐸𝐹</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num>
                        <m:den>
                          <m:r>
                            <a:rPr lang="en-US" b="0" i="1" smtClean="0">
                              <a:latin typeface="Cambria Math" panose="02040503050406030204" pitchFamily="18" charset="0"/>
                            </a:rPr>
                            <m:t>𝑅𝐶</m:t>
                          </m:r>
                        </m:den>
                      </m:f>
                    </m:oMath>
                  </m:oMathPara>
                </a14:m>
                <a:endParaRPr lang="en-US" b="0" dirty="0"/>
              </a:p>
              <a:p>
                <a:pPr marL="114300" indent="0">
                  <a:buNone/>
                </a:pPr>
                <a:r>
                  <a:rPr lang="en-US" dirty="0"/>
                  <a:t>		</a:t>
                </a:r>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𝐴</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𝑅𝐸𝐹</m:t>
                            </m:r>
                          </m:sub>
                        </m:sSub>
                      </m:den>
                    </m:f>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C855C895-95A7-C743-4CCA-5D434B8DEB8C}"/>
                  </a:ext>
                </a:extLst>
              </p:cNvPr>
              <p:cNvSpPr>
                <a:spLocks noGrp="1" noRot="1" noChangeAspect="1" noMove="1" noResize="1" noEditPoints="1" noAdjustHandles="1" noChangeArrowheads="1" noChangeShapeType="1" noTextEdit="1"/>
              </p:cNvSpPr>
              <p:nvPr>
                <p:ph type="body" idx="1"/>
              </p:nvPr>
            </p:nvSpPr>
            <p:spPr>
              <a:xfrm>
                <a:off x="907371" y="990191"/>
                <a:ext cx="5188630" cy="5366159"/>
              </a:xfrm>
              <a:blipFill>
                <a:blip r:embed="rId4"/>
                <a:stretch>
                  <a:fillRect/>
                </a:stretch>
              </a:blipFill>
            </p:spPr>
            <p:txBody>
              <a:bodyPr/>
              <a:lstStyle/>
              <a:p>
                <a:r>
                  <a:rPr lang="en-US">
                    <a:noFill/>
                  </a:rPr>
                  <a:t> </a:t>
                </a:r>
              </a:p>
            </p:txBody>
          </p:sp>
        </mc:Fallback>
      </mc:AlternateContent>
      <p:pic>
        <p:nvPicPr>
          <p:cNvPr id="2" name="Picture 1"/>
          <p:cNvPicPr>
            <a:picLocks noChangeAspect="1"/>
          </p:cNvPicPr>
          <p:nvPr/>
        </p:nvPicPr>
        <p:blipFill>
          <a:blip r:embed="rId5"/>
          <a:stretch>
            <a:fillRect/>
          </a:stretch>
        </p:blipFill>
        <p:spPr>
          <a:xfrm>
            <a:off x="5335299" y="262816"/>
            <a:ext cx="6288664" cy="3019299"/>
          </a:xfrm>
          <a:prstGeom prst="rect">
            <a:avLst/>
          </a:prstGeom>
        </p:spPr>
      </p:pic>
    </p:spTree>
    <p:extLst>
      <p:ext uri="{BB962C8B-B14F-4D97-AF65-F5344CB8AC3E}">
        <p14:creationId xmlns:p14="http://schemas.microsoft.com/office/powerpoint/2010/main" val="2054707676"/>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E652949D-9E15-D7AF-6330-7B242A0CC5CF}"/>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ECA894EE-0D60-E538-FDDD-163D054F9725}"/>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Dual Slope ADC</a:t>
            </a:r>
          </a:p>
        </p:txBody>
      </p:sp>
      <p:sp>
        <p:nvSpPr>
          <p:cNvPr id="100" name="Google Shape;100;p2">
            <a:extLst>
              <a:ext uri="{FF2B5EF4-FFF2-40B4-BE49-F238E27FC236}">
                <a16:creationId xmlns:a16="http://schemas.microsoft.com/office/drawing/2014/main" id="{97F005DA-AB36-6D29-A896-C4993A5A66F0}"/>
              </a:ext>
            </a:extLst>
          </p:cNvPr>
          <p:cNvSpPr txBox="1">
            <a:spLocks noGrp="1"/>
          </p:cNvSpPr>
          <p:nvPr>
            <p:ph type="ftr" idx="11"/>
          </p:nvPr>
        </p:nvSpPr>
        <p:spPr>
          <a:xfrm>
            <a:off x="4023236"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9CF18D97-4F13-D8C7-49C7-692D822ED4E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pic>
        <p:nvPicPr>
          <p:cNvPr id="102" name="Google Shape;102;p2">
            <a:extLst>
              <a:ext uri="{FF2B5EF4-FFF2-40B4-BE49-F238E27FC236}">
                <a16:creationId xmlns:a16="http://schemas.microsoft.com/office/drawing/2014/main" id="{494DFC75-B541-460F-A79A-5F3D1427A058}"/>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855C895-95A7-C743-4CCA-5D434B8DEB8C}"/>
                  </a:ext>
                </a:extLst>
              </p:cNvPr>
              <p:cNvSpPr>
                <a:spLocks noGrp="1"/>
              </p:cNvSpPr>
              <p:nvPr>
                <p:ph type="body" idx="1"/>
              </p:nvPr>
            </p:nvSpPr>
            <p:spPr>
              <a:xfrm>
                <a:off x="907370" y="990191"/>
                <a:ext cx="6288664" cy="4896259"/>
              </a:xfrm>
            </p:spPr>
            <p:txBody>
              <a:bodyPr>
                <a:normAutofit fontScale="77500" lnSpcReduction="20000"/>
              </a:bodyPr>
              <a:lstStyle/>
              <a:p>
                <a:pPr marL="114300" indent="0">
                  <a:buNone/>
                </a:pPr>
                <a:r>
                  <a:rPr lang="en-US" dirty="0"/>
                  <a:t>After </a:t>
                </a:r>
                <a14:m>
                  <m:oMath xmlns:m="http://schemas.openxmlformats.org/officeDocument/2006/math">
                    <m:r>
                      <m:rPr>
                        <m:sty m:val="p"/>
                      </m:rPr>
                      <a:rPr lang="en-US" b="0" i="0" smtClean="0">
                        <a:latin typeface="Cambria Math" panose="02040503050406030204" pitchFamily="18" charset="0"/>
                      </a:rPr>
                      <m:t>t</m:t>
                    </m:r>
                    <m:r>
                      <a:rPr lang="en-US" b="0" i="0"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a:t>
                </a:r>
              </a:p>
              <a:p>
                <a:pPr marL="11430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oMath>
                </a14:m>
                <a:r>
                  <a:rPr lang="en-US" dirty="0"/>
                  <a:t> will shift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𝑅𝐸𝐹</m:t>
                        </m:r>
                      </m:sub>
                    </m:sSub>
                    <m:r>
                      <a:rPr lang="en-US" b="0" i="0" smtClean="0">
                        <a:latin typeface="Cambria Math" panose="02040503050406030204" pitchFamily="18" charset="0"/>
                      </a:rPr>
                      <m:t> </m:t>
                    </m:r>
                  </m:oMath>
                </a14:m>
                <a:endParaRPr lang="en-US" b="0" dirty="0"/>
              </a:p>
              <a:p>
                <a:pPr marL="114300" indent="0">
                  <a:buNone/>
                </a:pPr>
                <a:endParaRPr lang="en-US" b="0" dirty="0"/>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𝑂</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𝐶</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𝑅𝐸𝐹</m:t>
                              </m:r>
                            </m:sub>
                          </m:sSub>
                        </m:num>
                        <m:den>
                          <m:r>
                            <a:rPr lang="en-US" b="0" i="1" smtClean="0">
                              <a:latin typeface="Cambria Math" panose="02040503050406030204" pitchFamily="18" charset="0"/>
                            </a:rPr>
                            <m:t>𝑅𝐶</m:t>
                          </m:r>
                        </m:den>
                      </m:f>
                      <m:r>
                        <a:rPr lang="en-US" b="0" i="1" smtClean="0">
                          <a:latin typeface="Cambria Math" panose="02040503050406030204" pitchFamily="18" charset="0"/>
                        </a:rPr>
                        <m:t>𝑑𝑡</m:t>
                      </m:r>
                    </m:oMath>
                  </m:oMathPara>
                </a14:m>
                <a:endParaRPr lang="en-US" dirty="0"/>
              </a:p>
              <a:p>
                <a:pPr marL="114300" indent="0">
                  <a:buNone/>
                </a:pPr>
                <a:endParaRPr lang="en-US" dirty="0"/>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𝐶</m:t>
                          </m:r>
                        </m:sub>
                      </m:sSub>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𝐶</m:t>
                          </m:r>
                        </m:sub>
                      </m:sSub>
                    </m:oMath>
                  </m:oMathPara>
                </a14:m>
                <a:endParaRPr lang="en-US" dirty="0"/>
              </a:p>
              <a:p>
                <a:pPr marL="114300" indent="0">
                  <a:buNone/>
                </a:pPr>
                <a14:m>
                  <m:oMath xmlns:m="http://schemas.openxmlformats.org/officeDocument/2006/math">
                    <m:r>
                      <a:rPr lang="en-US" b="0" i="1" smtClean="0">
                        <a:latin typeface="Cambria Math" panose="02040503050406030204" pitchFamily="18" charset="0"/>
                      </a:rPr>
                      <m:t>𝑡𝑎𝑛</m:t>
                    </m:r>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𝜃</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en>
                    </m:f>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𝑡𝑎𝑛</m:t>
                    </m:r>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𝜃</m:t>
                        </m:r>
                      </m:e>
                      <m:sub>
                        <m:r>
                          <a:rPr lang="en-US" b="0" i="1" smtClean="0">
                            <a:latin typeface="Cambria Math" panose="02040503050406030204" pitchFamily="18" charset="0"/>
                          </a:rPr>
                          <m:t>1</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V</m:t>
                            </m:r>
                          </m:e>
                          <m:sub>
                            <m:r>
                              <m:rPr>
                                <m:sty m:val="p"/>
                              </m:rPr>
                              <a:rPr lang="en-US" b="0" i="0" smtClean="0">
                                <a:latin typeface="Cambria Math" panose="02040503050406030204" pitchFamily="18" charset="0"/>
                              </a:rPr>
                              <m:t>A</m:t>
                            </m:r>
                          </m:sub>
                        </m:sSub>
                      </m:num>
                      <m:den>
                        <m:r>
                          <m:rPr>
                            <m:sty m:val="p"/>
                          </m:rPr>
                          <a:rPr lang="en-US" b="0" i="0" smtClean="0">
                            <a:latin typeface="Cambria Math" panose="02040503050406030204" pitchFamily="18" charset="0"/>
                          </a:rPr>
                          <m:t>RC</m:t>
                        </m:r>
                      </m:den>
                    </m:f>
                  </m:oMath>
                </a14:m>
                <a:r>
                  <a:rPr lang="en-US" dirty="0"/>
                  <a:t>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𝑂</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𝐴</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𝑅𝐶</m:t>
                    </m:r>
                  </m:oMath>
                </a14:m>
                <a:endParaRPr lang="en-US" dirty="0"/>
              </a:p>
              <a:p>
                <a:pPr marL="114300" indent="0">
                  <a:buNone/>
                </a:pPr>
                <a14:m>
                  <m:oMath xmlns:m="http://schemas.openxmlformats.org/officeDocument/2006/math">
                    <m:r>
                      <a:rPr lang="en-US" i="1">
                        <a:latin typeface="Cambria Math" panose="02040503050406030204" pitchFamily="18" charset="0"/>
                      </a:rPr>
                      <m:t>𝑡𝑎𝑛</m:t>
                    </m:r>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𝜃</m:t>
                        </m:r>
                      </m:e>
                      <m:sub>
                        <m:r>
                          <a:rPr lang="en-US" b="0" i="1" smtClean="0">
                            <a:latin typeface="Cambria Math" panose="02040503050406030204" pitchFamily="18" charset="0"/>
                          </a:rPr>
                          <m:t>2</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𝑜</m:t>
                            </m:r>
                          </m:sub>
                        </m:sSub>
                      </m:num>
                      <m:den>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b="0" i="1" smtClean="0">
                                <a:latin typeface="Cambria Math" panose="02040503050406030204" pitchFamily="18" charset="0"/>
                              </a:rPr>
                              <m:t>2</m:t>
                            </m:r>
                          </m:sub>
                        </m:sSub>
                      </m:den>
                    </m:f>
                    <m:r>
                      <a:rPr lang="en-US" i="1">
                        <a:latin typeface="Cambria Math" panose="02040503050406030204" pitchFamily="18" charset="0"/>
                      </a:rPr>
                      <m:t> </m:t>
                    </m:r>
                    <m:r>
                      <a:rPr lang="en-US" i="1">
                        <a:latin typeface="Cambria Math" panose="02040503050406030204" pitchFamily="18" charset="0"/>
                      </a:rPr>
                      <m:t>𝑎𝑛𝑑</m:t>
                    </m:r>
                    <m:r>
                      <a:rPr lang="en-US" i="1">
                        <a:latin typeface="Cambria Math" panose="02040503050406030204" pitchFamily="18" charset="0"/>
                      </a:rPr>
                      <m:t> </m:t>
                    </m:r>
                    <m:r>
                      <a:rPr lang="en-US" i="1">
                        <a:latin typeface="Cambria Math" panose="02040503050406030204" pitchFamily="18" charset="0"/>
                      </a:rPr>
                      <m:t>𝑡𝑎𝑛</m:t>
                    </m:r>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𝜃</m:t>
                        </m:r>
                      </m:e>
                      <m:sub>
                        <m:r>
                          <a:rPr lang="en-US" b="0" i="1" smtClean="0">
                            <a:latin typeface="Cambria Math" panose="02040503050406030204" pitchFamily="18" charset="0"/>
                          </a:rPr>
                          <m:t>2</m:t>
                        </m:r>
                      </m:sub>
                    </m:sSub>
                    <m:r>
                      <a:rPr lang="en-US">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en-US">
                                <a:latin typeface="Cambria Math" panose="02040503050406030204" pitchFamily="18" charset="0"/>
                              </a:rPr>
                              <m:t>V</m:t>
                            </m:r>
                          </m:e>
                          <m:sub>
                            <m:r>
                              <m:rPr>
                                <m:sty m:val="p"/>
                              </m:rPr>
                              <a:rPr lang="en-US" b="0" i="0" smtClean="0">
                                <a:latin typeface="Cambria Math" panose="02040503050406030204" pitchFamily="18" charset="0"/>
                              </a:rPr>
                              <m:t>REF</m:t>
                            </m:r>
                          </m:sub>
                        </m:sSub>
                      </m:num>
                      <m:den>
                        <m:r>
                          <m:rPr>
                            <m:sty m:val="p"/>
                          </m:rPr>
                          <a:rPr lang="en-US">
                            <a:latin typeface="Cambria Math" panose="02040503050406030204" pitchFamily="18" charset="0"/>
                          </a:rPr>
                          <m:t>RC</m:t>
                        </m:r>
                      </m:den>
                    </m:f>
                    <m:r>
                      <a:rPr lang="en-US" b="0" i="0" smtClean="0">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𝑂</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b="0" i="1" smtClean="0">
                            <a:latin typeface="Cambria Math" panose="02040503050406030204" pitchFamily="18" charset="0"/>
                          </a:rPr>
                          <m:t>𝑅𝐸𝐹</m:t>
                        </m:r>
                      </m:sub>
                    </m:sSub>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b="0" i="1" smtClean="0">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𝑅𝐶</m:t>
                    </m:r>
                  </m:oMath>
                </a14:m>
                <a:endParaRPr lang="en-US" dirty="0"/>
              </a:p>
              <a:p>
                <a:pPr marL="114300" indent="0">
                  <a:buNone/>
                </a:pPr>
                <a:endParaRPr lang="en-US" dirty="0"/>
              </a:p>
              <a:p>
                <a:pPr marL="11430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𝐴</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r>
                            <a:rPr lang="en-US" b="0" i="1" smtClean="0">
                              <a:latin typeface="Cambria Math" panose="02040503050406030204" pitchFamily="18" charset="0"/>
                            </a:rPr>
                            <m:t>𝑅𝐶</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𝑅𝐸𝐹</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num>
                        <m:den>
                          <m:r>
                            <a:rPr lang="en-US" b="0" i="1" smtClean="0">
                              <a:latin typeface="Cambria Math" panose="02040503050406030204" pitchFamily="18" charset="0"/>
                            </a:rPr>
                            <m:t>𝑅𝐶</m:t>
                          </m:r>
                        </m:den>
                      </m:f>
                    </m:oMath>
                  </m:oMathPara>
                </a14:m>
                <a:endParaRPr lang="en-US" b="0" dirty="0"/>
              </a:p>
              <a:p>
                <a:pPr marL="114300" indent="0">
                  <a:buNone/>
                </a:pPr>
                <a:r>
                  <a:rPr lang="en-US" dirty="0"/>
                  <a:t>		</a:t>
                </a:r>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𝐴</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𝑅𝐸𝐹</m:t>
                            </m:r>
                          </m:sub>
                        </m:sSub>
                      </m:den>
                    </m:f>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C855C895-95A7-C743-4CCA-5D434B8DEB8C}"/>
                  </a:ext>
                </a:extLst>
              </p:cNvPr>
              <p:cNvSpPr>
                <a:spLocks noGrp="1" noRot="1" noChangeAspect="1" noMove="1" noResize="1" noEditPoints="1" noAdjustHandles="1" noChangeArrowheads="1" noChangeShapeType="1" noTextEdit="1"/>
              </p:cNvSpPr>
              <p:nvPr>
                <p:ph type="body" idx="1"/>
              </p:nvPr>
            </p:nvSpPr>
            <p:spPr>
              <a:xfrm>
                <a:off x="907370" y="990191"/>
                <a:ext cx="6288664" cy="4896259"/>
              </a:xfrm>
              <a:blipFill>
                <a:blip r:embed="rId4"/>
                <a:stretch>
                  <a:fillRect/>
                </a:stretch>
              </a:blipFill>
            </p:spPr>
            <p:txBody>
              <a:bodyPr/>
              <a:lstStyle/>
              <a:p>
                <a:r>
                  <a:rPr lang="en-US">
                    <a:noFill/>
                  </a:rPr>
                  <a:t> </a:t>
                </a:r>
              </a:p>
            </p:txBody>
          </p:sp>
        </mc:Fallback>
      </mc:AlternateContent>
      <p:pic>
        <p:nvPicPr>
          <p:cNvPr id="2" name="Picture 1"/>
          <p:cNvPicPr>
            <a:picLocks noChangeAspect="1"/>
          </p:cNvPicPr>
          <p:nvPr/>
        </p:nvPicPr>
        <p:blipFill>
          <a:blip r:embed="rId5"/>
          <a:stretch>
            <a:fillRect/>
          </a:stretch>
        </p:blipFill>
        <p:spPr>
          <a:xfrm>
            <a:off x="5651840" y="0"/>
            <a:ext cx="6288664" cy="3019299"/>
          </a:xfrm>
          <a:prstGeom prst="rect">
            <a:avLst/>
          </a:prstGeom>
        </p:spPr>
      </p:pic>
    </p:spTree>
    <p:extLst>
      <p:ext uri="{BB962C8B-B14F-4D97-AF65-F5344CB8AC3E}">
        <p14:creationId xmlns:p14="http://schemas.microsoft.com/office/powerpoint/2010/main" val="2475335089"/>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E652949D-9E15-D7AF-6330-7B242A0CC5CF}"/>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ECA894EE-0D60-E538-FDDD-163D054F9725}"/>
              </a:ext>
            </a:extLst>
          </p:cNvPr>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Dual Slope ADC</a:t>
            </a:r>
          </a:p>
        </p:txBody>
      </p:sp>
      <p:sp>
        <p:nvSpPr>
          <p:cNvPr id="100" name="Google Shape;100;p2">
            <a:extLst>
              <a:ext uri="{FF2B5EF4-FFF2-40B4-BE49-F238E27FC236}">
                <a16:creationId xmlns:a16="http://schemas.microsoft.com/office/drawing/2014/main" id="{97F005DA-AB36-6D29-A896-C4993A5A66F0}"/>
              </a:ext>
            </a:extLst>
          </p:cNvPr>
          <p:cNvSpPr txBox="1">
            <a:spLocks noGrp="1"/>
          </p:cNvSpPr>
          <p:nvPr>
            <p:ph type="ftr" idx="11"/>
          </p:nvPr>
        </p:nvSpPr>
        <p:spPr>
          <a:xfrm>
            <a:off x="4023236"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9CF18D97-4F13-D8C7-49C7-692D822ED4E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pic>
        <p:nvPicPr>
          <p:cNvPr id="102" name="Google Shape;102;p2">
            <a:extLst>
              <a:ext uri="{FF2B5EF4-FFF2-40B4-BE49-F238E27FC236}">
                <a16:creationId xmlns:a16="http://schemas.microsoft.com/office/drawing/2014/main" id="{494DFC75-B541-460F-A79A-5F3D1427A058}"/>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855C895-95A7-C743-4CCA-5D434B8DEB8C}"/>
                  </a:ext>
                </a:extLst>
              </p:cNvPr>
              <p:cNvSpPr>
                <a:spLocks noGrp="1"/>
              </p:cNvSpPr>
              <p:nvPr>
                <p:ph type="body" idx="1"/>
              </p:nvPr>
            </p:nvSpPr>
            <p:spPr>
              <a:xfrm>
                <a:off x="907369" y="990191"/>
                <a:ext cx="6564994" cy="5010559"/>
              </a:xfrm>
            </p:spPr>
            <p:txBody>
              <a:bodyPr>
                <a:normAutofit fontScale="92500"/>
              </a:bodyPr>
              <a:lstStyle/>
              <a:p>
                <a:pPr marL="114300" indent="0">
                  <a:buNone/>
                </a:pPr>
                <a:r>
                  <a:rPr lang="en-US" b="0" dirty="0"/>
                  <a:t>Some important formula,</a:t>
                </a:r>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𝐶</m:t>
                          </m:r>
                        </m:sub>
                      </m:sSub>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𝐶</m:t>
                          </m:r>
                        </m:sub>
                      </m:sSub>
                    </m:oMath>
                  </m:oMathPara>
                </a14:m>
                <a:endParaRPr lang="en-US" b="0" dirty="0"/>
              </a:p>
              <a:p>
                <a:pPr marL="114300" indent="0">
                  <a:buNone/>
                </a:pPr>
                <a:r>
                  <a:rPr lang="en-US" b="0" dirty="0"/>
                  <a:t>Rising time,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𝐶</m:t>
                        </m:r>
                      </m:sub>
                    </m:sSub>
                  </m:oMath>
                </a14:m>
                <a:endParaRPr lang="en-US" b="0" dirty="0"/>
              </a:p>
              <a:p>
                <a:pPr marL="114300" indent="0">
                  <a:buNone/>
                </a:pPr>
                <a:r>
                  <a:rPr lang="en-US" dirty="0"/>
                  <a:t>Falling time,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𝐶</m:t>
                        </m:r>
                      </m:sub>
                    </m:sSub>
                  </m:oMath>
                </a14:m>
                <a:endParaRPr lang="en-US" dirty="0"/>
              </a:p>
              <a:p>
                <a:pPr marL="114300" indent="0">
                  <a:buNone/>
                </a:pPr>
                <a:r>
                  <a:rPr lang="en-US" dirty="0"/>
                  <a:t>Decimal of digital output, </a:t>
                </a:r>
                <a:endParaRPr lang="en-US" i="1" dirty="0">
                  <a:latin typeface="Cambria Math" panose="02040503050406030204" pitchFamily="18" charset="0"/>
                </a:endParaRPr>
              </a:p>
              <a:p>
                <a:pPr marL="11430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𝐷</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𝐴</m:t>
                              </m:r>
                            </m:sub>
                          </m:sSub>
                        </m:num>
                        <m:den>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𝑅𝐸𝐹</m:t>
                              </m:r>
                            </m:sub>
                          </m:sSub>
                        </m:den>
                      </m:f>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𝑛</m:t>
                          </m:r>
                        </m:sup>
                      </m:sSup>
                    </m:oMath>
                  </m:oMathPara>
                </a14:m>
                <a:endParaRPr lang="en-US" dirty="0"/>
              </a:p>
              <a:p>
                <a:pPr marL="114300" indent="0">
                  <a:buNone/>
                </a:pPr>
                <a:r>
                  <a:rPr lang="en-US" dirty="0"/>
                  <a:t>Reading time or conversion time,</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𝑇</m:t>
                          </m:r>
                        </m:e>
                        <m:sub>
                          <m:r>
                            <a:rPr lang="en-US" b="0" i="1" smtClean="0">
                              <a:latin typeface="Cambria Math" panose="02040503050406030204" pitchFamily="18" charset="0"/>
                            </a:rPr>
                            <m:t>𝐶</m:t>
                          </m:r>
                        </m:sub>
                      </m:sSub>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𝐶</m:t>
                          </m:r>
                        </m:sub>
                      </m:sSub>
                    </m:oMath>
                  </m:oMathPara>
                </a14:m>
                <a:endParaRPr lang="en-US" dirty="0"/>
              </a:p>
              <a:p>
                <a:pPr marL="114300" indent="0">
                  <a:buNone/>
                </a:pPr>
                <a:r>
                  <a:rPr lang="en-US" dirty="0"/>
                  <a:t>Max reading time,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𝑚𝑎𝑥</m:t>
                        </m:r>
                      </m:sub>
                    </m:sSub>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𝐶</m:t>
                        </m:r>
                      </m:sub>
                    </m:sSub>
                  </m:oMath>
                </a14:m>
                <a:endParaRPr lang="en-US" dirty="0"/>
              </a:p>
              <a:p>
                <a:pPr marL="114300" indent="0">
                  <a:buNone/>
                </a:pPr>
                <a:r>
                  <a:rPr lang="en-US" dirty="0"/>
                  <a:t>Max Sampling frequency,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𝑚𝑎𝑥</m:t>
                        </m:r>
                        <m:r>
                          <a:rPr lang="en-US" b="0" i="1" smtClean="0">
                            <a:latin typeface="Cambria Math" panose="02040503050406030204" pitchFamily="18" charset="0"/>
                          </a:rPr>
                          <m:t> </m:t>
                        </m:r>
                      </m:sub>
                    </m:sSub>
                    <m:r>
                      <a:rPr lang="en-US" b="0" i="1" smtClean="0">
                        <a:latin typeface="Cambria Math" panose="02040503050406030204" pitchFamily="18" charset="0"/>
                      </a:rPr>
                      <m:t>=1/</m:t>
                    </m:r>
                    <m:r>
                      <a:rPr lang="en-US" b="0" i="1" smtClean="0">
                        <a:latin typeface="Cambria Math" panose="02040503050406030204" pitchFamily="18" charset="0"/>
                      </a:rPr>
                      <m:t>𝑇𝑚𝑎𝑥</m:t>
                    </m:r>
                    <m:r>
                      <a:rPr lang="en-US" b="0" i="1" smtClean="0">
                        <a:latin typeface="Cambria Math" panose="02040503050406030204" pitchFamily="18" charset="0"/>
                      </a:rPr>
                      <m:t>, </m:t>
                    </m:r>
                  </m:oMath>
                </a14:m>
                <a:endParaRPr lang="en-US"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C855C895-95A7-C743-4CCA-5D434B8DEB8C}"/>
                  </a:ext>
                </a:extLst>
              </p:cNvPr>
              <p:cNvSpPr>
                <a:spLocks noGrp="1" noRot="1" noChangeAspect="1" noMove="1" noResize="1" noEditPoints="1" noAdjustHandles="1" noChangeArrowheads="1" noChangeShapeType="1" noTextEdit="1"/>
              </p:cNvSpPr>
              <p:nvPr>
                <p:ph type="body" idx="1"/>
              </p:nvPr>
            </p:nvSpPr>
            <p:spPr>
              <a:xfrm>
                <a:off x="907369" y="990191"/>
                <a:ext cx="6564994" cy="5010559"/>
              </a:xfrm>
              <a:blipFill>
                <a:blip r:embed="rId4"/>
                <a:stretch>
                  <a:fillRect b="-1582"/>
                </a:stretch>
              </a:blipFill>
            </p:spPr>
            <p:txBody>
              <a:bodyPr/>
              <a:lstStyle/>
              <a:p>
                <a:r>
                  <a:rPr lang="en-US">
                    <a:noFill/>
                  </a:rPr>
                  <a:t> </a:t>
                </a:r>
              </a:p>
            </p:txBody>
          </p:sp>
        </mc:Fallback>
      </mc:AlternateContent>
      <p:pic>
        <p:nvPicPr>
          <p:cNvPr id="2" name="Picture 1"/>
          <p:cNvPicPr>
            <a:picLocks noChangeAspect="1"/>
          </p:cNvPicPr>
          <p:nvPr/>
        </p:nvPicPr>
        <p:blipFill>
          <a:blip r:embed="rId5"/>
          <a:stretch>
            <a:fillRect/>
          </a:stretch>
        </p:blipFill>
        <p:spPr>
          <a:xfrm>
            <a:off x="7086599" y="262816"/>
            <a:ext cx="4537363" cy="3019299"/>
          </a:xfrm>
          <a:prstGeom prst="rect">
            <a:avLst/>
          </a:prstGeom>
        </p:spPr>
      </p:pic>
    </p:spTree>
    <p:extLst>
      <p:ext uri="{BB962C8B-B14F-4D97-AF65-F5344CB8AC3E}">
        <p14:creationId xmlns:p14="http://schemas.microsoft.com/office/powerpoint/2010/main" val="2860297174"/>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E652949D-9E15-D7AF-6330-7B242A0CC5CF}"/>
            </a:ext>
          </a:extLst>
        </p:cNvPr>
        <p:cNvGrpSpPr/>
        <p:nvPr/>
      </p:nvGrpSpPr>
      <p:grpSpPr>
        <a:xfrm>
          <a:off x="0" y="0"/>
          <a:ext cx="0" cy="0"/>
          <a:chOff x="0" y="0"/>
          <a:chExt cx="0" cy="0"/>
        </a:xfrm>
      </p:grpSpPr>
      <p:sp>
        <p:nvSpPr>
          <p:cNvPr id="100" name="Google Shape;100;p2">
            <a:extLst>
              <a:ext uri="{FF2B5EF4-FFF2-40B4-BE49-F238E27FC236}">
                <a16:creationId xmlns:a16="http://schemas.microsoft.com/office/drawing/2014/main" id="{97F005DA-AB36-6D29-A896-C4993A5A66F0}"/>
              </a:ext>
            </a:extLst>
          </p:cNvPr>
          <p:cNvSpPr txBox="1">
            <a:spLocks noGrp="1"/>
          </p:cNvSpPr>
          <p:nvPr>
            <p:ph type="ftr" idx="11"/>
          </p:nvPr>
        </p:nvSpPr>
        <p:spPr>
          <a:xfrm>
            <a:off x="4023236"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9CF18D97-4F13-D8C7-49C7-692D822ED4E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29</a:t>
            </a:fld>
            <a:endParaRPr/>
          </a:p>
        </p:txBody>
      </p:sp>
      <p:pic>
        <p:nvPicPr>
          <p:cNvPr id="102" name="Google Shape;102;p2">
            <a:extLst>
              <a:ext uri="{FF2B5EF4-FFF2-40B4-BE49-F238E27FC236}">
                <a16:creationId xmlns:a16="http://schemas.microsoft.com/office/drawing/2014/main" id="{494DFC75-B541-460F-A79A-5F3D1427A058}"/>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C855C895-95A7-C743-4CCA-5D434B8DEB8C}"/>
              </a:ext>
            </a:extLst>
          </p:cNvPr>
          <p:cNvSpPr>
            <a:spLocks noGrp="1"/>
          </p:cNvSpPr>
          <p:nvPr>
            <p:ph type="body" idx="1"/>
          </p:nvPr>
        </p:nvSpPr>
        <p:spPr>
          <a:xfrm>
            <a:off x="907370" y="990191"/>
            <a:ext cx="5479929" cy="5003033"/>
          </a:xfrm>
        </p:spPr>
        <p:txBody>
          <a:bodyPr>
            <a:normAutofit/>
          </a:bodyPr>
          <a:lstStyle/>
          <a:p>
            <a:pPr marL="114300" indent="0">
              <a:buNone/>
            </a:pPr>
            <a:endParaRPr lang="en-US" b="0" dirty="0"/>
          </a:p>
          <a:p>
            <a:pPr marL="114300" indent="0">
              <a:buNone/>
            </a:pPr>
            <a:endParaRPr lang="en-US" dirty="0"/>
          </a:p>
        </p:txBody>
      </p:sp>
      <p:pic>
        <p:nvPicPr>
          <p:cNvPr id="2" name="Picture 1"/>
          <p:cNvPicPr>
            <a:picLocks noChangeAspect="1"/>
          </p:cNvPicPr>
          <p:nvPr/>
        </p:nvPicPr>
        <p:blipFill>
          <a:blip r:embed="rId4"/>
          <a:stretch>
            <a:fillRect/>
          </a:stretch>
        </p:blipFill>
        <p:spPr>
          <a:xfrm>
            <a:off x="1050218" y="490540"/>
            <a:ext cx="9825600" cy="5502336"/>
          </a:xfrm>
          <a:prstGeom prst="rect">
            <a:avLst/>
          </a:prstGeom>
        </p:spPr>
      </p:pic>
    </p:spTree>
    <p:extLst>
      <p:ext uri="{BB962C8B-B14F-4D97-AF65-F5344CB8AC3E}">
        <p14:creationId xmlns:p14="http://schemas.microsoft.com/office/powerpoint/2010/main" val="69939088"/>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E652949D-9E15-D7AF-6330-7B242A0CC5CF}"/>
            </a:ext>
          </a:extLst>
        </p:cNvPr>
        <p:cNvGrpSpPr/>
        <p:nvPr/>
      </p:nvGrpSpPr>
      <p:grpSpPr>
        <a:xfrm>
          <a:off x="0" y="0"/>
          <a:ext cx="0" cy="0"/>
          <a:chOff x="0" y="0"/>
          <a:chExt cx="0" cy="0"/>
        </a:xfrm>
      </p:grpSpPr>
      <p:sp>
        <p:nvSpPr>
          <p:cNvPr id="100" name="Google Shape;100;p2">
            <a:extLst>
              <a:ext uri="{FF2B5EF4-FFF2-40B4-BE49-F238E27FC236}">
                <a16:creationId xmlns:a16="http://schemas.microsoft.com/office/drawing/2014/main" id="{97F005DA-AB36-6D29-A896-C4993A5A66F0}"/>
              </a:ext>
            </a:extLst>
          </p:cNvPr>
          <p:cNvSpPr txBox="1">
            <a:spLocks noGrp="1"/>
          </p:cNvSpPr>
          <p:nvPr>
            <p:ph type="ftr" idx="11"/>
          </p:nvPr>
        </p:nvSpPr>
        <p:spPr>
          <a:xfrm>
            <a:off x="4023236"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9CF18D97-4F13-D8C7-49C7-692D822ED4E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30</a:t>
            </a:fld>
            <a:endParaRPr/>
          </a:p>
        </p:txBody>
      </p:sp>
      <p:pic>
        <p:nvPicPr>
          <p:cNvPr id="102" name="Google Shape;102;p2">
            <a:extLst>
              <a:ext uri="{FF2B5EF4-FFF2-40B4-BE49-F238E27FC236}">
                <a16:creationId xmlns:a16="http://schemas.microsoft.com/office/drawing/2014/main" id="{494DFC75-B541-460F-A79A-5F3D1427A058}"/>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C855C895-95A7-C743-4CCA-5D434B8DEB8C}"/>
              </a:ext>
            </a:extLst>
          </p:cNvPr>
          <p:cNvSpPr>
            <a:spLocks noGrp="1"/>
          </p:cNvSpPr>
          <p:nvPr>
            <p:ph type="body" idx="1"/>
          </p:nvPr>
        </p:nvSpPr>
        <p:spPr>
          <a:xfrm>
            <a:off x="907370" y="990191"/>
            <a:ext cx="5479929" cy="5003033"/>
          </a:xfrm>
        </p:spPr>
        <p:txBody>
          <a:bodyPr>
            <a:normAutofit/>
          </a:bodyPr>
          <a:lstStyle/>
          <a:p>
            <a:pPr marL="114300" indent="0">
              <a:buNone/>
            </a:pPr>
            <a:endParaRPr lang="en-US" b="0" dirty="0"/>
          </a:p>
          <a:p>
            <a:pPr marL="114300" indent="0">
              <a:buNone/>
            </a:pPr>
            <a:endParaRPr lang="en-US" dirty="0"/>
          </a:p>
        </p:txBody>
      </p:sp>
      <p:pic>
        <p:nvPicPr>
          <p:cNvPr id="4" name="Picture 3"/>
          <p:cNvPicPr>
            <a:picLocks noChangeAspect="1"/>
          </p:cNvPicPr>
          <p:nvPr/>
        </p:nvPicPr>
        <p:blipFill>
          <a:blip r:embed="rId4"/>
          <a:stretch>
            <a:fillRect/>
          </a:stretch>
        </p:blipFill>
        <p:spPr>
          <a:xfrm>
            <a:off x="1515843" y="706430"/>
            <a:ext cx="8745622" cy="5029352"/>
          </a:xfrm>
          <a:prstGeom prst="rect">
            <a:avLst/>
          </a:prstGeom>
        </p:spPr>
      </p:pic>
    </p:spTree>
    <p:extLst>
      <p:ext uri="{BB962C8B-B14F-4D97-AF65-F5344CB8AC3E}">
        <p14:creationId xmlns:p14="http://schemas.microsoft.com/office/powerpoint/2010/main" val="2914778192"/>
      </p:ext>
    </p:extLst>
  </p:cSld>
  <p:clrMapOvr>
    <a:masterClrMapping/>
  </p:clrMapOvr>
  <p:transition spd="slow">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3750</TotalTime>
  <Words>1577</Words>
  <Application>Microsoft Office PowerPoint</Application>
  <PresentationFormat>Widescreen</PresentationFormat>
  <Paragraphs>317</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Cambria Math</vt:lpstr>
      <vt:lpstr>Times New Roman</vt:lpstr>
      <vt:lpstr>Wingdings</vt:lpstr>
      <vt:lpstr>Office Theme</vt:lpstr>
      <vt:lpstr>CSE 350 Digital Electronics and Pulse Techniques </vt:lpstr>
      <vt:lpstr>Analog to Digital Converter (ADC)</vt:lpstr>
      <vt:lpstr>Analog to Digital Converter (ADC)</vt:lpstr>
      <vt:lpstr>A/D conversion process</vt:lpstr>
      <vt:lpstr>Sampling</vt:lpstr>
      <vt:lpstr>Sampling</vt:lpstr>
      <vt:lpstr>Quantization:</vt:lpstr>
      <vt:lpstr>Midrise Quantization:</vt:lpstr>
      <vt:lpstr>Mid tread Quantization ( Not symmetrical and Equally Spaced)</vt:lpstr>
      <vt:lpstr>Encoding</vt:lpstr>
      <vt:lpstr>Quantization Range, Level, code</vt:lpstr>
      <vt:lpstr>Quantization Range, Level, code</vt:lpstr>
      <vt:lpstr>Quantization Range, Level, code</vt:lpstr>
      <vt:lpstr>Flash A/D converter</vt:lpstr>
      <vt:lpstr>Op-Amp </vt:lpstr>
      <vt:lpstr>Flash ADC design </vt:lpstr>
      <vt:lpstr>Flash ADC design </vt:lpstr>
      <vt:lpstr>Circuit</vt:lpstr>
      <vt:lpstr>Circuit Analysis</vt:lpstr>
      <vt:lpstr>Circuit Analysis</vt:lpstr>
      <vt:lpstr>Circuit Analysis</vt:lpstr>
      <vt:lpstr>Circuit Analysis</vt:lpstr>
      <vt:lpstr>Quantization Error</vt:lpstr>
      <vt:lpstr>Problem:</vt:lpstr>
      <vt:lpstr>Dual Slope ADC</vt:lpstr>
      <vt:lpstr>Dual Slope ADC</vt:lpstr>
      <vt:lpstr>Dual Slope ADC</vt:lpstr>
      <vt:lpstr>Dual Slope ADC</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350 Digital Electronics and Pulse Techniques </dc:title>
  <dc:creator>nazmul turjo</dc:creator>
  <cp:lastModifiedBy>USER</cp:lastModifiedBy>
  <cp:revision>61</cp:revision>
  <dcterms:created xsi:type="dcterms:W3CDTF">2021-07-10T07:14:46Z</dcterms:created>
  <dcterms:modified xsi:type="dcterms:W3CDTF">2025-10-11T16:10:44Z</dcterms:modified>
</cp:coreProperties>
</file>