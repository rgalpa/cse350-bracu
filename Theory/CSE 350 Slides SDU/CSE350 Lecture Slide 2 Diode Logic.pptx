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321" r:id="rId3"/>
    <p:sldId id="323" r:id="rId4"/>
    <p:sldId id="277" r:id="rId5"/>
    <p:sldId id="278" r:id="rId6"/>
    <p:sldId id="279" r:id="rId7"/>
    <p:sldId id="280" r:id="rId8"/>
    <p:sldId id="274" r:id="rId9"/>
    <p:sldId id="275" r:id="rId10"/>
    <p:sldId id="300" r:id="rId11"/>
    <p:sldId id="276" r:id="rId12"/>
    <p:sldId id="309" r:id="rId13"/>
    <p:sldId id="301" r:id="rId14"/>
    <p:sldId id="302" r:id="rId15"/>
    <p:sldId id="317" r:id="rId16"/>
    <p:sldId id="303" r:id="rId17"/>
    <p:sldId id="310" r:id="rId18"/>
    <p:sldId id="311" r:id="rId19"/>
    <p:sldId id="312" r:id="rId20"/>
    <p:sldId id="304" r:id="rId21"/>
    <p:sldId id="313" r:id="rId22"/>
    <p:sldId id="314" r:id="rId23"/>
    <p:sldId id="318" r:id="rId24"/>
    <p:sldId id="315" r:id="rId25"/>
    <p:sldId id="316" r:id="rId26"/>
    <p:sldId id="319" r:id="rId27"/>
    <p:sldId id="320" r:id="rId2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gOP7mpHQ9vA4PFHviNNnNqE8hH7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6FA7CD0-2ED7-4127-A139-062385FC596B}">
  <a:tblStyle styleId="{E6FA7CD0-2ED7-4127-A139-062385FC596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5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DB27811-7364-402C-A575-A819568D0BF9}" type="doc">
      <dgm:prSet loTypeId="urn:microsoft.com/office/officeart/2005/8/layout/orgChart1" loCatId="hierarchy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37D1E7E8-955F-42AB-ADFA-AC15421B2514}">
      <dgm:prSet phldrT="[Text]" custT="1"/>
      <dgm:spPr/>
      <dgm:t>
        <a:bodyPr/>
        <a:lstStyle/>
        <a:p>
          <a:r>
            <a:rPr lang="en-US" sz="1600" b="1" dirty="0"/>
            <a:t>Digital Logic Families</a:t>
          </a:r>
        </a:p>
      </dgm:t>
    </dgm:pt>
    <dgm:pt modelId="{A4A30608-EACC-4775-B63B-C6244BE5157C}" type="parTrans" cxnId="{2EB1AB16-C4F8-4F13-ABAD-4A5832E77694}">
      <dgm:prSet/>
      <dgm:spPr/>
      <dgm:t>
        <a:bodyPr/>
        <a:lstStyle/>
        <a:p>
          <a:endParaRPr lang="en-US"/>
        </a:p>
      </dgm:t>
    </dgm:pt>
    <dgm:pt modelId="{2BEBEC8C-1A4C-4FF1-9527-348A728D4CBA}" type="sibTrans" cxnId="{2EB1AB16-C4F8-4F13-ABAD-4A5832E77694}">
      <dgm:prSet/>
      <dgm:spPr/>
      <dgm:t>
        <a:bodyPr/>
        <a:lstStyle/>
        <a:p>
          <a:endParaRPr lang="en-US"/>
        </a:p>
      </dgm:t>
    </dgm:pt>
    <dgm:pt modelId="{C1D02861-A78D-4835-B4FF-C8DE9381F8E8}">
      <dgm:prSet phldrT="[Text]" custT="1"/>
      <dgm:spPr/>
      <dgm:t>
        <a:bodyPr/>
        <a:lstStyle/>
        <a:p>
          <a:r>
            <a:rPr lang="en-US" sz="1600" dirty="0"/>
            <a:t>Bipolar logic families</a:t>
          </a:r>
        </a:p>
        <a:p>
          <a:r>
            <a:rPr lang="en-US" sz="1600" dirty="0"/>
            <a:t>(electron and hole both are used as  charge carrier)</a:t>
          </a:r>
        </a:p>
        <a:p>
          <a:r>
            <a:rPr lang="en-US" sz="1600" dirty="0"/>
            <a:t>Example: BJTs</a:t>
          </a:r>
        </a:p>
      </dgm:t>
    </dgm:pt>
    <dgm:pt modelId="{E714C221-2D9D-4937-AE4B-39B48A1748F2}" type="parTrans" cxnId="{6B94A1A0-4ED7-4E97-BBD4-4E44B0777459}">
      <dgm:prSet/>
      <dgm:spPr/>
      <dgm:t>
        <a:bodyPr/>
        <a:lstStyle/>
        <a:p>
          <a:endParaRPr lang="en-US"/>
        </a:p>
      </dgm:t>
    </dgm:pt>
    <dgm:pt modelId="{50B1DC41-CD06-4CFF-BEFF-6E22CA75D755}" type="sibTrans" cxnId="{6B94A1A0-4ED7-4E97-BBD4-4E44B0777459}">
      <dgm:prSet/>
      <dgm:spPr/>
      <dgm:t>
        <a:bodyPr/>
        <a:lstStyle/>
        <a:p>
          <a:endParaRPr lang="en-US"/>
        </a:p>
      </dgm:t>
    </dgm:pt>
    <dgm:pt modelId="{80A8EA08-5815-4570-869D-2A4038FAE274}">
      <dgm:prSet phldrT="[Text]" custT="1"/>
      <dgm:spPr/>
      <dgm:t>
        <a:bodyPr/>
        <a:lstStyle/>
        <a:p>
          <a:r>
            <a:rPr lang="en-US" sz="1600" b="0" dirty="0"/>
            <a:t>Unipolar logic families</a:t>
          </a:r>
        </a:p>
        <a:p>
          <a:r>
            <a:rPr lang="en-US" sz="1600" b="0" dirty="0"/>
            <a:t>(Only one type of charge carrier dominates)</a:t>
          </a:r>
        </a:p>
        <a:p>
          <a:r>
            <a:rPr lang="en-US" sz="1600" b="0" dirty="0"/>
            <a:t>Example: MOSFET, JFET</a:t>
          </a:r>
        </a:p>
        <a:p>
          <a:r>
            <a:rPr lang="en-US" sz="1600" b="0" dirty="0" err="1"/>
            <a:t>i</a:t>
          </a:r>
          <a:r>
            <a:rPr lang="en-US" sz="1600" b="0" dirty="0"/>
            <a:t>. PMOS logic families</a:t>
          </a:r>
        </a:p>
        <a:p>
          <a:r>
            <a:rPr lang="en-US" sz="1600" b="0" dirty="0"/>
            <a:t>ii. NMOS logic families</a:t>
          </a:r>
        </a:p>
        <a:p>
          <a:r>
            <a:rPr lang="en-US" sz="1600" b="0" dirty="0"/>
            <a:t>iii. CMOS logic families</a:t>
          </a:r>
        </a:p>
      </dgm:t>
    </dgm:pt>
    <dgm:pt modelId="{11975C42-9ECF-4D8F-AD17-85049FF6D1AC}" type="parTrans" cxnId="{1548A41E-111D-4EF2-A05A-7F3846333AAF}">
      <dgm:prSet/>
      <dgm:spPr/>
      <dgm:t>
        <a:bodyPr/>
        <a:lstStyle/>
        <a:p>
          <a:endParaRPr lang="en-US"/>
        </a:p>
      </dgm:t>
    </dgm:pt>
    <dgm:pt modelId="{EDB00620-ACAE-43F0-B9B1-C9B961061FEC}" type="sibTrans" cxnId="{1548A41E-111D-4EF2-A05A-7F3846333AAF}">
      <dgm:prSet/>
      <dgm:spPr/>
      <dgm:t>
        <a:bodyPr/>
        <a:lstStyle/>
        <a:p>
          <a:endParaRPr lang="en-US"/>
        </a:p>
      </dgm:t>
    </dgm:pt>
    <dgm:pt modelId="{D9053975-25DA-4A2C-89D3-D3B1BA595DED}">
      <dgm:prSet phldrT="[Text]" custT="1"/>
      <dgm:spPr/>
      <dgm:t>
        <a:bodyPr/>
        <a:lstStyle/>
        <a:p>
          <a:r>
            <a:rPr lang="en-US" sz="1600" dirty="0"/>
            <a:t>Saturated </a:t>
          </a:r>
        </a:p>
        <a:p>
          <a:r>
            <a:rPr lang="en-US" sz="1600" dirty="0"/>
            <a:t>(saturation and Cutoff)</a:t>
          </a:r>
        </a:p>
      </dgm:t>
    </dgm:pt>
    <dgm:pt modelId="{8A50A80C-93E0-4564-9CD1-7C2090E27AA8}" type="parTrans" cxnId="{0AD382E7-58BC-4CF9-AB2F-27E3B8624B5A}">
      <dgm:prSet/>
      <dgm:spPr/>
      <dgm:t>
        <a:bodyPr/>
        <a:lstStyle/>
        <a:p>
          <a:endParaRPr lang="en-US"/>
        </a:p>
      </dgm:t>
    </dgm:pt>
    <dgm:pt modelId="{9FE940F2-9849-4CAA-8CE1-3DE1DD756FDC}" type="sibTrans" cxnId="{0AD382E7-58BC-4CF9-AB2F-27E3B8624B5A}">
      <dgm:prSet/>
      <dgm:spPr/>
      <dgm:t>
        <a:bodyPr/>
        <a:lstStyle/>
        <a:p>
          <a:endParaRPr lang="en-US"/>
        </a:p>
      </dgm:t>
    </dgm:pt>
    <dgm:pt modelId="{4B0836FE-3A3C-4D1B-8116-EBE397B6C273}">
      <dgm:prSet phldrT="[Text]" custT="1"/>
      <dgm:spPr/>
      <dgm:t>
        <a:bodyPr/>
        <a:lstStyle/>
        <a:p>
          <a:r>
            <a:rPr lang="en-US" sz="1600" dirty="0"/>
            <a:t>Unsaturated </a:t>
          </a:r>
        </a:p>
        <a:p>
          <a:r>
            <a:rPr lang="en-US" sz="1600" dirty="0"/>
            <a:t>(Active &amp; Cutoff)</a:t>
          </a:r>
        </a:p>
      </dgm:t>
    </dgm:pt>
    <dgm:pt modelId="{C8774B50-4E76-44FE-B32D-71AB0C4D3E6C}" type="parTrans" cxnId="{83B72E85-85DC-4429-B7B6-DADAEB901ED7}">
      <dgm:prSet/>
      <dgm:spPr/>
      <dgm:t>
        <a:bodyPr/>
        <a:lstStyle/>
        <a:p>
          <a:endParaRPr lang="en-US"/>
        </a:p>
      </dgm:t>
    </dgm:pt>
    <dgm:pt modelId="{DD7C7882-73A6-4207-91AC-4CE848645151}" type="sibTrans" cxnId="{83B72E85-85DC-4429-B7B6-DADAEB901ED7}">
      <dgm:prSet/>
      <dgm:spPr/>
      <dgm:t>
        <a:bodyPr/>
        <a:lstStyle/>
        <a:p>
          <a:endParaRPr lang="en-US"/>
        </a:p>
      </dgm:t>
    </dgm:pt>
    <dgm:pt modelId="{21864EC7-7879-46B7-9A66-226A3A07C16A}" type="pres">
      <dgm:prSet presAssocID="{ADB27811-7364-402C-A575-A819568D0BF9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12C77C8-D215-4C1B-918F-6423605416A8}" type="pres">
      <dgm:prSet presAssocID="{37D1E7E8-955F-42AB-ADFA-AC15421B2514}" presName="hierRoot1" presStyleCnt="0">
        <dgm:presLayoutVars>
          <dgm:hierBranch val="init"/>
        </dgm:presLayoutVars>
      </dgm:prSet>
      <dgm:spPr/>
    </dgm:pt>
    <dgm:pt modelId="{5CE822E6-56E8-4316-AB7B-D760950A4C4A}" type="pres">
      <dgm:prSet presAssocID="{37D1E7E8-955F-42AB-ADFA-AC15421B2514}" presName="rootComposite1" presStyleCnt="0"/>
      <dgm:spPr/>
    </dgm:pt>
    <dgm:pt modelId="{9E2F23A6-31A2-4E1B-A54F-793A3A2DD7A4}" type="pres">
      <dgm:prSet presAssocID="{37D1E7E8-955F-42AB-ADFA-AC15421B2514}" presName="rootText1" presStyleLbl="node0" presStyleIdx="0" presStyleCnt="3" custScaleX="102024" custScaleY="63251" custLinFactNeighborX="56390" custLinFactNeighborY="-37758">
        <dgm:presLayoutVars>
          <dgm:chPref val="3"/>
        </dgm:presLayoutVars>
      </dgm:prSet>
      <dgm:spPr/>
    </dgm:pt>
    <dgm:pt modelId="{F440C1BD-5814-4F90-B2B6-06BF9C32DFD5}" type="pres">
      <dgm:prSet presAssocID="{37D1E7E8-955F-42AB-ADFA-AC15421B2514}" presName="rootConnector1" presStyleLbl="node1" presStyleIdx="0" presStyleCnt="0"/>
      <dgm:spPr/>
    </dgm:pt>
    <dgm:pt modelId="{FE3A0090-45FF-4935-B7CE-66D6AA467DBB}" type="pres">
      <dgm:prSet presAssocID="{37D1E7E8-955F-42AB-ADFA-AC15421B2514}" presName="hierChild2" presStyleCnt="0"/>
      <dgm:spPr/>
    </dgm:pt>
    <dgm:pt modelId="{762D85F5-BC9D-4DAE-83B9-AE95F4543241}" type="pres">
      <dgm:prSet presAssocID="{E714C221-2D9D-4937-AE4B-39B48A1748F2}" presName="Name37" presStyleLbl="parChTrans1D2" presStyleIdx="0" presStyleCnt="2"/>
      <dgm:spPr/>
    </dgm:pt>
    <dgm:pt modelId="{98F1AE83-42D4-459C-A29E-E39261373AE4}" type="pres">
      <dgm:prSet presAssocID="{C1D02861-A78D-4835-B4FF-C8DE9381F8E8}" presName="hierRoot2" presStyleCnt="0">
        <dgm:presLayoutVars>
          <dgm:hierBranch val="init"/>
        </dgm:presLayoutVars>
      </dgm:prSet>
      <dgm:spPr/>
    </dgm:pt>
    <dgm:pt modelId="{56505567-3242-4EDF-A650-20BC3D5D9762}" type="pres">
      <dgm:prSet presAssocID="{C1D02861-A78D-4835-B4FF-C8DE9381F8E8}" presName="rootComposite" presStyleCnt="0"/>
      <dgm:spPr/>
    </dgm:pt>
    <dgm:pt modelId="{B2FC97A2-4936-4438-8984-6DB301346B41}" type="pres">
      <dgm:prSet presAssocID="{C1D02861-A78D-4835-B4FF-C8DE9381F8E8}" presName="rootText" presStyleLbl="node2" presStyleIdx="0" presStyleCnt="2" custScaleX="151925" custScaleY="80016" custLinFactNeighborX="34571" custLinFactNeighborY="-15279">
        <dgm:presLayoutVars>
          <dgm:chPref val="3"/>
        </dgm:presLayoutVars>
      </dgm:prSet>
      <dgm:spPr/>
    </dgm:pt>
    <dgm:pt modelId="{159177B8-798B-476F-8954-98362B554E58}" type="pres">
      <dgm:prSet presAssocID="{C1D02861-A78D-4835-B4FF-C8DE9381F8E8}" presName="rootConnector" presStyleLbl="node2" presStyleIdx="0" presStyleCnt="2"/>
      <dgm:spPr/>
    </dgm:pt>
    <dgm:pt modelId="{BFEC556D-2700-473C-ADAB-D45DE9C92B88}" type="pres">
      <dgm:prSet presAssocID="{C1D02861-A78D-4835-B4FF-C8DE9381F8E8}" presName="hierChild4" presStyleCnt="0"/>
      <dgm:spPr/>
    </dgm:pt>
    <dgm:pt modelId="{AC277670-DD7F-4B00-92E5-093AB047ADE7}" type="pres">
      <dgm:prSet presAssocID="{C1D02861-A78D-4835-B4FF-C8DE9381F8E8}" presName="hierChild5" presStyleCnt="0"/>
      <dgm:spPr/>
    </dgm:pt>
    <dgm:pt modelId="{39C3DD7B-4E68-4999-B5A6-52195E55966B}" type="pres">
      <dgm:prSet presAssocID="{11975C42-9ECF-4D8F-AD17-85049FF6D1AC}" presName="Name37" presStyleLbl="parChTrans1D2" presStyleIdx="1" presStyleCnt="2"/>
      <dgm:spPr/>
    </dgm:pt>
    <dgm:pt modelId="{11E029CE-E5E8-4B83-B3CB-C783D2BFD92A}" type="pres">
      <dgm:prSet presAssocID="{80A8EA08-5815-4570-869D-2A4038FAE274}" presName="hierRoot2" presStyleCnt="0">
        <dgm:presLayoutVars>
          <dgm:hierBranch val="init"/>
        </dgm:presLayoutVars>
      </dgm:prSet>
      <dgm:spPr/>
    </dgm:pt>
    <dgm:pt modelId="{0499A424-97C1-4FB1-A925-A6139D636544}" type="pres">
      <dgm:prSet presAssocID="{80A8EA08-5815-4570-869D-2A4038FAE274}" presName="rootComposite" presStyleCnt="0"/>
      <dgm:spPr/>
    </dgm:pt>
    <dgm:pt modelId="{01078189-507E-44B1-80AF-ABDD62A8B37B}" type="pres">
      <dgm:prSet presAssocID="{80A8EA08-5815-4570-869D-2A4038FAE274}" presName="rootText" presStyleLbl="node2" presStyleIdx="1" presStyleCnt="2" custScaleX="135941" custScaleY="172654" custLinFactNeighborX="96232" custLinFactNeighborY="-15688">
        <dgm:presLayoutVars>
          <dgm:chPref val="3"/>
        </dgm:presLayoutVars>
      </dgm:prSet>
      <dgm:spPr/>
    </dgm:pt>
    <dgm:pt modelId="{43ED48F6-E6E6-4104-AB9D-9ECF7FC30FB2}" type="pres">
      <dgm:prSet presAssocID="{80A8EA08-5815-4570-869D-2A4038FAE274}" presName="rootConnector" presStyleLbl="node2" presStyleIdx="1" presStyleCnt="2"/>
      <dgm:spPr/>
    </dgm:pt>
    <dgm:pt modelId="{F00134B6-0D61-4DAE-A10F-9FCB48136A6F}" type="pres">
      <dgm:prSet presAssocID="{80A8EA08-5815-4570-869D-2A4038FAE274}" presName="hierChild4" presStyleCnt="0"/>
      <dgm:spPr/>
    </dgm:pt>
    <dgm:pt modelId="{D179D9DD-EA10-472A-B7DD-D420FF249F06}" type="pres">
      <dgm:prSet presAssocID="{80A8EA08-5815-4570-869D-2A4038FAE274}" presName="hierChild5" presStyleCnt="0"/>
      <dgm:spPr/>
    </dgm:pt>
    <dgm:pt modelId="{A35C1774-F4F7-4782-A976-030A9D83D541}" type="pres">
      <dgm:prSet presAssocID="{37D1E7E8-955F-42AB-ADFA-AC15421B2514}" presName="hierChild3" presStyleCnt="0"/>
      <dgm:spPr/>
    </dgm:pt>
    <dgm:pt modelId="{97125795-88BE-4F52-941A-08902468E0EA}" type="pres">
      <dgm:prSet presAssocID="{D9053975-25DA-4A2C-89D3-D3B1BA595DED}" presName="hierRoot1" presStyleCnt="0">
        <dgm:presLayoutVars>
          <dgm:hierBranch val="init"/>
        </dgm:presLayoutVars>
      </dgm:prSet>
      <dgm:spPr/>
    </dgm:pt>
    <dgm:pt modelId="{0ACA5B9E-403F-4B1B-8D44-14652831E0DA}" type="pres">
      <dgm:prSet presAssocID="{D9053975-25DA-4A2C-89D3-D3B1BA595DED}" presName="rootComposite1" presStyleCnt="0"/>
      <dgm:spPr/>
    </dgm:pt>
    <dgm:pt modelId="{1D0FD7FF-3D5D-4F8F-91D7-A99437B72CF1}" type="pres">
      <dgm:prSet presAssocID="{D9053975-25DA-4A2C-89D3-D3B1BA595DED}" presName="rootText1" presStyleLbl="node0" presStyleIdx="1" presStyleCnt="3" custScaleX="86810" custScaleY="59579" custLinFactX="-100000" custLinFactY="100000" custLinFactNeighborX="-101273" custLinFactNeighborY="131428">
        <dgm:presLayoutVars>
          <dgm:chPref val="3"/>
        </dgm:presLayoutVars>
      </dgm:prSet>
      <dgm:spPr/>
    </dgm:pt>
    <dgm:pt modelId="{CDF3ECE9-41CB-4166-96E5-9E206532A5E9}" type="pres">
      <dgm:prSet presAssocID="{D9053975-25DA-4A2C-89D3-D3B1BA595DED}" presName="rootConnector1" presStyleLbl="node1" presStyleIdx="0" presStyleCnt="0"/>
      <dgm:spPr/>
    </dgm:pt>
    <dgm:pt modelId="{60538342-AD58-4D4C-8F5E-62D523184A47}" type="pres">
      <dgm:prSet presAssocID="{D9053975-25DA-4A2C-89D3-D3B1BA595DED}" presName="hierChild2" presStyleCnt="0"/>
      <dgm:spPr/>
    </dgm:pt>
    <dgm:pt modelId="{97D875BC-CC00-4978-B71E-19C2AA039541}" type="pres">
      <dgm:prSet presAssocID="{D9053975-25DA-4A2C-89D3-D3B1BA595DED}" presName="hierChild3" presStyleCnt="0"/>
      <dgm:spPr/>
    </dgm:pt>
    <dgm:pt modelId="{F0D16D1D-2B07-40D7-9A97-6FA616DC6A79}" type="pres">
      <dgm:prSet presAssocID="{4B0836FE-3A3C-4D1B-8116-EBE397B6C273}" presName="hierRoot1" presStyleCnt="0">
        <dgm:presLayoutVars>
          <dgm:hierBranch val="init"/>
        </dgm:presLayoutVars>
      </dgm:prSet>
      <dgm:spPr/>
    </dgm:pt>
    <dgm:pt modelId="{92E4ED6E-12E2-418E-A300-AF17BB2FF131}" type="pres">
      <dgm:prSet presAssocID="{4B0836FE-3A3C-4D1B-8116-EBE397B6C273}" presName="rootComposite1" presStyleCnt="0"/>
      <dgm:spPr/>
    </dgm:pt>
    <dgm:pt modelId="{6C8B1E48-61F4-4B63-A75D-A36ADDF5C205}" type="pres">
      <dgm:prSet presAssocID="{4B0836FE-3A3C-4D1B-8116-EBE397B6C273}" presName="rootText1" presStyleLbl="node0" presStyleIdx="2" presStyleCnt="3" custScaleX="82564" custScaleY="61729" custLinFactX="-81940" custLinFactY="100000" custLinFactNeighborX="-100000" custLinFactNeighborY="130248">
        <dgm:presLayoutVars>
          <dgm:chPref val="3"/>
        </dgm:presLayoutVars>
      </dgm:prSet>
      <dgm:spPr/>
    </dgm:pt>
    <dgm:pt modelId="{225F7B16-5FA5-4607-A2E5-19F8BA6DC9F1}" type="pres">
      <dgm:prSet presAssocID="{4B0836FE-3A3C-4D1B-8116-EBE397B6C273}" presName="rootConnector1" presStyleLbl="node1" presStyleIdx="0" presStyleCnt="0"/>
      <dgm:spPr/>
    </dgm:pt>
    <dgm:pt modelId="{5A066BFE-6BD4-47A8-A107-F0021351A0DC}" type="pres">
      <dgm:prSet presAssocID="{4B0836FE-3A3C-4D1B-8116-EBE397B6C273}" presName="hierChild2" presStyleCnt="0"/>
      <dgm:spPr/>
    </dgm:pt>
    <dgm:pt modelId="{AEF547CC-ECB7-4D6D-94F2-89A7FB9D9AE4}" type="pres">
      <dgm:prSet presAssocID="{4B0836FE-3A3C-4D1B-8116-EBE397B6C273}" presName="hierChild3" presStyleCnt="0"/>
      <dgm:spPr/>
    </dgm:pt>
  </dgm:ptLst>
  <dgm:cxnLst>
    <dgm:cxn modelId="{8068CB00-E7E1-48AC-8416-FB2BE73A3AA5}" type="presOf" srcId="{D9053975-25DA-4A2C-89D3-D3B1BA595DED}" destId="{CDF3ECE9-41CB-4166-96E5-9E206532A5E9}" srcOrd="1" destOrd="0" presId="urn:microsoft.com/office/officeart/2005/8/layout/orgChart1"/>
    <dgm:cxn modelId="{2EB1AB16-C4F8-4F13-ABAD-4A5832E77694}" srcId="{ADB27811-7364-402C-A575-A819568D0BF9}" destId="{37D1E7E8-955F-42AB-ADFA-AC15421B2514}" srcOrd="0" destOrd="0" parTransId="{A4A30608-EACC-4775-B63B-C6244BE5157C}" sibTransId="{2BEBEC8C-1A4C-4FF1-9527-348A728D4CBA}"/>
    <dgm:cxn modelId="{2B83721B-E6EE-42A1-AE4B-23267C76A847}" type="presOf" srcId="{80A8EA08-5815-4570-869D-2A4038FAE274}" destId="{01078189-507E-44B1-80AF-ABDD62A8B37B}" srcOrd="0" destOrd="0" presId="urn:microsoft.com/office/officeart/2005/8/layout/orgChart1"/>
    <dgm:cxn modelId="{6348CA1C-E450-49DD-A533-1F20B21948E3}" type="presOf" srcId="{37D1E7E8-955F-42AB-ADFA-AC15421B2514}" destId="{F440C1BD-5814-4F90-B2B6-06BF9C32DFD5}" srcOrd="1" destOrd="0" presId="urn:microsoft.com/office/officeart/2005/8/layout/orgChart1"/>
    <dgm:cxn modelId="{1548A41E-111D-4EF2-A05A-7F3846333AAF}" srcId="{37D1E7E8-955F-42AB-ADFA-AC15421B2514}" destId="{80A8EA08-5815-4570-869D-2A4038FAE274}" srcOrd="1" destOrd="0" parTransId="{11975C42-9ECF-4D8F-AD17-85049FF6D1AC}" sibTransId="{EDB00620-ACAE-43F0-B9B1-C9B961061FEC}"/>
    <dgm:cxn modelId="{40804E3C-A4F6-49B2-A178-620486A12C61}" type="presOf" srcId="{D9053975-25DA-4A2C-89D3-D3B1BA595DED}" destId="{1D0FD7FF-3D5D-4F8F-91D7-A99437B72CF1}" srcOrd="0" destOrd="0" presId="urn:microsoft.com/office/officeart/2005/8/layout/orgChart1"/>
    <dgm:cxn modelId="{BB014847-78B7-4F1D-8C9D-65B060C97986}" type="presOf" srcId="{80A8EA08-5815-4570-869D-2A4038FAE274}" destId="{43ED48F6-E6E6-4104-AB9D-9ECF7FC30FB2}" srcOrd="1" destOrd="0" presId="urn:microsoft.com/office/officeart/2005/8/layout/orgChart1"/>
    <dgm:cxn modelId="{990EAD4C-E06D-4915-93CD-9B1366BCFCC0}" type="presOf" srcId="{11975C42-9ECF-4D8F-AD17-85049FF6D1AC}" destId="{39C3DD7B-4E68-4999-B5A6-52195E55966B}" srcOrd="0" destOrd="0" presId="urn:microsoft.com/office/officeart/2005/8/layout/orgChart1"/>
    <dgm:cxn modelId="{E796797F-330B-437B-9D6A-496469EA4A36}" type="presOf" srcId="{4B0836FE-3A3C-4D1B-8116-EBE397B6C273}" destId="{6C8B1E48-61F4-4B63-A75D-A36ADDF5C205}" srcOrd="0" destOrd="0" presId="urn:microsoft.com/office/officeart/2005/8/layout/orgChart1"/>
    <dgm:cxn modelId="{83B72E85-85DC-4429-B7B6-DADAEB901ED7}" srcId="{ADB27811-7364-402C-A575-A819568D0BF9}" destId="{4B0836FE-3A3C-4D1B-8116-EBE397B6C273}" srcOrd="2" destOrd="0" parTransId="{C8774B50-4E76-44FE-B32D-71AB0C4D3E6C}" sibTransId="{DD7C7882-73A6-4207-91AC-4CE848645151}"/>
    <dgm:cxn modelId="{15588088-F671-4029-A2FB-A381B103E3DF}" type="presOf" srcId="{C1D02861-A78D-4835-B4FF-C8DE9381F8E8}" destId="{159177B8-798B-476F-8954-98362B554E58}" srcOrd="1" destOrd="0" presId="urn:microsoft.com/office/officeart/2005/8/layout/orgChart1"/>
    <dgm:cxn modelId="{D4D71E89-E451-4FC5-8F0C-FFDA4CC7025F}" type="presOf" srcId="{4B0836FE-3A3C-4D1B-8116-EBE397B6C273}" destId="{225F7B16-5FA5-4607-A2E5-19F8BA6DC9F1}" srcOrd="1" destOrd="0" presId="urn:microsoft.com/office/officeart/2005/8/layout/orgChart1"/>
    <dgm:cxn modelId="{4A4DE78A-C0F9-49CA-AC09-3AB587CDF6F5}" type="presOf" srcId="{E714C221-2D9D-4937-AE4B-39B48A1748F2}" destId="{762D85F5-BC9D-4DAE-83B9-AE95F4543241}" srcOrd="0" destOrd="0" presId="urn:microsoft.com/office/officeart/2005/8/layout/orgChart1"/>
    <dgm:cxn modelId="{6B94A1A0-4ED7-4E97-BBD4-4E44B0777459}" srcId="{37D1E7E8-955F-42AB-ADFA-AC15421B2514}" destId="{C1D02861-A78D-4835-B4FF-C8DE9381F8E8}" srcOrd="0" destOrd="0" parTransId="{E714C221-2D9D-4937-AE4B-39B48A1748F2}" sibTransId="{50B1DC41-CD06-4CFF-BEFF-6E22CA75D755}"/>
    <dgm:cxn modelId="{DFA126AF-81DB-4183-A915-286090AD004F}" type="presOf" srcId="{37D1E7E8-955F-42AB-ADFA-AC15421B2514}" destId="{9E2F23A6-31A2-4E1B-A54F-793A3A2DD7A4}" srcOrd="0" destOrd="0" presId="urn:microsoft.com/office/officeart/2005/8/layout/orgChart1"/>
    <dgm:cxn modelId="{95A9E0CE-F6B0-48C8-9EC7-04432BAF1001}" type="presOf" srcId="{C1D02861-A78D-4835-B4FF-C8DE9381F8E8}" destId="{B2FC97A2-4936-4438-8984-6DB301346B41}" srcOrd="0" destOrd="0" presId="urn:microsoft.com/office/officeart/2005/8/layout/orgChart1"/>
    <dgm:cxn modelId="{0AD382E7-58BC-4CF9-AB2F-27E3B8624B5A}" srcId="{ADB27811-7364-402C-A575-A819568D0BF9}" destId="{D9053975-25DA-4A2C-89D3-D3B1BA595DED}" srcOrd="1" destOrd="0" parTransId="{8A50A80C-93E0-4564-9CD1-7C2090E27AA8}" sibTransId="{9FE940F2-9849-4CAA-8CE1-3DE1DD756FDC}"/>
    <dgm:cxn modelId="{E53B08F8-0261-4547-BD15-4795C3C34210}" type="presOf" srcId="{ADB27811-7364-402C-A575-A819568D0BF9}" destId="{21864EC7-7879-46B7-9A66-226A3A07C16A}" srcOrd="0" destOrd="0" presId="urn:microsoft.com/office/officeart/2005/8/layout/orgChart1"/>
    <dgm:cxn modelId="{170E213A-B2A6-443A-9A1C-F8C63EB09392}" type="presParOf" srcId="{21864EC7-7879-46B7-9A66-226A3A07C16A}" destId="{F12C77C8-D215-4C1B-918F-6423605416A8}" srcOrd="0" destOrd="0" presId="urn:microsoft.com/office/officeart/2005/8/layout/orgChart1"/>
    <dgm:cxn modelId="{71591562-01F7-4791-8BBC-65456B763EC3}" type="presParOf" srcId="{F12C77C8-D215-4C1B-918F-6423605416A8}" destId="{5CE822E6-56E8-4316-AB7B-D760950A4C4A}" srcOrd="0" destOrd="0" presId="urn:microsoft.com/office/officeart/2005/8/layout/orgChart1"/>
    <dgm:cxn modelId="{5348073C-CA1F-4096-A46B-666F563F4428}" type="presParOf" srcId="{5CE822E6-56E8-4316-AB7B-D760950A4C4A}" destId="{9E2F23A6-31A2-4E1B-A54F-793A3A2DD7A4}" srcOrd="0" destOrd="0" presId="urn:microsoft.com/office/officeart/2005/8/layout/orgChart1"/>
    <dgm:cxn modelId="{007B012A-1092-40C4-AD9A-BDBE59D02899}" type="presParOf" srcId="{5CE822E6-56E8-4316-AB7B-D760950A4C4A}" destId="{F440C1BD-5814-4F90-B2B6-06BF9C32DFD5}" srcOrd="1" destOrd="0" presId="urn:microsoft.com/office/officeart/2005/8/layout/orgChart1"/>
    <dgm:cxn modelId="{1FE49186-D13E-4B9F-9E0B-5DA87A311891}" type="presParOf" srcId="{F12C77C8-D215-4C1B-918F-6423605416A8}" destId="{FE3A0090-45FF-4935-B7CE-66D6AA467DBB}" srcOrd="1" destOrd="0" presId="urn:microsoft.com/office/officeart/2005/8/layout/orgChart1"/>
    <dgm:cxn modelId="{79BAB0E6-397A-4CE2-AF5C-C33419614DF0}" type="presParOf" srcId="{FE3A0090-45FF-4935-B7CE-66D6AA467DBB}" destId="{762D85F5-BC9D-4DAE-83B9-AE95F4543241}" srcOrd="0" destOrd="0" presId="urn:microsoft.com/office/officeart/2005/8/layout/orgChart1"/>
    <dgm:cxn modelId="{CCB1E5EA-26B9-45AE-8C25-99695A788A53}" type="presParOf" srcId="{FE3A0090-45FF-4935-B7CE-66D6AA467DBB}" destId="{98F1AE83-42D4-459C-A29E-E39261373AE4}" srcOrd="1" destOrd="0" presId="urn:microsoft.com/office/officeart/2005/8/layout/orgChart1"/>
    <dgm:cxn modelId="{AA5A3357-8CB2-4DA6-8DCC-90129C7D3E5C}" type="presParOf" srcId="{98F1AE83-42D4-459C-A29E-E39261373AE4}" destId="{56505567-3242-4EDF-A650-20BC3D5D9762}" srcOrd="0" destOrd="0" presId="urn:microsoft.com/office/officeart/2005/8/layout/orgChart1"/>
    <dgm:cxn modelId="{E798DD1D-937E-44C1-ACE7-E9250243E33D}" type="presParOf" srcId="{56505567-3242-4EDF-A650-20BC3D5D9762}" destId="{B2FC97A2-4936-4438-8984-6DB301346B41}" srcOrd="0" destOrd="0" presId="urn:microsoft.com/office/officeart/2005/8/layout/orgChart1"/>
    <dgm:cxn modelId="{C760D3AF-5933-4F74-8FB6-AFE18E7AFA3F}" type="presParOf" srcId="{56505567-3242-4EDF-A650-20BC3D5D9762}" destId="{159177B8-798B-476F-8954-98362B554E58}" srcOrd="1" destOrd="0" presId="urn:microsoft.com/office/officeart/2005/8/layout/orgChart1"/>
    <dgm:cxn modelId="{9BB11266-AF43-4766-B5FD-DBEF91197373}" type="presParOf" srcId="{98F1AE83-42D4-459C-A29E-E39261373AE4}" destId="{BFEC556D-2700-473C-ADAB-D45DE9C92B88}" srcOrd="1" destOrd="0" presId="urn:microsoft.com/office/officeart/2005/8/layout/orgChart1"/>
    <dgm:cxn modelId="{A003804F-7E19-4361-BE26-209B48F8A9AB}" type="presParOf" srcId="{98F1AE83-42D4-459C-A29E-E39261373AE4}" destId="{AC277670-DD7F-4B00-92E5-093AB047ADE7}" srcOrd="2" destOrd="0" presId="urn:microsoft.com/office/officeart/2005/8/layout/orgChart1"/>
    <dgm:cxn modelId="{9FA1EFE4-BF0C-4F75-BA96-4AB3C53C7343}" type="presParOf" srcId="{FE3A0090-45FF-4935-B7CE-66D6AA467DBB}" destId="{39C3DD7B-4E68-4999-B5A6-52195E55966B}" srcOrd="2" destOrd="0" presId="urn:microsoft.com/office/officeart/2005/8/layout/orgChart1"/>
    <dgm:cxn modelId="{C79DFC7E-059C-4D65-A708-3F2E1EF5D85E}" type="presParOf" srcId="{FE3A0090-45FF-4935-B7CE-66D6AA467DBB}" destId="{11E029CE-E5E8-4B83-B3CB-C783D2BFD92A}" srcOrd="3" destOrd="0" presId="urn:microsoft.com/office/officeart/2005/8/layout/orgChart1"/>
    <dgm:cxn modelId="{76F3BF72-2592-445F-A494-7B51320CEC4F}" type="presParOf" srcId="{11E029CE-E5E8-4B83-B3CB-C783D2BFD92A}" destId="{0499A424-97C1-4FB1-A925-A6139D636544}" srcOrd="0" destOrd="0" presId="urn:microsoft.com/office/officeart/2005/8/layout/orgChart1"/>
    <dgm:cxn modelId="{D16A949C-4968-4542-9091-C5ECAEB5DFD7}" type="presParOf" srcId="{0499A424-97C1-4FB1-A925-A6139D636544}" destId="{01078189-507E-44B1-80AF-ABDD62A8B37B}" srcOrd="0" destOrd="0" presId="urn:microsoft.com/office/officeart/2005/8/layout/orgChart1"/>
    <dgm:cxn modelId="{9C0760D1-56FE-4D97-838B-B850441BB32B}" type="presParOf" srcId="{0499A424-97C1-4FB1-A925-A6139D636544}" destId="{43ED48F6-E6E6-4104-AB9D-9ECF7FC30FB2}" srcOrd="1" destOrd="0" presId="urn:microsoft.com/office/officeart/2005/8/layout/orgChart1"/>
    <dgm:cxn modelId="{61FCFC48-F599-463C-9C9E-6C3CA7072CF9}" type="presParOf" srcId="{11E029CE-E5E8-4B83-B3CB-C783D2BFD92A}" destId="{F00134B6-0D61-4DAE-A10F-9FCB48136A6F}" srcOrd="1" destOrd="0" presId="urn:microsoft.com/office/officeart/2005/8/layout/orgChart1"/>
    <dgm:cxn modelId="{DBCB8CB3-7291-4437-8DF4-2BD7FCCA58E7}" type="presParOf" srcId="{11E029CE-E5E8-4B83-B3CB-C783D2BFD92A}" destId="{D179D9DD-EA10-472A-B7DD-D420FF249F06}" srcOrd="2" destOrd="0" presId="urn:microsoft.com/office/officeart/2005/8/layout/orgChart1"/>
    <dgm:cxn modelId="{E8FB70B2-F376-4585-8D5F-00237461DB9E}" type="presParOf" srcId="{F12C77C8-D215-4C1B-918F-6423605416A8}" destId="{A35C1774-F4F7-4782-A976-030A9D83D541}" srcOrd="2" destOrd="0" presId="urn:microsoft.com/office/officeart/2005/8/layout/orgChart1"/>
    <dgm:cxn modelId="{31BE8FAE-7130-4097-A918-1D077EE82794}" type="presParOf" srcId="{21864EC7-7879-46B7-9A66-226A3A07C16A}" destId="{97125795-88BE-4F52-941A-08902468E0EA}" srcOrd="1" destOrd="0" presId="urn:microsoft.com/office/officeart/2005/8/layout/orgChart1"/>
    <dgm:cxn modelId="{35A43039-1A46-4DA4-9551-F3EBAD5A3478}" type="presParOf" srcId="{97125795-88BE-4F52-941A-08902468E0EA}" destId="{0ACA5B9E-403F-4B1B-8D44-14652831E0DA}" srcOrd="0" destOrd="0" presId="urn:microsoft.com/office/officeart/2005/8/layout/orgChart1"/>
    <dgm:cxn modelId="{BD48431E-FAD6-4DC4-942B-9E452A3BC326}" type="presParOf" srcId="{0ACA5B9E-403F-4B1B-8D44-14652831E0DA}" destId="{1D0FD7FF-3D5D-4F8F-91D7-A99437B72CF1}" srcOrd="0" destOrd="0" presId="urn:microsoft.com/office/officeart/2005/8/layout/orgChart1"/>
    <dgm:cxn modelId="{E0FFB699-78EB-439B-9F88-93DC8A3EFA08}" type="presParOf" srcId="{0ACA5B9E-403F-4B1B-8D44-14652831E0DA}" destId="{CDF3ECE9-41CB-4166-96E5-9E206532A5E9}" srcOrd="1" destOrd="0" presId="urn:microsoft.com/office/officeart/2005/8/layout/orgChart1"/>
    <dgm:cxn modelId="{3DEA2870-3E6F-47E6-BCC6-5ABF13CBA095}" type="presParOf" srcId="{97125795-88BE-4F52-941A-08902468E0EA}" destId="{60538342-AD58-4D4C-8F5E-62D523184A47}" srcOrd="1" destOrd="0" presId="urn:microsoft.com/office/officeart/2005/8/layout/orgChart1"/>
    <dgm:cxn modelId="{2ECE67ED-CEB0-40D0-8DA1-9251AE391A79}" type="presParOf" srcId="{97125795-88BE-4F52-941A-08902468E0EA}" destId="{97D875BC-CC00-4978-B71E-19C2AA039541}" srcOrd="2" destOrd="0" presId="urn:microsoft.com/office/officeart/2005/8/layout/orgChart1"/>
    <dgm:cxn modelId="{83BA6328-8E76-4210-A6A1-B6A1B08259D2}" type="presParOf" srcId="{21864EC7-7879-46B7-9A66-226A3A07C16A}" destId="{F0D16D1D-2B07-40D7-9A97-6FA616DC6A79}" srcOrd="2" destOrd="0" presId="urn:microsoft.com/office/officeart/2005/8/layout/orgChart1"/>
    <dgm:cxn modelId="{DA0FA8CB-8C7F-4C1B-8C00-286AA267AF58}" type="presParOf" srcId="{F0D16D1D-2B07-40D7-9A97-6FA616DC6A79}" destId="{92E4ED6E-12E2-418E-A300-AF17BB2FF131}" srcOrd="0" destOrd="0" presId="urn:microsoft.com/office/officeart/2005/8/layout/orgChart1"/>
    <dgm:cxn modelId="{79EFB776-3931-44DA-8DC0-88EB6824EFF8}" type="presParOf" srcId="{92E4ED6E-12E2-418E-A300-AF17BB2FF131}" destId="{6C8B1E48-61F4-4B63-A75D-A36ADDF5C205}" srcOrd="0" destOrd="0" presId="urn:microsoft.com/office/officeart/2005/8/layout/orgChart1"/>
    <dgm:cxn modelId="{F20FCB6E-C1EA-43B4-A4B1-0CD783AE836D}" type="presParOf" srcId="{92E4ED6E-12E2-418E-A300-AF17BB2FF131}" destId="{225F7B16-5FA5-4607-A2E5-19F8BA6DC9F1}" srcOrd="1" destOrd="0" presId="urn:microsoft.com/office/officeart/2005/8/layout/orgChart1"/>
    <dgm:cxn modelId="{E0334BE0-6A14-49EA-85E7-9DCD258A6B71}" type="presParOf" srcId="{F0D16D1D-2B07-40D7-9A97-6FA616DC6A79}" destId="{5A066BFE-6BD4-47A8-A107-F0021351A0DC}" srcOrd="1" destOrd="0" presId="urn:microsoft.com/office/officeart/2005/8/layout/orgChart1"/>
    <dgm:cxn modelId="{234961A0-72E3-4AC3-A149-07B9CE1860A9}" type="presParOf" srcId="{F0D16D1D-2B07-40D7-9A97-6FA616DC6A79}" destId="{AEF547CC-ECB7-4D6D-94F2-89A7FB9D9AE4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C3DD7B-4E68-4999-B5A6-52195E55966B}">
      <dsp:nvSpPr>
        <dsp:cNvPr id="0" name=""/>
        <dsp:cNvSpPr/>
      </dsp:nvSpPr>
      <dsp:spPr>
        <a:xfrm>
          <a:off x="5306243" y="1330929"/>
          <a:ext cx="3178403" cy="8061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41919"/>
              </a:lnTo>
              <a:lnTo>
                <a:pt x="3178403" y="541919"/>
              </a:lnTo>
              <a:lnTo>
                <a:pt x="3178403" y="80614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2D85F5-BC9D-4DAE-83B9-AE95F4543241}">
      <dsp:nvSpPr>
        <dsp:cNvPr id="0" name=""/>
        <dsp:cNvSpPr/>
      </dsp:nvSpPr>
      <dsp:spPr>
        <a:xfrm>
          <a:off x="2782497" y="1330929"/>
          <a:ext cx="2523746" cy="811294"/>
        </a:xfrm>
        <a:custGeom>
          <a:avLst/>
          <a:gdLst/>
          <a:ahLst/>
          <a:cxnLst/>
          <a:rect l="0" t="0" r="0" b="0"/>
          <a:pathLst>
            <a:path>
              <a:moveTo>
                <a:pt x="2523746" y="0"/>
              </a:moveTo>
              <a:lnTo>
                <a:pt x="2523746" y="547066"/>
              </a:lnTo>
              <a:lnTo>
                <a:pt x="0" y="547066"/>
              </a:lnTo>
              <a:lnTo>
                <a:pt x="0" y="811294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2F23A6-31A2-4E1B-A54F-793A3A2DD7A4}">
      <dsp:nvSpPr>
        <dsp:cNvPr id="0" name=""/>
        <dsp:cNvSpPr/>
      </dsp:nvSpPr>
      <dsp:spPr>
        <a:xfrm>
          <a:off x="4022546" y="535085"/>
          <a:ext cx="2567394" cy="79584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Digital Logic Families</a:t>
          </a:r>
        </a:p>
      </dsp:txBody>
      <dsp:txXfrm>
        <a:off x="4022546" y="535085"/>
        <a:ext cx="2567394" cy="795843"/>
      </dsp:txXfrm>
    </dsp:sp>
    <dsp:sp modelId="{B2FC97A2-4936-4438-8984-6DB301346B41}">
      <dsp:nvSpPr>
        <dsp:cNvPr id="0" name=""/>
        <dsp:cNvSpPr/>
      </dsp:nvSpPr>
      <dsp:spPr>
        <a:xfrm>
          <a:off x="870930" y="2142223"/>
          <a:ext cx="3823133" cy="10067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Bipolar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(electron and hole both are used as  charge carrier)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Example: BJTs</a:t>
          </a:r>
        </a:p>
      </dsp:txBody>
      <dsp:txXfrm>
        <a:off x="870930" y="2142223"/>
        <a:ext cx="3823133" cy="1006785"/>
      </dsp:txXfrm>
    </dsp:sp>
    <dsp:sp modelId="{01078189-507E-44B1-80AF-ABDD62A8B37B}">
      <dsp:nvSpPr>
        <dsp:cNvPr id="0" name=""/>
        <dsp:cNvSpPr/>
      </dsp:nvSpPr>
      <dsp:spPr>
        <a:xfrm>
          <a:off x="6774196" y="2137077"/>
          <a:ext cx="3420902" cy="2172385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Unipolar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(Only one type of charge carrier dominates)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Example: MOSFET, JFET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 err="1"/>
            <a:t>i</a:t>
          </a:r>
          <a:r>
            <a:rPr lang="en-US" sz="1600" b="0" kern="1200" dirty="0"/>
            <a:t>. PMOS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ii. NMOS logic families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kern="1200" dirty="0"/>
            <a:t>iii. CMOS logic families</a:t>
          </a:r>
        </a:p>
      </dsp:txBody>
      <dsp:txXfrm>
        <a:off x="6774196" y="2137077"/>
        <a:ext cx="3420902" cy="2172385"/>
      </dsp:txXfrm>
    </dsp:sp>
    <dsp:sp modelId="{1D0FD7FF-3D5D-4F8F-91D7-A99437B72CF1}">
      <dsp:nvSpPr>
        <dsp:cNvPr id="0" name=""/>
        <dsp:cNvSpPr/>
      </dsp:nvSpPr>
      <dsp:spPr>
        <a:xfrm>
          <a:off x="634408" y="3922066"/>
          <a:ext cx="2184539" cy="749641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(saturation and Cutoff)</a:t>
          </a:r>
        </a:p>
      </dsp:txBody>
      <dsp:txXfrm>
        <a:off x="634408" y="3922066"/>
        <a:ext cx="2184539" cy="749641"/>
      </dsp:txXfrm>
    </dsp:sp>
    <dsp:sp modelId="{6C8B1E48-61F4-4B63-A75D-A36ADDF5C205}">
      <dsp:nvSpPr>
        <dsp:cNvPr id="0" name=""/>
        <dsp:cNvSpPr/>
      </dsp:nvSpPr>
      <dsp:spPr>
        <a:xfrm>
          <a:off x="3833912" y="3907219"/>
          <a:ext cx="2077691" cy="776693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Unsaturated </a:t>
          </a:r>
        </a:p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(Active &amp; Cutoff)</a:t>
          </a:r>
        </a:p>
      </dsp:txBody>
      <dsp:txXfrm>
        <a:off x="3833912" y="3907219"/>
        <a:ext cx="2077691" cy="7766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4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4" name="Google Shape;304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8" name="Google Shape;328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4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8" name="Google Shape;348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9883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69175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8419EC9-4388-566E-8EF6-34768D4B6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A5B526A-97C2-118C-67CE-C5F9632888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D39519E-7FEB-A981-99A3-2B77424A700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355811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481683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D3CFD92-DBD5-9CE9-8076-C71A0BF71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2E938920-FBB9-21FB-F4CF-3BA0C9517A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E7829-31C9-42D3-33D3-74E647B26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951825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4DD06FE-17D2-41F6-1ADB-9A1415FCC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943682FE-BBD6-FDEE-F961-25C23B93A0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1C59B81-7E94-8873-CB69-CE7838ED96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542040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A34C426-AE7E-8BFB-54AF-3F6F4B8DC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38828F8A-7B00-F571-D69A-6D974CADE3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279B5E2-FA50-5DCA-D7E6-8BEA84031F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73962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9B5338-094B-17BE-C4F5-0129D14DE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E3C786CA-E966-C1D6-3B4D-6E57689DB8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4A3EC18-3E3D-728F-D0E2-D5D799B0E9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565982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513FC4D-752B-AB36-7B10-10872CE90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77EB79E-A3BF-0261-0D19-D58F7DEBFB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74CA3153-36F7-2851-1269-91A4B9E207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14292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6515064C-0046-A4AE-7864-9C2AB3226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E91984E-02FA-2EFD-A3DD-84AFF48FB4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5E09D86-3B00-0F8D-0146-0E4F71B27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31830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7D29F27A-2FDF-FDA9-DC7E-75C9F9AE02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816D4699-D600-D79E-1D61-0D873EF52D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6743C4E-B59D-202F-4AC8-921ECAC5DC4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7108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07DF596-D1BA-4D0D-3E61-4ADCA13C8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FCDFC955-800B-42C1-DBCC-FF338690C3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3ABE42-64B4-9C0C-D226-5A5B124849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74175166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101B61B-333D-B018-A56F-7CBDA79B0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BED6B785-3036-78D6-1D7E-4DA45F3B98C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BF5385CB-EDFB-04B6-8FBA-45DA74FFA2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259735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1E7BC80F-ECB7-603C-1F60-BFE4748E9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973DE30-7BEC-8C85-4172-26439A063B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4AD4289D-04CC-0CB3-8876-55D892731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5268163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EF77158C-73A9-AC42-2772-39DC21373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D9652952-A4DC-CA5F-BB70-6162B2292D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50200D1D-F977-C140-E748-CDEF76D5A1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4734703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8EAA001-DAF2-E2A1-BA43-460686552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007D7788-0CF3-70C5-28B7-89C8228DD6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E3A6669D-967E-2EAD-4068-8EDF1ED874C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4582014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DB05C0AA-275D-5FB3-A9F8-72423FBCF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7D2C58FE-FCBF-3521-13F7-B21F56A321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91412B74-FF2E-D7BE-3BDB-7FB200463A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2955273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BB80A9A7-A621-6434-69C2-5F1FE5340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6449C1DA-8B04-59B6-20D9-82167DDDC6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FA73FA12-A70D-1665-B1DC-3EDE4982C4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99135713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CA0EE7EC-F3DB-5428-CB2D-231CEAD4A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AB4076BA-4C7B-EBC9-4D02-B3ABC45C5E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62682B03-52A9-BC3A-8D63-F44C759285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2606651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FB992AC1-1F13-CF54-3091-177A7ECAA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>
            <a:extLst>
              <a:ext uri="{FF2B5EF4-FFF2-40B4-BE49-F238E27FC236}">
                <a16:creationId xmlns:a16="http://schemas.microsoft.com/office/drawing/2014/main" id="{19D19C59-DAF9-C102-13BE-24B43909B3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6" name="Google Shape;96;p2:notes">
            <a:extLst>
              <a:ext uri="{FF2B5EF4-FFF2-40B4-BE49-F238E27FC236}">
                <a16:creationId xmlns:a16="http://schemas.microsoft.com/office/drawing/2014/main" id="{3348F870-BE7A-D251-AFB7-9DA51B6214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090791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homen.kundu@bracu.ac.bd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microsoft.com/office/2007/relationships/hdphoto" Target="../media/hdphoto4.wd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microsoft.com/office/2007/relationships/hdphoto" Target="../media/hdphoto3.wdp"/><Relationship Id="rId4" Type="http://schemas.openxmlformats.org/officeDocument/2006/relationships/image" Target="../media/image14.png"/><Relationship Id="rId9" Type="http://schemas.openxmlformats.org/officeDocument/2006/relationships/image" Target="../media/image10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1.png"/><Relationship Id="rId4" Type="http://schemas.openxmlformats.org/officeDocument/2006/relationships/image" Target="../media/image14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17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microsoft.com/office/2007/relationships/hdphoto" Target="../media/hdphoto3.wdp"/><Relationship Id="rId4" Type="http://schemas.openxmlformats.org/officeDocument/2006/relationships/image" Target="../media/image1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5.wdp"/><Relationship Id="rId5" Type="http://schemas.openxmlformats.org/officeDocument/2006/relationships/image" Target="../media/image27.png"/><Relationship Id="rId4" Type="http://schemas.openxmlformats.org/officeDocument/2006/relationships/image" Target="../media/image22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microsoft.com/office/2007/relationships/hdphoto" Target="../media/hdphoto6.wdp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microsoft.com/office/2007/relationships/hdphoto" Target="../media/hdphoto7.wdp"/><Relationship Id="rId4" Type="http://schemas.openxmlformats.org/officeDocument/2006/relationships/image" Target="../media/image2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6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image" Target="../media/image2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489586" y="226142"/>
            <a:ext cx="9699524" cy="2300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CSE 350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900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Electronics and Pulse Techniques</a:t>
            </a:r>
            <a:br>
              <a:rPr lang="en-US" dirty="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dirty="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>
            <a:spLocks noGrp="1"/>
          </p:cNvSpPr>
          <p:nvPr>
            <p:ph type="ftr" idx="11"/>
          </p:nvPr>
        </p:nvSpPr>
        <p:spPr>
          <a:xfrm>
            <a:off x="3812458" y="6370894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 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751B0-7C0C-BD40-A434-E4822D159664}"/>
              </a:ext>
            </a:extLst>
          </p:cNvPr>
          <p:cNvSpPr txBox="1"/>
          <p:nvPr/>
        </p:nvSpPr>
        <p:spPr>
          <a:xfrm>
            <a:off x="6926825" y="5456700"/>
            <a:ext cx="5265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n-US" sz="2000" dirty="0"/>
              <a:t>Mail: </a:t>
            </a:r>
            <a:r>
              <a:rPr lang="en-US" sz="2000" dirty="0">
                <a:hlinkClick r:id="rId4"/>
              </a:rPr>
              <a:t>shomen.kundu@bracu.ac.bd</a:t>
            </a:r>
            <a:endParaRPr lang="en-US" sz="2000" dirty="0"/>
          </a:p>
          <a:p>
            <a:pPr marL="114300" indent="0">
              <a:buNone/>
            </a:pPr>
            <a:r>
              <a:rPr lang="en-US" sz="2000" dirty="0"/>
              <a:t>Desk: #4N148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41846E-60C5-B347-AC7F-8840DA80F15F}"/>
              </a:ext>
            </a:extLst>
          </p:cNvPr>
          <p:cNvSpPr txBox="1"/>
          <p:nvPr/>
        </p:nvSpPr>
        <p:spPr>
          <a:xfrm>
            <a:off x="4107426" y="2400899"/>
            <a:ext cx="39771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0070C0"/>
                </a:solidFill>
              </a:rPr>
              <a:t>Diode Logic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90F6537-9EB0-5129-AAB2-FD60564499EB}"/>
              </a:ext>
            </a:extLst>
          </p:cNvPr>
          <p:cNvSpPr txBox="1"/>
          <p:nvPr/>
        </p:nvSpPr>
        <p:spPr>
          <a:xfrm>
            <a:off x="1115959" y="5558167"/>
            <a:ext cx="55503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14300" indent="0">
              <a:buNone/>
            </a:pPr>
            <a:r>
              <a:rPr lang="en-US" sz="2000" b="1" dirty="0">
                <a:solidFill>
                  <a:srgbClr val="0070C0"/>
                </a:solidFill>
              </a:rPr>
              <a:t>Course Instructor</a:t>
            </a:r>
            <a:r>
              <a:rPr lang="en-US" sz="2000" b="1" dirty="0">
                <a:solidFill>
                  <a:schemeClr val="tx1"/>
                </a:solidFill>
              </a:rPr>
              <a:t>: </a:t>
            </a:r>
            <a:r>
              <a:rPr lang="en-US" sz="2000" dirty="0" err="1"/>
              <a:t>Shomen</a:t>
            </a:r>
            <a:r>
              <a:rPr lang="en-US" sz="2000" dirty="0"/>
              <a:t> Kundu (SDU)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286" name="Google Shape;286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287" name="Google Shape;287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pic>
        <p:nvPicPr>
          <p:cNvPr id="288" name="Google Shape;288;p4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/>
              <a:t>Semiconductor ( Si )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Intrinsic Semiconductor: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pure semiconductor crystal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Extrinsic Semiconductor: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impurity is being added.</a:t>
            </a:r>
            <a:endParaRPr sz="2400"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dirty="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Extrinsic Semiconductor is of two types: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n-type: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Majority electron, Minority hole</a:t>
            </a:r>
            <a:endParaRPr sz="2400"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p-type: </a:t>
            </a:r>
            <a:r>
              <a:rPr lang="en-US" sz="2400" dirty="0">
                <a:latin typeface="Arial"/>
                <a:ea typeface="Arial"/>
                <a:cs typeface="Arial"/>
                <a:sym typeface="Arial"/>
              </a:rPr>
              <a:t>Majority hole , Minority electron</a:t>
            </a:r>
            <a:endParaRPr sz="2400" dirty="0"/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07" name="Google Shape;307;p4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08" name="Google Shape;308;p4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pic>
        <p:nvPicPr>
          <p:cNvPr id="309" name="Google Shape;309;p4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46"/>
          <p:cNvSpPr txBox="1">
            <a:spLocks noGrp="1"/>
          </p:cNvSpPr>
          <p:nvPr>
            <p:ph type="body" idx="1"/>
          </p:nvPr>
        </p:nvSpPr>
        <p:spPr>
          <a:xfrm>
            <a:off x="1199534" y="1825625"/>
            <a:ext cx="10154265" cy="4349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b="1" dirty="0"/>
              <a:t>Diode: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b="1" dirty="0"/>
          </a:p>
        </p:txBody>
      </p:sp>
      <p:pic>
        <p:nvPicPr>
          <p:cNvPr id="311" name="Google Shape;311;p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99534" y="2814810"/>
            <a:ext cx="4753761" cy="1767023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46"/>
          <p:cNvSpPr txBox="1"/>
          <p:nvPr/>
        </p:nvSpPr>
        <p:spPr>
          <a:xfrm>
            <a:off x="1917290" y="4935793"/>
            <a:ext cx="347078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Simplified physical structure of the pn junction.</a:t>
            </a:r>
            <a:endParaRPr/>
          </a:p>
        </p:txBody>
      </p:sp>
      <p:pic>
        <p:nvPicPr>
          <p:cNvPr id="313" name="Google Shape;313;p4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7109" y="2703850"/>
            <a:ext cx="3775588" cy="2065768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6"/>
          <p:cNvSpPr txBox="1"/>
          <p:nvPr/>
        </p:nvSpPr>
        <p:spPr>
          <a:xfrm>
            <a:off x="7182464" y="4935793"/>
            <a:ext cx="347078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 pn junction with no applied voltage</a:t>
            </a:r>
            <a:endParaRPr/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Review ( Electronic Circuits and Devices)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320" name="Google Shape;320;p4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321" name="Google Shape;321;p4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pic>
        <p:nvPicPr>
          <p:cNvPr id="322" name="Google Shape;322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23" name="Google Shape;323;p47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838200" y="1303020"/>
                <a:ext cx="6057900" cy="48739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b="1" dirty="0">
                    <a:latin typeface="+mn-lt"/>
                    <a:ea typeface="Arial"/>
                    <a:cs typeface="Times New Roman" panose="02020603050405020304" pitchFamily="18" charset="0"/>
                    <a:sym typeface="Arial"/>
                  </a:rPr>
                  <a:t>IV curve: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In this course we will assume these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two voltage of the diode. But they can </a:t>
                </a: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400" dirty="0">
                    <a:latin typeface="+mn-lt"/>
                    <a:cs typeface="Times New Roman" panose="02020603050405020304" pitchFamily="18" charset="0"/>
                    <a:sym typeface="Arial"/>
                  </a:rPr>
                  <a:t>vary depending on diode model. </a:t>
                </a:r>
              </a:p>
              <a:p>
                <a:pPr marL="114300" indent="0">
                  <a:buNone/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Conduction Voltage,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𝑫</m:t>
                        </m:r>
                      </m:sub>
                    </m:sSub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𝟕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ar-AE" sz="2000" b="1" dirty="0">
                  <a:latin typeface="+mn-lt"/>
                  <a:cs typeface="Times New Roman" panose="02020603050405020304" pitchFamily="18" charset="0"/>
                </a:endParaRPr>
              </a:p>
              <a:p>
                <a:pPr marL="114300" indent="0">
                  <a:buNone/>
                </a:pPr>
                <a:r>
                  <a:rPr lang="en-US" sz="2000" dirty="0">
                    <a:latin typeface="+mn-lt"/>
                    <a:cs typeface="Times New Roman" panose="02020603050405020304" pitchFamily="18" charset="0"/>
                  </a:rPr>
                  <a:t>Threshold Voltage/Knee Voltage,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ar-AE" sz="2000" b="1" i="1" smtClean="0">
                            <a:latin typeface="Cambria Math" panose="02040503050406030204" pitchFamily="18" charset="0"/>
                          </a:rPr>
                          <m:t>𝜸</m:t>
                        </m:r>
                      </m:sub>
                    </m:sSub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ar-AE" sz="2000" b="1" i="1" smtClean="0"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endParaRPr lang="ar-AE" sz="2000" b="1" dirty="0">
                  <a:latin typeface="+mn-lt"/>
                  <a:cs typeface="Times New Roman" panose="02020603050405020304" pitchFamily="18" charset="0"/>
                </a:endParaRPr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lang="ar-AE" sz="2400" b="1" dirty="0"/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endParaRPr sz="2000" dirty="0"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mc:Choice>
        <mc:Fallback xmlns="">
          <p:sp>
            <p:nvSpPr>
              <p:cNvPr id="323" name="Google Shape;323;p47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38200" y="1303020"/>
                <a:ext cx="6057900" cy="48739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4" name="Google Shape;324;p47"/>
          <p:cNvSpPr txBox="1"/>
          <p:nvPr/>
        </p:nvSpPr>
        <p:spPr>
          <a:xfrm>
            <a:off x="5348748" y="5403622"/>
            <a:ext cx="7285703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Fig: The I-V characteristic of the </a:t>
            </a:r>
            <a:r>
              <a:rPr lang="en-US" sz="2000" b="0" i="0" u="none" strike="noStrike" cap="none" dirty="0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pn</a:t>
            </a:r>
            <a:r>
              <a:rPr lang="en-US" sz="2000" b="0" i="0" u="none" strike="noStrike" cap="none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junction showing the rapid increase in reverse current in the breakdown region.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C8DB6A-A9F0-6C24-76EC-8112C981C5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0368" y="1337644"/>
            <a:ext cx="4521463" cy="329987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4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31" name="Google Shape;331;p4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32" name="Google Shape;332;p4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pic>
        <p:nvPicPr>
          <p:cNvPr id="333" name="Google Shape;333;p4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34" name="Google Shape;334;p48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757084" y="1297858"/>
                <a:ext cx="10596716" cy="46922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b="1" dirty="0"/>
                  <a:t>The Constant-Voltage-Drop Model:</a:t>
                </a:r>
                <a:endParaRPr lang="en-US" dirty="0"/>
              </a:p>
              <a:p>
                <a:pPr marL="114300" lvl="0" indent="0" algn="l" rtl="0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SzPts val="1800"/>
                  <a:buNone/>
                </a:pPr>
                <a:r>
                  <a:rPr lang="en-US" sz="2000" dirty="0">
                    <a:latin typeface="+mn-lt"/>
                  </a:rPr>
                  <a:t>The simplest and most widely used diode model is the constant-voltage-drop model. This model is based on the observation that a forward-conducting diode has a voltage drop that varies in a relatively narrow range, say 0.6 to 0.8 V. The model assumes this voltage to be constant at a value, say,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=0.7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+mn-lt"/>
                  </a:rPr>
                  <a:t>.</a:t>
                </a:r>
                <a:endParaRPr sz="2000" b="1" dirty="0">
                  <a:latin typeface="+mn-lt"/>
                </a:endParaRPr>
              </a:p>
            </p:txBody>
          </p:sp>
        </mc:Choice>
        <mc:Fallback xmlns="">
          <p:sp>
            <p:nvSpPr>
              <p:cNvPr id="334" name="Google Shape;334;p48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57084" y="1297858"/>
                <a:ext cx="10596716" cy="4692292"/>
              </a:xfrm>
              <a:prstGeom prst="rect">
                <a:avLst/>
              </a:prstGeom>
              <a:blipFill>
                <a:blip r:embed="rId4"/>
                <a:stretch>
                  <a:fillRect l="-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5" name="Google Shape;335;p4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76283" y="3272052"/>
            <a:ext cx="3687098" cy="258160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4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76217" y="3072128"/>
            <a:ext cx="3605983" cy="2986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42" name="Google Shape;342;p4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43" name="Google Shape;343;p4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pic>
        <p:nvPicPr>
          <p:cNvPr id="344" name="Google Shape;34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Conductance voltage (V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) of different diode for constant voltage drop model: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Ideal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 V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Ge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0.3 V</a:t>
            </a:r>
            <a:endParaRPr dirty="0"/>
          </a:p>
          <a:p>
            <a: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oto Sans Symbols"/>
              <a:buChar char="⮚"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Si diode: V</a:t>
            </a:r>
            <a:r>
              <a:rPr lang="en-US" sz="2000" baseline="-25000" dirty="0">
                <a:latin typeface="Arial"/>
                <a:ea typeface="Arial"/>
                <a:cs typeface="Arial"/>
                <a:sym typeface="Arial"/>
              </a:rPr>
              <a:t>D 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= 0.7 V (will be used most of the time )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We will use Si diode with constant voltage model for simplicity. If nothing is mentioned in the question, we will assume Si diode. 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390239" cy="962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>
                <a:solidFill>
                  <a:schemeClr val="accent1"/>
                </a:solidFill>
              </a:rPr>
              <a:t>Review ( Electronic Circuits and Devices)</a:t>
            </a:r>
            <a:endParaRPr>
              <a:solidFill>
                <a:schemeClr val="accent1"/>
              </a:solidFill>
            </a:endParaRPr>
          </a:p>
        </p:txBody>
      </p:sp>
      <p:sp>
        <p:nvSpPr>
          <p:cNvPr id="351" name="Google Shape;351;p5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CSE 350</a:t>
            </a:r>
            <a:endParaRPr/>
          </a:p>
        </p:txBody>
      </p:sp>
      <p:sp>
        <p:nvSpPr>
          <p:cNvPr id="352" name="Google Shape;352;p5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pic>
        <p:nvPicPr>
          <p:cNvPr id="353" name="Google Shape;353;p5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50"/>
          <p:cNvSpPr txBox="1">
            <a:spLocks noGrp="1"/>
          </p:cNvSpPr>
          <p:nvPr>
            <p:ph type="body" idx="1"/>
          </p:nvPr>
        </p:nvSpPr>
        <p:spPr>
          <a:xfrm>
            <a:off x="838200" y="1160206"/>
            <a:ext cx="10675374" cy="5016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en-US" sz="2400" b="1" dirty="0">
                <a:latin typeface="Arial"/>
                <a:ea typeface="Arial"/>
                <a:cs typeface="Arial"/>
                <a:sym typeface="Arial"/>
              </a:rPr>
              <a:t>Equivalent  circuit of Si diode for constant voltage drop model:</a:t>
            </a:r>
            <a:endParaRPr dirty="0"/>
          </a:p>
          <a:p>
            <a:pPr marL="1143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endParaRPr sz="2400" b="1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B169E1D-A9C7-4F28-76AD-DBCBD8AAFB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7177" y="2012088"/>
            <a:ext cx="6835719" cy="408222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DE4208-4071-6D4E-1CDC-C68C49578B48}"/>
                  </a:ext>
                </a:extLst>
              </p:cNvPr>
              <p:cNvSpPr txBox="1"/>
              <p:nvPr/>
            </p:nvSpPr>
            <p:spPr>
              <a:xfrm>
                <a:off x="6705600" y="2487561"/>
                <a:ext cx="1288026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&lt;0.6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FDE4208-4071-6D4E-1CDC-C68C49578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05600" y="2487561"/>
                <a:ext cx="1288026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Abstract of Logic Gate: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7C0F85C-0619-700A-76AC-9AE8171C98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65916" y="1690688"/>
            <a:ext cx="6344684" cy="363279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C7F62CB-908E-E877-4079-06434A38E587}"/>
              </a:ext>
            </a:extLst>
          </p:cNvPr>
          <p:cNvSpPr txBox="1"/>
          <p:nvPr/>
        </p:nvSpPr>
        <p:spPr>
          <a:xfrm>
            <a:off x="1700981" y="5403622"/>
            <a:ext cx="83082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/>
              <a:t>This gates  are abstract, because they just represent logical operations.</a:t>
            </a:r>
          </a:p>
        </p:txBody>
      </p:sp>
    </p:spTree>
    <p:extLst>
      <p:ext uri="{BB962C8B-B14F-4D97-AF65-F5344CB8AC3E}">
        <p14:creationId xmlns:p14="http://schemas.microsoft.com/office/powerpoint/2010/main" val="3812692066"/>
      </p:ext>
    </p:extLst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798871" y="525154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1C5A9A-4524-A2F1-667D-816417975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1623" y="2319337"/>
            <a:ext cx="2850448" cy="2380482"/>
          </a:xfrm>
          <a:prstGeom prst="rect">
            <a:avLst/>
          </a:prstGeom>
        </p:spPr>
      </p:pic>
      <p:pic>
        <p:nvPicPr>
          <p:cNvPr id="1030" name="Picture 6" descr="CMOS Logic Gates Explained - ALL ABOUT ELECTRONICS">
            <a:extLst>
              <a:ext uri="{FF2B5EF4-FFF2-40B4-BE49-F238E27FC236}">
                <a16:creationId xmlns:a16="http://schemas.microsoft.com/office/drawing/2014/main" id="{6F16ECE5-6296-D956-1897-1F27B9260F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2478" y="2181685"/>
            <a:ext cx="2326359" cy="2632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7B469E4-930A-F6F4-BB2C-B6B6F7091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4045" y="2806767"/>
            <a:ext cx="2108174" cy="1641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68261"/>
      </p:ext>
    </p:extLst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AEDDA31-1063-2B5D-6139-94ABFA4C5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E6F5892-6365-1DC3-BE12-FAEA78F76C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776284" cy="533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52552D2D-61F0-EC4D-7733-6850E788D56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3C269E3-A7D0-0253-D2AC-02DEABBC18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D109F79F-9040-8862-836B-BADACB6F0D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910FB63-4DB7-6774-CA62-25A8EBCE767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358569"/>
              </p:ext>
            </p:extLst>
          </p:nvPr>
        </p:nvGraphicFramePr>
        <p:xfrm>
          <a:off x="412956" y="136525"/>
          <a:ext cx="10491018" cy="55170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221DCB-F5B2-4ECB-BF42-9A35E2E58CD4}"/>
              </a:ext>
            </a:extLst>
          </p:cNvPr>
          <p:cNvCxnSpPr>
            <a:cxnSpLocks/>
          </p:cNvCxnSpPr>
          <p:nvPr/>
        </p:nvCxnSpPr>
        <p:spPr>
          <a:xfrm>
            <a:off x="3372465" y="3254475"/>
            <a:ext cx="0" cy="43261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820E1FD-DB43-25D8-F55E-AD31E1938694}"/>
              </a:ext>
            </a:extLst>
          </p:cNvPr>
          <p:cNvCxnSpPr>
            <a:cxnSpLocks/>
          </p:cNvCxnSpPr>
          <p:nvPr/>
        </p:nvCxnSpPr>
        <p:spPr>
          <a:xfrm flipH="1">
            <a:off x="1818967" y="3687094"/>
            <a:ext cx="331347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46966EC-D0BB-FBF8-AE47-366CFBD9C576}"/>
              </a:ext>
            </a:extLst>
          </p:cNvPr>
          <p:cNvCxnSpPr>
            <a:cxnSpLocks/>
          </p:cNvCxnSpPr>
          <p:nvPr/>
        </p:nvCxnSpPr>
        <p:spPr>
          <a:xfrm>
            <a:off x="1818967" y="3687094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E2B3827-F9AC-462B-6CA9-D1AEBA8BD153}"/>
              </a:ext>
            </a:extLst>
          </p:cNvPr>
          <p:cNvCxnSpPr>
            <a:cxnSpLocks/>
          </p:cNvCxnSpPr>
          <p:nvPr/>
        </p:nvCxnSpPr>
        <p:spPr>
          <a:xfrm>
            <a:off x="5132441" y="3687093"/>
            <a:ext cx="0" cy="3441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035962"/>
      </p:ext>
    </p:extLst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75CFF9-CB9A-83E0-36F1-918A93FAF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687665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Saturated Logic Family: </a:t>
            </a:r>
            <a:r>
              <a:rPr lang="en-US" sz="2200" dirty="0"/>
              <a:t>Uses Saturation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Resistor Transistor Logic (RTL)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Diode Transistor Logic (DTL)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/>
              <a:t>Transistor-Transistor Logic (TTL)</a:t>
            </a:r>
          </a:p>
          <a:p>
            <a:pPr marL="571500" lvl="1" indent="0">
              <a:buNone/>
            </a:pPr>
            <a:endParaRPr lang="en-US" sz="2200" dirty="0"/>
          </a:p>
          <a:p>
            <a:pPr marL="114300" indent="0">
              <a:buNone/>
            </a:pPr>
            <a:r>
              <a:rPr lang="en-US" sz="2200" b="1" dirty="0">
                <a:solidFill>
                  <a:schemeClr val="tx1"/>
                </a:solidFill>
              </a:rPr>
              <a:t>Unsaturated Logic Family: </a:t>
            </a:r>
            <a:r>
              <a:rPr lang="en-US" sz="2200" dirty="0"/>
              <a:t>Uses Active &amp; Cutoff region of a BJT for implementation of logic states.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Schottky TTL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78621337"/>
      </p:ext>
    </p:extLst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51FB954-4413-7294-E689-EB8367865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297AF3CA-3E75-E27D-B102-B5E33791C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Logic families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1DC4D09-A77F-582D-03B3-778EF5B3C1C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082A30EF-F1B1-6AED-4611-E4DC9E39156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3C65E82-FF54-F74C-0D80-5A015E8B7A3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EAEC67-61E3-42C1-DBC6-AF4738A8C1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 </a:t>
            </a:r>
            <a:r>
              <a:rPr lang="en-US" sz="2200" b="1" dirty="0">
                <a:solidFill>
                  <a:schemeClr val="tx1"/>
                </a:solidFill>
              </a:rPr>
              <a:t>Unipolar Logic Family: </a:t>
            </a:r>
            <a:r>
              <a:rPr lang="en-US" sz="2200" dirty="0">
                <a:solidFill>
                  <a:schemeClr val="tx1"/>
                </a:solidFill>
              </a:rPr>
              <a:t>JFET, MOSFET etc. single charge carrier-based transistor logic families.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PMOS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NMOS Logic Family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200" dirty="0">
                <a:solidFill>
                  <a:schemeClr val="tx1"/>
                </a:solidFill>
              </a:rPr>
              <a:t>CMOS Logic Family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200" dirty="0">
              <a:solidFill>
                <a:schemeClr val="tx1"/>
              </a:solidFill>
            </a:endParaRPr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524272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A712EA8-E9F9-CB14-F8B5-8852218CB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1BF1CE3-ECED-D14C-2D33-E5A1A05402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F2F1401-41B3-D6E5-4F87-0AE31DD806D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EAC8314-09D5-2A91-EDCC-B031025AABF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F89636-940C-80B5-BF94-1CF2B1392F5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C3A028-1EB7-4082-2FA5-A6A973C1A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OR gate and </a:t>
            </a:r>
            <a:r>
              <a:rPr lang="en-US" dirty="0" err="1"/>
              <a:t>AND</a:t>
            </a:r>
            <a:r>
              <a:rPr lang="en-US" dirty="0"/>
              <a:t> gate</a:t>
            </a:r>
            <a:br>
              <a:rPr lang="en-US" dirty="0"/>
            </a:br>
            <a:r>
              <a:rPr lang="en-US" dirty="0"/>
              <a:t>Design Techniques,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each input we need a </a:t>
            </a:r>
            <a:r>
              <a:rPr lang="en-US" sz="2400" b="1" dirty="0"/>
              <a:t>series resistance</a:t>
            </a:r>
            <a:r>
              <a:rPr lang="en-US" sz="2400" dirty="0"/>
              <a:t> and a </a:t>
            </a:r>
            <a:r>
              <a:rPr lang="en-US" sz="2400" b="1" dirty="0"/>
              <a:t>diode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Output will be connected with GND or VDD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OR gate output will be connected to the GND via </a:t>
            </a:r>
            <a:r>
              <a:rPr lang="en-US" sz="2400" b="1" dirty="0"/>
              <a:t>pull down </a:t>
            </a:r>
            <a:r>
              <a:rPr lang="en-US" sz="2400" dirty="0"/>
              <a:t>resistance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For AND gate output will be connected to the VDD via </a:t>
            </a:r>
            <a:r>
              <a:rPr lang="en-US" sz="2400" b="1" dirty="0"/>
              <a:t>pull up </a:t>
            </a:r>
            <a:r>
              <a:rPr lang="en-US" sz="2400" dirty="0"/>
              <a:t>resistance.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Series resistance will be small.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Pull up / Pull down resistance will be large.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9894382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42807342-2D7D-6D2F-1A62-4804659E4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F30B06C-4687-7548-FF22-7B04BD5922B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9D5511EE-F765-E27A-6548-E1683554AF2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0D95B20-C196-83E3-45D3-6661F1A191E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3C884E-F5B9-C07C-BE60-044C157DB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b="1" dirty="0"/>
                  <a:t>OR Gate</a:t>
                </a:r>
              </a:p>
              <a:p>
                <a:pPr marL="114300" indent="0">
                  <a:buNone/>
                </a:pPr>
                <a:r>
                  <a:rPr lang="en-US" dirty="0"/>
                  <a:t>Series and pull down 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resistance can be chosen as</a:t>
                </a:r>
              </a:p>
              <a:p>
                <a:pPr marL="11430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 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b="1" dirty="0"/>
                  <a:t>(low)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𝒑𝒅</m:t>
                        </m:r>
                      </m:sub>
                    </m:sSub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𝟏𝟎𝟎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𝒌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b="1" dirty="0"/>
                  <a:t> (high)</a:t>
                </a:r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3E65EC3-48F3-ADD2-3AB0-4102B036B5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  <a:blipFill>
                <a:blip r:embed="rId4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4C509D2-6BE5-DC04-5DC0-CF0A7ED56E0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408496" y="1376515"/>
            <a:ext cx="5755082" cy="3786472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0FCFD1-F8AC-6346-0CB5-1226AC43F65F}"/>
              </a:ext>
            </a:extLst>
          </p:cNvPr>
          <p:cNvCxnSpPr/>
          <p:nvPr/>
        </p:nvCxnSpPr>
        <p:spPr>
          <a:xfrm>
            <a:off x="8878529" y="2959509"/>
            <a:ext cx="0" cy="91440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6534223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322E03-1410-B3A5-2404-7F5435E7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37315716-804C-2782-0646-A2FA1FDBC9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DB0C273-C463-D2D2-DF9E-310246090A6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AF99528B-087F-0129-B4B8-626A45C8B9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15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177E34B3-8164-5654-CB2D-531F23C89B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6B4C2D-75AA-DF33-F4A2-1E9264C32B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Two input OR Gate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7F20C14-2031-A886-D810-535F2212C6B4}"/>
              </a:ext>
            </a:extLst>
          </p:cNvPr>
          <p:cNvGraphicFramePr>
            <a:graphicFrameLocks noGrp="1"/>
          </p:cNvGraphicFramePr>
          <p:nvPr/>
        </p:nvGraphicFramePr>
        <p:xfrm>
          <a:off x="6380300" y="1526007"/>
          <a:ext cx="4959438" cy="316166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26573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826573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2333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2333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CA6223BA-FF63-5AC1-F229-12BC694E524E}"/>
              </a:ext>
            </a:extLst>
          </p:cNvPr>
          <p:cNvSpPr txBox="1"/>
          <p:nvPr/>
        </p:nvSpPr>
        <p:spPr>
          <a:xfrm>
            <a:off x="1801998" y="5403621"/>
            <a:ext cx="96230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Assume: Logic 1 means 5 V on input side. Logic 0 means 0 voltage/GND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4481D86-58F1-DEB1-7B83-FA37E2DFF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96668" y="2058777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782946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0658817-D3CF-7848-7779-4DAE4BE6E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1393650E-159E-EC2D-1A21-CDBCAEC1267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E0E5CA60-AB38-CFCA-F807-958C3F93E30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C5413DBC-F99E-EA10-1E13-31D07ED6C20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39E86CD3-5BAF-A84F-AB85-557CC7E2C4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D7D1FA-2B27-0601-7DCF-EE9FEC5492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solidFill>
                  <a:srgbClr val="0070C0"/>
                </a:solidFill>
              </a:rPr>
              <a:t>Case 1:   </a:t>
            </a:r>
            <a:r>
              <a:rPr lang="en-US" sz="2400" dirty="0"/>
              <a:t>A = 0, B = 0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1AD302-D438-CB68-77D5-CD807C854F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234178" y="708705"/>
            <a:ext cx="4291170" cy="256834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D8276C-B7B9-1B03-EC12-F7BFC97FE531}"/>
              </a:ext>
            </a:extLst>
          </p:cNvPr>
          <p:cNvSpPr txBox="1"/>
          <p:nvPr/>
        </p:nvSpPr>
        <p:spPr>
          <a:xfrm>
            <a:off x="866085" y="2167749"/>
            <a:ext cx="632851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FACT: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We need at least 0.7 V to turn on any diode.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Conclusion: 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and D2 are OFF.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97CF36F-63FF-8044-D420-21ADC81133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19373" y="3209936"/>
            <a:ext cx="4175284" cy="25523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/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−0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=&gt;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𝑉𝑜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08E2161-B6C4-0E76-FA9D-3F12B4A158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4628" y="4132162"/>
                <a:ext cx="4096069" cy="576183"/>
              </a:xfrm>
              <a:prstGeom prst="rect">
                <a:avLst/>
              </a:prstGeom>
              <a:blipFill>
                <a:blip r:embed="rId8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/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=0 ( 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𝑙𝑜𝑔𝑖𝑐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C4B8F30-49C6-66F5-012D-B97ABF7E7F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5718" y="5035544"/>
                <a:ext cx="1615635" cy="307777"/>
              </a:xfrm>
              <a:prstGeom prst="rect">
                <a:avLst/>
              </a:prstGeom>
              <a:blipFill>
                <a:blip r:embed="rId9"/>
                <a:stretch>
                  <a:fillRect l="-3019" r="-4906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85866878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54C87CC8-E568-4DC0-3FC6-1D64D6A5E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69190FE-4B10-CFF5-1A5E-E2F94A5032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3B4BCB19-C9CB-25FF-D827-DC577E8A6D5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C31521A-28FF-AEB1-2DD8-EF512DAB941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713F585-DA2C-7AFF-C103-E1FA523D710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12D8B1-2357-2C94-70A3-3430530724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2:   </a:t>
            </a:r>
            <a:r>
              <a:rPr lang="en-US" sz="2400" dirty="0"/>
              <a:t>A = 0, B = 1</a:t>
            </a:r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D0A850-03F1-776F-A824-19ED92965BBC}"/>
                  </a:ext>
                </a:extLst>
              </p:cNvPr>
              <p:cNvSpPr txBox="1"/>
              <p:nvPr/>
            </p:nvSpPr>
            <p:spPr>
              <a:xfrm>
                <a:off x="875439" y="2101480"/>
                <a:ext cx="5359098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First thing to check whether diodes are on or off.</a:t>
                </a:r>
              </a:p>
              <a:p>
                <a:r>
                  <a:rPr lang="en-US" sz="2400" dirty="0">
                    <a:solidFill>
                      <a:srgbClr val="0070C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# Here: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be OFF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𝐷</m:t>
                        </m:r>
                      </m:e>
                      <m:sub>
                        <m: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will be ON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29D0A850-03F1-776F-A824-19ED92965B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439" y="2101480"/>
                <a:ext cx="5359098" cy="1200329"/>
              </a:xfrm>
              <a:prstGeom prst="rect">
                <a:avLst/>
              </a:prstGeom>
              <a:blipFill>
                <a:blip r:embed="rId4"/>
                <a:stretch>
                  <a:fillRect l="-1820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/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F30289D-D591-309C-659E-7D5962BBD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499" y="4786206"/>
                <a:ext cx="1686167" cy="307777"/>
              </a:xfrm>
              <a:prstGeom prst="rect">
                <a:avLst/>
              </a:prstGeom>
              <a:blipFill>
                <a:blip r:embed="rId5"/>
                <a:stretch>
                  <a:fillRect l="-2899" r="-5072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/>
              <p:nvPr/>
            </p:nvSpPr>
            <p:spPr>
              <a:xfrm>
                <a:off x="521019" y="3622669"/>
                <a:ext cx="6346351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1" smtClean="0">
                          <a:solidFill>
                            <a:srgbClr val="836967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5F63907-BD21-88A1-6692-850D0432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19" y="3622669"/>
                <a:ext cx="6346351" cy="68967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0C84B978-C42D-B922-8047-69DFB84914F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8000" y="1586288"/>
            <a:ext cx="5370326" cy="343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038864"/>
      </p:ext>
    </p:extLst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4117EE6-3539-627D-7CB7-CFB67DF45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CD1C695-A0AB-E434-BA1D-CF56018B6F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B26F4F4-FBA6-46D0-D95D-D20D4596259C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9B5BDAB5-963B-A949-A6E4-5BAC6E5C2B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B9C2A0AF-2ECE-F573-429B-0868396BDD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C715-23F0-7154-72D5-3EC44E7F0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3:   </a:t>
            </a:r>
            <a:r>
              <a:rPr lang="en-US" sz="2400" dirty="0"/>
              <a:t>A = 1, B = 0 ( symmetrical to case 1 )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E89800-463F-13A1-E489-62AF5F23AE8E}"/>
              </a:ext>
            </a:extLst>
          </p:cNvPr>
          <p:cNvSpPr txBox="1"/>
          <p:nvPr/>
        </p:nvSpPr>
        <p:spPr>
          <a:xfrm>
            <a:off x="1090863" y="2069432"/>
            <a:ext cx="473584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OFF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/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4900C13-29B5-9B47-1761-A0E3E2B37E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812" y="4749860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888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BD80BC-E52D-C211-6D4D-E2777D824BE7}"/>
                  </a:ext>
                </a:extLst>
              </p:cNvPr>
              <p:cNvSpPr txBox="1"/>
              <p:nvPr/>
            </p:nvSpPr>
            <p:spPr>
              <a:xfrm>
                <a:off x="521019" y="3622669"/>
                <a:ext cx="6346351" cy="6896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US" sz="2000" b="1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d>
                            <m:dPr>
                              <m:ctrlPr>
                                <a:rPr lang="en-US" sz="20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1">
                                  <a:latin typeface="Cambria Math" panose="02040503050406030204" pitchFamily="18" charset="0"/>
                                </a:rPr>
                                <m:t>𝑽𝒐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𝟎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US" sz="2000" b="1" i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e>
                          </m:d>
                        </m:num>
                        <m:den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US" sz="2000" b="1" i="0">
                              <a:latin typeface="Cambria Math" panose="02040503050406030204" pitchFamily="18" charset="0"/>
                            </a:rPr>
                            <m:t>𝟐𝟓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000" b="1" i="0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𝑽𝒐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𝟏𝟎𝟎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000" b="1" i="1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sz="2000" b="1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  <m:r>
                        <a:rPr lang="en-US" sz="2000" b="1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𝑽𝒐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𝟐𝟖𝟗𝟑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000" b="1" i="1">
                          <a:latin typeface="Cambria Math" panose="02040503050406030204" pitchFamily="18" charset="0"/>
                        </a:rPr>
                        <m:t>𝑽</m:t>
                      </m:r>
                      <m:r>
                        <a:rPr lang="en-US" sz="2000" b="1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8BD80BC-E52D-C211-6D4D-E2777D824B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019" y="3622669"/>
                <a:ext cx="6346351" cy="6896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C94DCE84-D59D-B8DE-B817-A4E3A73756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2095" y="1912685"/>
            <a:ext cx="4882148" cy="303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8571505"/>
      </p:ext>
    </p:extLst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D0C9A9C9-37D1-288D-8E6C-E20B5627A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0FFC1D8-4A9D-DD63-3E2A-B4AEC33D3A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74AFF98-8CAF-C7E4-CE17-66531908A785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B7820944-2307-2566-FBA9-A2843450D7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A33C2AE7-8B0D-77A8-1E3F-669305642D1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3E5740-1BF2-1952-7532-FC8921C611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b="1" dirty="0">
                <a:solidFill>
                  <a:srgbClr val="0070C0"/>
                </a:solidFill>
              </a:rPr>
              <a:t>Case 4:   </a:t>
            </a:r>
            <a:r>
              <a:rPr lang="en-US" sz="2400" dirty="0"/>
              <a:t>A = 1, B = 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60A966-E12A-1FF9-8BC0-5AF28E3C3B32}"/>
              </a:ext>
            </a:extLst>
          </p:cNvPr>
          <p:cNvSpPr txBox="1"/>
          <p:nvPr/>
        </p:nvSpPr>
        <p:spPr>
          <a:xfrm>
            <a:off x="1090863" y="2069432"/>
            <a:ext cx="513295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 thing to check whether diodes are on or off.</a:t>
            </a:r>
          </a:p>
          <a:p>
            <a:r>
              <a:rPr lang="en-US" sz="2400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# Here: </a:t>
            </a:r>
            <a:r>
              <a:rPr lang="en-US" sz="24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D1 will be ON and D2 will be 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/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𝒀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 ( 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𝒍𝒐𝒈𝒊𝒄</m:t>
                      </m:r>
                      <m:r>
                        <a:rPr lang="en-US" sz="20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A6F7FB4-C42D-7A64-F0DC-1D8767202F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5933" y="5628589"/>
                <a:ext cx="1686167" cy="307777"/>
              </a:xfrm>
              <a:prstGeom prst="rect">
                <a:avLst/>
              </a:prstGeom>
              <a:blipFill>
                <a:blip r:embed="rId4"/>
                <a:stretch>
                  <a:fillRect l="-2527" r="-4693" b="-37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/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0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  <m:t>5−</m:t>
                          </m:r>
                          <m:d>
                            <m:dPr>
                              <m:ctrlPr>
                                <a:rPr lang="en-US" sz="2000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𝑉𝑜</m:t>
                              </m:r>
                              <m:r>
                                <a:rPr lang="en-US" sz="2000" i="0">
                                  <a:latin typeface="Cambria Math" panose="02040503050406030204" pitchFamily="18" charset="0"/>
                                </a:rPr>
                                <m:t>+0.7</m:t>
                              </m:r>
                            </m:e>
                          </m:d>
                        </m:num>
                        <m:den>
                          <m:r>
                            <a:rPr lang="en-US" sz="2000" i="0">
                              <a:latin typeface="Cambria Math" panose="02040503050406030204" pitchFamily="18" charset="0"/>
                            </a:rPr>
                            <m:t>0.25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den>
                      </m:f>
                      <m:r>
                        <a:rPr lang="en-US" sz="20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𝑉𝑜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−0</m:t>
                          </m:r>
                        </m:num>
                        <m:den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100 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sz="2000">
                              <a:latin typeface="Cambria Math" panose="02040503050406030204" pitchFamily="18" charset="0"/>
                            </a:rPr>
                            <m:t> </m:t>
                          </m:r>
                        </m:den>
                      </m:f>
                    </m:oMath>
                  </m:oMathPara>
                </a14:m>
                <a:endParaRPr lang="en-US" sz="2000" i="0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0">
                          <a:latin typeface="Cambria Math" panose="02040503050406030204" pitchFamily="18" charset="0"/>
                        </a:rPr>
                        <m:t>=&gt;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𝑉𝑜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=4.2946 </m:t>
                      </m:r>
                      <m:r>
                        <a:rPr lang="en-US" sz="20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000" i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872789D-9B05-510B-A26E-0BF70233CB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306" y="4065769"/>
                <a:ext cx="6094070" cy="99745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2B22C45E-EC70-0934-CCDA-CC420E0B11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428" y="2039320"/>
            <a:ext cx="5565765" cy="3198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94330"/>
      </p:ext>
    </p:extLst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610173-BB66-5E61-35EE-2F5019E92E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A4F14B11-75BA-3148-9BF3-3B9D4AE1EC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11114A16-49D6-4150-E1DD-3BD4185D162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630D0B98-FB09-BD8A-22D4-BD328E17B4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28F964D-B70F-D8E6-1754-A9834F70A4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E2EC47-EB95-DA50-3FCC-10BFA423E880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dirty="0"/>
                  <a:t>Two input OR Gate Findings</a:t>
                </a:r>
              </a:p>
              <a:p>
                <a:pPr marL="114300" indent="0">
                  <a:buNone/>
                </a:pPr>
                <a:r>
                  <a:rPr lang="en-US" dirty="0"/>
                  <a:t>#4.28 V , 4.29 V</a:t>
                </a:r>
              </a:p>
              <a:p>
                <a:pPr marL="114300" indent="0">
                  <a:buNone/>
                </a:pPr>
                <a:r>
                  <a:rPr lang="en-US" dirty="0"/>
                  <a:t># logical High and Low can be </a:t>
                </a:r>
              </a:p>
              <a:p>
                <a:pPr marL="114300" indent="0">
                  <a:buNone/>
                </a:pPr>
                <a:r>
                  <a:rPr lang="en-US" dirty="0"/>
                  <a:t>Different at input and output side</a:t>
                </a:r>
              </a:p>
              <a:p>
                <a:pPr marL="11430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𝑂𝐻</m:t>
                        </m:r>
                      </m:sub>
                    </m:sSub>
                  </m:oMath>
                </a14:m>
                <a:r>
                  <a:rPr lang="en-US" dirty="0"/>
                  <a:t> = 4.28 V</a:t>
                </a:r>
              </a:p>
              <a:p>
                <a:pPr marL="114300" indent="0">
                  <a:buNone/>
                </a:pPr>
                <a:r>
                  <a:rPr lang="en-US" dirty="0"/>
                  <a:t> ( lowest of the outputs values </a:t>
                </a:r>
              </a:p>
              <a:p>
                <a:pPr marL="114300" indent="0">
                  <a:buNone/>
                </a:pPr>
                <a:r>
                  <a:rPr lang="en-US" dirty="0"/>
                  <a:t>that can be considered as logic 1 )</a:t>
                </a:r>
              </a:p>
              <a:p>
                <a:pPr marL="114300" indent="0">
                  <a:buNone/>
                </a:pPr>
                <a:endParaRPr lang="en-US" dirty="0"/>
              </a:p>
              <a:p>
                <a:pPr marL="11430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96E2EC47-EB95-DA50-3FCC-10BFA423E8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6" y="1376515"/>
                <a:ext cx="10586884" cy="4721789"/>
              </a:xfrm>
              <a:blipFill>
                <a:blip r:embed="rId4"/>
                <a:stretch>
                  <a:fillRect l="-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6D407A3-8F31-D2CF-EABD-F2969BBC77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4207357"/>
              </p:ext>
            </p:extLst>
          </p:nvPr>
        </p:nvGraphicFramePr>
        <p:xfrm>
          <a:off x="6132247" y="1256189"/>
          <a:ext cx="5243736" cy="395312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3956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73956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161057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86855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639524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1017278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4.2893V</a:t>
                      </a:r>
                    </a:p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639524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4.2946 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3590026"/>
      </p:ext>
    </p:extLst>
  </p:cSld>
  <p:clrMapOvr>
    <a:masterClrMapping/>
  </p:clrMapOvr>
  <p:transition spd="slow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3547CFCE-728C-6E06-288E-2FFD64F63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1340743-D8E3-87F3-4B95-3CB081421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Power Dissipation Calculation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B7E91256-2238-E7A3-C003-9910C534A9B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4399EBB9-A834-C190-ABBE-685EE52C50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5721C1D7-BDCC-099D-3168-4EAA6CE1211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FBBA43-D4FF-8B95-1BEA-FC065639B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Theory: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316B6B-3A0F-0668-B483-616A39FF46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88557" y="1376515"/>
            <a:ext cx="5833641" cy="4726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281095"/>
      </p:ext>
    </p:extLst>
  </p:cSld>
  <p:clrMapOvr>
    <a:masterClrMapping/>
  </p:clrMapOvr>
  <p:transition spd="slow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98D2F09B-EBB9-0616-2FAA-340A31CBF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4451697A-4674-5FDE-8AC5-EF03BE21E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095EB6B-DC47-3294-BC92-844D95056D3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1C82D846-7805-1EB8-1E1A-5AF164B83F4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B6FEBC6-65FF-8C8A-5AC4-D338ABEC0CE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055A8C-4DF7-5EC2-81DD-1388D4EC9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Example: </a:t>
            </a:r>
            <a:r>
              <a:rPr lang="en-US" dirty="0"/>
              <a:t>Find the max power dissipation of the given circuit.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2499B7-327D-EAB3-ECDF-23B966FF52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495739" y="2663176"/>
            <a:ext cx="4578715" cy="2740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068546"/>
      </p:ext>
    </p:extLst>
  </p:cSld>
  <p:clrMapOvr>
    <a:masterClrMapping/>
  </p:clrMapOvr>
  <p:transition spd="slow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0FFF85C-BBE3-4360-3936-51C4221C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FA0C6B89-E6D9-2BAC-CF79-D7817E3D6A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Max Power Dissipation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6B1268E6-1925-8707-495F-A1D9A83B044F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7DE3B057-B885-A187-9112-6D1226BCB09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25328C76-3F5D-ED1E-0BD2-664D34F2771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1A599E-ED71-70AF-1B67-695944B004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Max power dissipation will be in the case 4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/>
              <p:nvPr/>
            </p:nvSpPr>
            <p:spPr>
              <a:xfrm>
                <a:off x="698091" y="2249682"/>
                <a:ext cx="5397910" cy="31539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𝑽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𝟒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𝑽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mbria Math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 </m:t>
                      </m:r>
                      <m:f>
                        <m:fPr>
                          <m:ctrlP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−( </m:t>
                          </m:r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𝟕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𝟎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.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𝟐𝟓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2000" b="1" i="1" kern="1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𝟎𝟐𝟏𝟔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𝒎𝑨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𝒊</m:t>
                      </m:r>
                      <m:r>
                        <a:rPr lang="en-US" sz="2000" b="1" i="1" kern="1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𝟏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en-US" sz="2000" b="1" i="1" kern="100" smtClean="0">
                                  <a:effectLst/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Times New Roman" panose="02020603050405020304" pitchFamily="18" charset="0"/>
                                </a:rPr>
                                <m:t>𝟎</m:t>
                              </m:r>
                            </m:sub>
                          </m:s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num>
                        <m:den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𝟏𝟎𝟎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𝒌</m:t>
                          </m:r>
                        </m:den>
                      </m:f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𝟎𝟒𝟐𝟗𝟒𝟔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𝒎𝑨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𝑷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+</m:t>
                      </m:r>
                      <m:d>
                        <m:d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∗</m:t>
                      </m:r>
                      <m:sSub>
                        <m:sSubPr>
                          <m:ctrlP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𝒊</m:t>
                          </m:r>
                        </m:e>
                        <m:sub>
                          <m:r>
                            <a:rPr lang="en-US" sz="2000" b="1" i="1" kern="100" smtClean="0">
                              <a:effectLst/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Times New Roman" panose="020206030504050203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= 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𝟎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.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𝟐𝟏𝟔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sz="2000" b="1" i="1" kern="100" smtClean="0">
                          <a:effectLst/>
                          <a:latin typeface="Cambria Math" panose="020405030504060302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m:t>𝒎𝑾</m:t>
                      </m:r>
                    </m:oMath>
                  </m:oMathPara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sz="2000" b="1" i="1" kern="100" dirty="0"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Or </a:t>
                </a:r>
                <a14:m>
                  <m:oMath xmlns:m="http://schemas.openxmlformats.org/officeDocument/2006/math"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𝑷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𝟓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𝟎</m:t>
                        </m:r>
                      </m:e>
                    </m:d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∗</m:t>
                    </m:r>
                    <m:sSub>
                      <m:sSubPr>
                        <m:ctrlP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e>
                      <m:sub>
                        <m:r>
                          <a:rPr lang="en-US" sz="2000" b="1" i="1" kern="100" smtClean="0">
                            <a:effectLst/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</m:sub>
                    </m:sSub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𝟎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.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𝟐𝟏𝟔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000" b="1" i="1" kern="100" smtClean="0">
                        <a:effectLst/>
                        <a:latin typeface="Cambria Math" panose="020405030504060302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𝒎𝑾</m:t>
                    </m:r>
                  </m:oMath>
                </a14:m>
                <a:endParaRPr lang="en-US" sz="2000" b="1" i="1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2E01B6C-4C65-584C-493F-4C10FFB7B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091" y="2249682"/>
                <a:ext cx="5397910" cy="3153940"/>
              </a:xfrm>
              <a:prstGeom prst="rect">
                <a:avLst/>
              </a:prstGeom>
              <a:blipFill>
                <a:blip r:embed="rId4"/>
                <a:stretch>
                  <a:fillRect l="-1243" b="-25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B919986-2FAC-66BD-0E8C-15307FE65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artisticPhotocopy/>
                    </a14:imgEffect>
                  </a14:imgLayer>
                </a14:imgProps>
              </a:ext>
            </a:extLst>
          </a:blip>
          <a:srcRect t="1590" r="15168"/>
          <a:stretch/>
        </p:blipFill>
        <p:spPr>
          <a:xfrm>
            <a:off x="6306165" y="2236695"/>
            <a:ext cx="5187745" cy="3299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122406"/>
      </p:ext>
    </p:extLst>
  </p:cSld>
  <p:clrMapOvr>
    <a:masterClrMapping/>
  </p:clrMapOvr>
  <p:transition spd="slow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817F1146-4D73-5BA9-D28E-63DC6091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54E3F65-04EC-0274-0148-06C0DE113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8374B998-1D9F-BBDF-4663-8FB00FB9E6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8E7A71A0-2675-6BC3-5FFB-DE0901A5B45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8F2A179F-22AF-165A-27D2-E2ECB4B94B9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0347B3-23A6-39B3-1432-5A900E4398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6" y="1376515"/>
            <a:ext cx="10586884" cy="4721789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dirty="0"/>
              <a:t>AND gate: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0EF40B-2CD9-B9D3-73A8-73372673B8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884516" y="1222034"/>
            <a:ext cx="5249186" cy="404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04745"/>
      </p:ext>
    </p:extLst>
  </p:cSld>
  <p:clrMapOvr>
    <a:masterClrMapping/>
  </p:clrMapOvr>
  <p:transition spd="slow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2773AA72-57B4-A6AC-85E1-4A4A0D35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5D1B0847-8594-676A-826B-C8FD243ACAA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FFEF1573-EF55-6E96-CFF7-652BAD8CFE91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5743DEA3-D66D-C70D-61C3-2F48C14C74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25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0B40B077-8A90-7246-794D-2E81455EB44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C599F5-69A5-52BD-4F57-1CE3A8BDD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6915" y="1376515"/>
            <a:ext cx="10735273" cy="446281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/>
              <a:t>Exercise: </a:t>
            </a:r>
            <a:r>
              <a:rPr lang="en-US" dirty="0"/>
              <a:t>Analysis the four possible input and fill the table. Also find the V</a:t>
            </a:r>
            <a:r>
              <a:rPr lang="en-US" baseline="-25000" dirty="0"/>
              <a:t>OL</a:t>
            </a:r>
            <a:r>
              <a:rPr lang="en-US" dirty="0"/>
              <a:t> for this circuit.</a:t>
            </a:r>
          </a:p>
          <a:p>
            <a:pPr marL="114300" indent="0">
              <a:buNone/>
            </a:pPr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10362FF-7FDF-E869-A820-F7A74776D3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7217660"/>
              </p:ext>
            </p:extLst>
          </p:nvPr>
        </p:nvGraphicFramePr>
        <p:xfrm>
          <a:off x="1096668" y="2343296"/>
          <a:ext cx="4858470" cy="325844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09745">
                  <a:extLst>
                    <a:ext uri="{9D8B030D-6E8A-4147-A177-3AD203B41FA5}">
                      <a16:colId xmlns:a16="http://schemas.microsoft.com/office/drawing/2014/main" val="1132275219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91184497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1177790703"/>
                    </a:ext>
                  </a:extLst>
                </a:gridCol>
                <a:gridCol w="809745">
                  <a:extLst>
                    <a:ext uri="{9D8B030D-6E8A-4147-A177-3AD203B41FA5}">
                      <a16:colId xmlns:a16="http://schemas.microsoft.com/office/drawing/2014/main" val="88843274"/>
                    </a:ext>
                  </a:extLst>
                </a:gridCol>
                <a:gridCol w="1075752">
                  <a:extLst>
                    <a:ext uri="{9D8B030D-6E8A-4147-A177-3AD203B41FA5}">
                      <a16:colId xmlns:a16="http://schemas.microsoft.com/office/drawing/2014/main" val="3952961742"/>
                    </a:ext>
                  </a:extLst>
                </a:gridCol>
                <a:gridCol w="543738">
                  <a:extLst>
                    <a:ext uri="{9D8B030D-6E8A-4147-A177-3AD203B41FA5}">
                      <a16:colId xmlns:a16="http://schemas.microsoft.com/office/drawing/2014/main" val="2824518980"/>
                    </a:ext>
                  </a:extLst>
                </a:gridCol>
              </a:tblGrid>
              <a:tr h="527141"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2181821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974969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3441111"/>
                  </a:ext>
                </a:extLst>
              </a:tr>
              <a:tr h="838512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7125093"/>
                  </a:ext>
                </a:extLst>
              </a:tr>
              <a:tr h="527141"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5V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1789473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F4B413BA-D034-DE50-A864-327F112BBC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artisticPhotocopy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30879" y="2222722"/>
            <a:ext cx="5419184" cy="337902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DA8DA7D-1155-5402-CAF2-AABEA2EC99FD}"/>
              </a:ext>
            </a:extLst>
          </p:cNvPr>
          <p:cNvSpPr txBox="1"/>
          <p:nvPr/>
        </p:nvSpPr>
        <p:spPr>
          <a:xfrm>
            <a:off x="1507958" y="5839326"/>
            <a:ext cx="98458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Hints: Logical low voltage at the output side --</a:t>
            </a:r>
            <a:r>
              <a:rPr lang="en-US" dirty="0">
                <a:sym typeface="Wingdings" panose="05000000000000000000" pitchFamily="2" charset="2"/>
              </a:rPr>
              <a:t> Highest voltage for which the output is considered to be 0 or logic low.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012679"/>
      </p:ext>
    </p:extLst>
  </p:cSld>
  <p:clrMapOvr>
    <a:masterClrMapping/>
  </p:clrMapOvr>
  <p:transition spd="slow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CE8C1948-F43E-982E-F869-28C693D62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6D5F8FC6-8F5E-DEA3-CDE0-6EEC67801F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D0E1BC24-25DB-2FB3-CD6E-A93E801DBE5E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F276120B-2C90-B081-A4EB-BE8318CFC5C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26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3F5C183-5DE2-F68A-2072-DA46A03849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400" dirty="0"/>
                  <a:t>Try yourself,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1.  Design a logic circuit,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r>
                  <a:rPr lang="en-US" sz="2400" dirty="0"/>
                  <a:t> using diode logic.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2. For the given circuit find the maximum </a:t>
                </a:r>
              </a:p>
              <a:p>
                <a:pPr marL="114300" indent="0">
                  <a:buNone/>
                </a:pPr>
                <a:r>
                  <a:rPr lang="en-US" sz="2400" dirty="0"/>
                  <a:t>     power and average power.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B44CC1DA-B18A-196A-0862-FC7864192E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79593C8-74D2-D3A0-80F0-503249C3CB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6432" y="2605549"/>
            <a:ext cx="4778653" cy="2975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9309728"/>
      </p:ext>
    </p:extLst>
  </p:cSld>
  <p:clrMapOvr>
    <a:masterClrMapping/>
  </p:clrMapOvr>
  <p:transition spd="slow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C29A98D-7374-7D2E-C45A-9745B8DF04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35C5EEC-D4CF-BBCE-E3CB-48B2E312BE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967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imes New Roman"/>
              <a:buNone/>
            </a:pPr>
            <a:r>
              <a:rPr lang="en-US" dirty="0">
                <a:solidFill>
                  <a:schemeClr val="accent1"/>
                </a:solidFill>
              </a:rPr>
              <a:t>Diode logic</a:t>
            </a:r>
            <a:endParaRPr dirty="0">
              <a:solidFill>
                <a:schemeClr val="accent1"/>
              </a:solidFill>
            </a:endParaRPr>
          </a:p>
        </p:txBody>
      </p:sp>
      <p:sp>
        <p:nvSpPr>
          <p:cNvPr id="100" name="Google Shape;100;p2">
            <a:extLst>
              <a:ext uri="{FF2B5EF4-FFF2-40B4-BE49-F238E27FC236}">
                <a16:creationId xmlns:a16="http://schemas.microsoft.com/office/drawing/2014/main" id="{A4A85108-E4B9-D832-5AEA-BDE8AD8D51E6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077151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CSE 350</a:t>
            </a:r>
            <a:endParaRPr dirty="0"/>
          </a:p>
        </p:txBody>
      </p:sp>
      <p:sp>
        <p:nvSpPr>
          <p:cNvPr id="101" name="Google Shape;101;p2">
            <a:extLst>
              <a:ext uri="{FF2B5EF4-FFF2-40B4-BE49-F238E27FC236}">
                <a16:creationId xmlns:a16="http://schemas.microsoft.com/office/drawing/2014/main" id="{EC0B46DF-9E94-03D7-6411-1BBA3D67F9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/>
              <a:t>27</a:t>
            </a:fld>
            <a:endParaRPr dirty="0"/>
          </a:p>
        </p:txBody>
      </p:sp>
      <p:pic>
        <p:nvPicPr>
          <p:cNvPr id="102" name="Google Shape;102;p2">
            <a:extLst>
              <a:ext uri="{FF2B5EF4-FFF2-40B4-BE49-F238E27FC236}">
                <a16:creationId xmlns:a16="http://schemas.microsoft.com/office/drawing/2014/main" id="{C42E9722-E697-183F-5779-E6C6FAE6A29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586" y="5403622"/>
            <a:ext cx="1035082" cy="103508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33138E-C217-C26D-F3D4-0DF33ED1F281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</p:spPr>
            <p:txBody>
              <a:bodyPr>
                <a:normAutofit/>
              </a:bodyPr>
              <a:lstStyle/>
              <a:p>
                <a:pPr marL="114300" indent="0">
                  <a:buNone/>
                </a:pPr>
                <a:r>
                  <a:rPr lang="en-US" sz="2000" dirty="0"/>
                  <a:t>Try yourself,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Here, Logical High is 5V and Logical Low is 0V,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𝑎𝑛𝑑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6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000" dirty="0"/>
              </a:p>
              <a:p>
                <a:pPr marL="114300" indent="0">
                  <a:buNone/>
                </a:pPr>
                <a:r>
                  <a:rPr lang="en-US" sz="2000" dirty="0"/>
                  <a:t>1. Determine the logic function this circuit is implementing. </a:t>
                </a:r>
              </a:p>
              <a:p>
                <a:pPr marL="114300" indent="0">
                  <a:buNone/>
                </a:pPr>
                <a:r>
                  <a:rPr lang="en-US" sz="2000" dirty="0"/>
                  <a:t>2. Calculate the output voltage and power dissipation of the entire circuit when A=Low, B=High, C=Low.</a:t>
                </a: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EF33138E-C217-C26D-F3D4-0DF33ED1F2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766915" y="1376515"/>
                <a:ext cx="10735273" cy="4462811"/>
              </a:xfr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E5C06ADF-499B-9ED5-A0E5-3AAC3F10D2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75416" y="3089324"/>
            <a:ext cx="5449669" cy="2940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9098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</TotalTime>
  <Words>1308</Words>
  <Application>Microsoft Office PowerPoint</Application>
  <PresentationFormat>Widescreen</PresentationFormat>
  <Paragraphs>276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Calibri</vt:lpstr>
      <vt:lpstr>Cambria Math</vt:lpstr>
      <vt:lpstr>Noto Sans Symbols</vt:lpstr>
      <vt:lpstr>Times New Roman</vt:lpstr>
      <vt:lpstr>Wingdings</vt:lpstr>
      <vt:lpstr>Office Theme</vt:lpstr>
      <vt:lpstr>CSE 350 Digital Electronics and Pulse Techniques 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Review ( Electronic Circuits and Devices)</vt:lpstr>
      <vt:lpstr>Abstract of Logic Gate:</vt:lpstr>
      <vt:lpstr>Logic families</vt:lpstr>
      <vt:lpstr>Logic families</vt:lpstr>
      <vt:lpstr>Logic families</vt:lpstr>
      <vt:lpstr>Logic families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Diode logic</vt:lpstr>
      <vt:lpstr>Power Dissipation Calculation</vt:lpstr>
      <vt:lpstr>Max Power Dissipation</vt:lpstr>
      <vt:lpstr>Max Power Dissipation</vt:lpstr>
      <vt:lpstr>Diode logic</vt:lpstr>
      <vt:lpstr>Diode logic</vt:lpstr>
      <vt:lpstr>Diode logic</vt:lpstr>
      <vt:lpstr>Diode logic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nazmul turjo</dc:creator>
  <cp:lastModifiedBy>USER</cp:lastModifiedBy>
  <cp:revision>17</cp:revision>
  <dcterms:created xsi:type="dcterms:W3CDTF">2021-07-10T07:14:46Z</dcterms:created>
  <dcterms:modified xsi:type="dcterms:W3CDTF">2026-04-11T15:37:45Z</dcterms:modified>
</cp:coreProperties>
</file>