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jcY7A02sxZKNLc7w8axPQFhvim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72CFD85-70E9-433A-985E-03476F533C1C}">
  <a:tblStyle styleId="{672CFD85-70E9-433A-985E-03476F533C1C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5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" name="Google Shape;9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" name="Google Shape;14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5" name="Google Shape;185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5" name="Google Shape;21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shomen.kundu@bracu.ac.bd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489586" y="226142"/>
            <a:ext cx="9699524" cy="230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350</a:t>
            </a:r>
            <a:b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9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Electronics and Pulse Techniques</a:t>
            </a:r>
            <a:b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>
            <a:spLocks noGrp="1"/>
          </p:cNvSpPr>
          <p:nvPr>
            <p:ph type="ftr" idx="11"/>
          </p:nvPr>
        </p:nvSpPr>
        <p:spPr>
          <a:xfrm>
            <a:off x="3812458" y="637089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 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6926825" y="5456700"/>
            <a:ext cx="526517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Mail: </a:t>
            </a:r>
            <a:r>
              <a:rPr lang="en-US" sz="2000" b="0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shomen.kundu@bracu.ac.bd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Desk: 4N148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564194" y="2154678"/>
            <a:ext cx="850490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DTL - NAND Gate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115959" y="5558167"/>
            <a:ext cx="555031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Course Instructor</a:t>
            </a: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Shomen Kundu (SDU)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</a:t>
            </a:r>
            <a:endParaRPr/>
          </a:p>
        </p:txBody>
      </p:sp>
      <p:sp>
        <p:nvSpPr>
          <p:cNvPr id="100" name="Google Shape;100;p7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01" name="Google Shape;101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2" name="Google Shape;10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7"/>
          <p:cNvSpPr txBox="1">
            <a:spLocks noGrp="1"/>
          </p:cNvSpPr>
          <p:nvPr>
            <p:ph type="body" idx="1"/>
          </p:nvPr>
        </p:nvSpPr>
        <p:spPr>
          <a:xfrm>
            <a:off x="685308" y="1334586"/>
            <a:ext cx="10668492" cy="3510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b="1" dirty="0"/>
              <a:t>DTL : </a:t>
            </a:r>
            <a:r>
              <a:rPr lang="en-US" sz="2400" dirty="0"/>
              <a:t>Diode Transistor Logic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b="1" dirty="0"/>
              <a:t>Bipolar : </a:t>
            </a:r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dirty="0"/>
              <a:t>Saturated ( Switching transistor will be operating in cutoff or saturation mode)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dirty="0"/>
              <a:t>Input terminals connect through a diode to a transistor’s base terminal.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 NAND Gate</a:t>
            </a:r>
            <a:endParaRPr/>
          </a:p>
        </p:txBody>
      </p:sp>
      <p:sp>
        <p:nvSpPr>
          <p:cNvPr id="109" name="Google Shape;109;p15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11" name="Google Shape;11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>
            <a:spLocks noGrp="1"/>
          </p:cNvSpPr>
          <p:nvPr>
            <p:ph type="body" idx="1"/>
          </p:nvPr>
        </p:nvSpPr>
        <p:spPr>
          <a:xfrm>
            <a:off x="685308" y="1334585"/>
            <a:ext cx="4400039" cy="392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b="1" dirty="0"/>
              <a:t>Basic Operation: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dirty="0"/>
              <a:t>DTL NAND Gate</a:t>
            </a:r>
            <a:endParaRPr sz="2400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dirty="0"/>
              <a:t>2 input AND gate + Inverter 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pic>
        <p:nvPicPr>
          <p:cNvPr id="113" name="Google Shape;113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74239" y="767426"/>
            <a:ext cx="5420481" cy="4820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 NAND Gate</a:t>
            </a:r>
            <a:endParaRPr/>
          </a:p>
        </p:txBody>
      </p:sp>
      <p:sp>
        <p:nvSpPr>
          <p:cNvPr id="119" name="Google Shape;119;p16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21" name="Google Shape;121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685308" y="1334585"/>
            <a:ext cx="4400039" cy="392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b="1" dirty="0"/>
              <a:t>Basic Operation: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dirty="0"/>
              <a:t>DTL NAND Gate</a:t>
            </a:r>
            <a:endParaRPr sz="2400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dirty="0"/>
              <a:t>2 input AND gate + Inverter 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pic>
        <p:nvPicPr>
          <p:cNvPr id="123" name="Google Shape;123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53640" y="959575"/>
            <a:ext cx="7328943" cy="4444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 NAND Gate</a:t>
            </a:r>
            <a:endParaRPr/>
          </a:p>
        </p:txBody>
      </p:sp>
      <p:sp>
        <p:nvSpPr>
          <p:cNvPr id="129" name="Google Shape;129;p17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31" name="Google Shape;13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>
            <a:spLocks noGrp="1"/>
          </p:cNvSpPr>
          <p:nvPr>
            <p:ph type="body" idx="1"/>
          </p:nvPr>
        </p:nvSpPr>
        <p:spPr>
          <a:xfrm>
            <a:off x="685308" y="1334586"/>
            <a:ext cx="11399520" cy="2323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b="1" dirty="0"/>
              <a:t>Example:</a:t>
            </a:r>
            <a:r>
              <a:rPr lang="en-US" sz="2400" dirty="0"/>
              <a:t> Calculate the currents and node voltages for the following DTL gate. Verify it is a NAND gate. Input of the DTL NAND gate might be connected to the output of other DTL NAND gate.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 b="1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pic>
        <p:nvPicPr>
          <p:cNvPr id="133" name="Google Shape;133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7716" y="2949676"/>
            <a:ext cx="3943800" cy="3406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 NAND Gate</a:t>
            </a:r>
            <a:endParaRPr/>
          </a:p>
        </p:txBody>
      </p:sp>
      <p:sp>
        <p:nvSpPr>
          <p:cNvPr id="139" name="Google Shape;139;p18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40" name="Google Shape;14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41" name="Google Shape;14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>
            <a:spLocks noGrp="1"/>
          </p:cNvSpPr>
          <p:nvPr>
            <p:ph type="body" idx="1"/>
          </p:nvPr>
        </p:nvSpPr>
        <p:spPr>
          <a:xfrm>
            <a:off x="685308" y="1334586"/>
            <a:ext cx="11185850" cy="3558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 b="1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graphicFrame>
        <p:nvGraphicFramePr>
          <p:cNvPr id="143" name="Google Shape;143;p18"/>
          <p:cNvGraphicFramePr/>
          <p:nvPr>
            <p:extLst>
              <p:ext uri="{D42A27DB-BD31-4B8C-83A1-F6EECF244321}">
                <p14:modId xmlns:p14="http://schemas.microsoft.com/office/powerpoint/2010/main" val="2790348816"/>
              </p:ext>
            </p:extLst>
          </p:nvPr>
        </p:nvGraphicFramePr>
        <p:xfrm>
          <a:off x="2227093" y="1608489"/>
          <a:ext cx="6799050" cy="3146225"/>
        </p:xfrm>
        <a:graphic>
          <a:graphicData uri="http://schemas.openxmlformats.org/drawingml/2006/table">
            <a:tbl>
              <a:tblPr firstRow="1" bandRow="1">
                <a:noFill/>
                <a:tableStyleId>{672CFD85-70E9-433A-985E-03476F533C1C}</a:tableStyleId>
              </a:tblPr>
              <a:tblGrid>
                <a:gridCol w="2266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6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6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5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 dirty="0"/>
                        <a:t>V</a:t>
                      </a:r>
                      <a:r>
                        <a:rPr lang="en-US" sz="2000" b="1" u="none" strike="noStrike" cap="none" baseline="-25000" dirty="0"/>
                        <a:t>A</a:t>
                      </a:r>
                      <a:endParaRPr sz="20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/>
                        <a:t>V</a:t>
                      </a:r>
                      <a:r>
                        <a:rPr lang="en-US" sz="2000" b="1" u="none" strike="noStrike" cap="none" baseline="-25000"/>
                        <a:t>B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/>
                        <a:t>V</a:t>
                      </a:r>
                      <a:r>
                        <a:rPr lang="en-US" sz="2000" b="1" u="none" strike="noStrike" cap="none" baseline="-25000"/>
                        <a:t>o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7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0.2</a:t>
                      </a:r>
                      <a:endParaRPr sz="20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0.2</a:t>
                      </a:r>
                      <a:endParaRPr sz="20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7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0.2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5</a:t>
                      </a:r>
                      <a:endParaRPr sz="20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7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5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0.2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0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7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5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5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0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 NAND Gate</a:t>
            </a:r>
            <a:endParaRPr/>
          </a:p>
        </p:txBody>
      </p:sp>
      <p:sp>
        <p:nvSpPr>
          <p:cNvPr id="149" name="Google Shape;149;p2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50" name="Google Shape;15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51" name="Google Shape;15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"/>
          <p:cNvSpPr txBox="1">
            <a:spLocks noGrp="1"/>
          </p:cNvSpPr>
          <p:nvPr>
            <p:ph type="body" idx="1"/>
          </p:nvPr>
        </p:nvSpPr>
        <p:spPr>
          <a:xfrm>
            <a:off x="720212" y="1128866"/>
            <a:ext cx="10515600" cy="435133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dirty="0"/>
              <a:t> </a:t>
            </a: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 NAND Gate</a:t>
            </a:r>
            <a:endParaRPr/>
          </a:p>
        </p:txBody>
      </p:sp>
      <p:sp>
        <p:nvSpPr>
          <p:cNvPr id="158" name="Google Shape;158;p20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59" name="Google Shape;15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60" name="Google Shape;16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0"/>
          <p:cNvSpPr txBox="1">
            <a:spLocks noGrp="1"/>
          </p:cNvSpPr>
          <p:nvPr>
            <p:ph type="body" idx="1"/>
          </p:nvPr>
        </p:nvSpPr>
        <p:spPr>
          <a:xfrm>
            <a:off x="685308" y="1334585"/>
            <a:ext cx="6462743" cy="4269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dirty="0"/>
              <a:t># In order for T transistor to turn on we need to have V</a:t>
            </a:r>
            <a:r>
              <a:rPr lang="en-US" sz="2400" baseline="-25000" dirty="0"/>
              <a:t>BE</a:t>
            </a:r>
            <a:r>
              <a:rPr lang="en-US" sz="2400" dirty="0"/>
              <a:t> = 0.5 ( cut in voltage of transistors ) , we also need to have VD3 = VD4 = 0.6 V ( Cut in voltage for diode ) 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dirty="0"/>
              <a:t> As a total we require,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dirty="0"/>
              <a:t>VD3 + VD4 + V</a:t>
            </a:r>
            <a:r>
              <a:rPr lang="en-US" sz="2400" baseline="-25000" dirty="0"/>
              <a:t>BE</a:t>
            </a:r>
            <a:r>
              <a:rPr lang="en-US" sz="2400" dirty="0"/>
              <a:t> = 0.6 + 0.6 + 0.5 = 1.7 V at p node to turn on the right side of the circuits. 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dirty="0"/>
              <a:t>Necessary condition to turn the transistor T. 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dirty="0"/>
              <a:t>If  V</a:t>
            </a:r>
            <a:r>
              <a:rPr lang="en-US" sz="2400" baseline="-25000" dirty="0"/>
              <a:t>P</a:t>
            </a:r>
            <a:r>
              <a:rPr lang="en-US" sz="2400" dirty="0"/>
              <a:t> = 0.9 V, then T can not turn on. This justifies our assumption. 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pic>
        <p:nvPicPr>
          <p:cNvPr id="162" name="Google Shape;162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06373" y="1514138"/>
            <a:ext cx="5210902" cy="2553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 NAND Gate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70" name="Google Shape;17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1"/>
          <p:cNvSpPr txBox="1">
            <a:spLocks noGrp="1"/>
          </p:cNvSpPr>
          <p:nvPr>
            <p:ph type="body" idx="1"/>
          </p:nvPr>
        </p:nvSpPr>
        <p:spPr>
          <a:xfrm>
            <a:off x="661443" y="1120878"/>
            <a:ext cx="6860233" cy="489646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72" name="Google Shape;172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93012" y="1120878"/>
            <a:ext cx="4601186" cy="3844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6"/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 NAND Gate</a:t>
            </a:r>
            <a:endParaRPr/>
          </a:p>
        </p:txBody>
      </p:sp>
      <p:sp>
        <p:nvSpPr>
          <p:cNvPr id="178" name="Google Shape;178;p36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9" name="Google Shape;179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80" name="Google Shape;180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6"/>
          <p:cNvSpPr txBox="1">
            <a:spLocks noGrp="1"/>
          </p:cNvSpPr>
          <p:nvPr>
            <p:ph type="body" idx="1"/>
          </p:nvPr>
        </p:nvSpPr>
        <p:spPr>
          <a:xfrm>
            <a:off x="657931" y="896256"/>
            <a:ext cx="6824417" cy="552341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7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82" name="Google Shape;182;p3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52664" y="1730477"/>
            <a:ext cx="4343919" cy="3631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7"/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 NAND Gate</a:t>
            </a:r>
            <a:endParaRPr/>
          </a:p>
        </p:txBody>
      </p:sp>
      <p:sp>
        <p:nvSpPr>
          <p:cNvPr id="188" name="Google Shape;188;p37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89" name="Google Shape;189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90" name="Google Shape;190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7"/>
          <p:cNvSpPr txBox="1">
            <a:spLocks noGrp="1"/>
          </p:cNvSpPr>
          <p:nvPr>
            <p:ph type="body" idx="1"/>
          </p:nvPr>
        </p:nvSpPr>
        <p:spPr>
          <a:xfrm>
            <a:off x="657931" y="896256"/>
            <a:ext cx="6824417" cy="552341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7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92" name="Google Shape;192;p3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66664" y="1238384"/>
            <a:ext cx="4423317" cy="3886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8"/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 NAND Gate</a:t>
            </a:r>
            <a:endParaRPr/>
          </a:p>
        </p:txBody>
      </p:sp>
      <p:sp>
        <p:nvSpPr>
          <p:cNvPr id="198" name="Google Shape;198;p38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99" name="Google Shape;199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200" name="Google Shape;200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8"/>
          <p:cNvSpPr txBox="1">
            <a:spLocks noGrp="1"/>
          </p:cNvSpPr>
          <p:nvPr>
            <p:ph type="body" idx="1"/>
          </p:nvPr>
        </p:nvSpPr>
        <p:spPr>
          <a:xfrm>
            <a:off x="657931" y="896256"/>
            <a:ext cx="7227540" cy="552341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66" t="-107" b="-10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dirty="0"/>
              <a:t> </a:t>
            </a:r>
            <a:endParaRPr dirty="0"/>
          </a:p>
        </p:txBody>
      </p:sp>
      <p:pic>
        <p:nvPicPr>
          <p:cNvPr id="202" name="Google Shape;202;p3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59130" y="1344162"/>
            <a:ext cx="4854211" cy="3837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9"/>
          <p:cNvSpPr txBox="1">
            <a:spLocks noGrp="1"/>
          </p:cNvSpPr>
          <p:nvPr>
            <p:ph type="title"/>
          </p:nvPr>
        </p:nvSpPr>
        <p:spPr>
          <a:xfrm>
            <a:off x="838200" y="89950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DTL NAND</a:t>
            </a:r>
            <a:endParaRPr dirty="0"/>
          </a:p>
        </p:txBody>
      </p:sp>
      <p:sp>
        <p:nvSpPr>
          <p:cNvPr id="208" name="Google Shape;208;p39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09" name="Google Shape;209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210" name="Google Shape;210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9"/>
          <p:cNvSpPr txBox="1">
            <a:spLocks noGrp="1"/>
          </p:cNvSpPr>
          <p:nvPr>
            <p:ph type="body" idx="1"/>
          </p:nvPr>
        </p:nvSpPr>
        <p:spPr>
          <a:xfrm>
            <a:off x="657931" y="896256"/>
            <a:ext cx="6824417" cy="552341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7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 </a:t>
            </a:r>
            <a:endParaRPr/>
          </a:p>
        </p:txBody>
      </p:sp>
      <p:pic>
        <p:nvPicPr>
          <p:cNvPr id="212" name="Google Shape;212;p3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79343" y="1681316"/>
            <a:ext cx="4606838" cy="3641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0"/>
          <p:cNvSpPr txBox="1">
            <a:spLocks noGrp="1"/>
          </p:cNvSpPr>
          <p:nvPr>
            <p:ph type="title"/>
          </p:nvPr>
        </p:nvSpPr>
        <p:spPr>
          <a:xfrm>
            <a:off x="838200" y="709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DTL NAND</a:t>
            </a:r>
            <a:endParaRPr dirty="0"/>
          </a:p>
        </p:txBody>
      </p:sp>
      <p:sp>
        <p:nvSpPr>
          <p:cNvPr id="218" name="Google Shape;218;p40"/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19" name="Google Shape;219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220" name="Google Shape;220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40"/>
          <p:cNvSpPr txBox="1">
            <a:spLocks noGrp="1"/>
          </p:cNvSpPr>
          <p:nvPr>
            <p:ph type="body" idx="1"/>
          </p:nvPr>
        </p:nvSpPr>
        <p:spPr>
          <a:xfrm>
            <a:off x="657931" y="896256"/>
            <a:ext cx="10432856" cy="126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b="0" dirty="0"/>
              <a:t>From the analysis we can get, the input output relationship. This indicates a NAND gate. </a:t>
            </a:r>
            <a:endParaRPr b="0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0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0" baseline="-25000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graphicFrame>
        <p:nvGraphicFramePr>
          <p:cNvPr id="222" name="Google Shape;222;p40"/>
          <p:cNvGraphicFramePr/>
          <p:nvPr>
            <p:extLst>
              <p:ext uri="{D42A27DB-BD31-4B8C-83A1-F6EECF244321}">
                <p14:modId xmlns:p14="http://schemas.microsoft.com/office/powerpoint/2010/main" val="2791944209"/>
              </p:ext>
            </p:extLst>
          </p:nvPr>
        </p:nvGraphicFramePr>
        <p:xfrm>
          <a:off x="1392904" y="2694038"/>
          <a:ext cx="6799050" cy="2989000"/>
        </p:xfrm>
        <a:graphic>
          <a:graphicData uri="http://schemas.openxmlformats.org/drawingml/2006/table">
            <a:tbl>
              <a:tblPr firstRow="1" bandRow="1">
                <a:noFill/>
                <a:tableStyleId>{672CFD85-70E9-433A-985E-03476F533C1C}</a:tableStyleId>
              </a:tblPr>
              <a:tblGrid>
                <a:gridCol w="2266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6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6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7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 u="none" strike="noStrike" cap="none"/>
                        <a:t>VA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 u="none" strike="noStrike" cap="none"/>
                        <a:t>VB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 u="none" strike="noStrike" cap="none"/>
                        <a:t>Vo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7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 u="none" strike="noStrike" cap="none"/>
                        <a:t>0.2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 u="none" strike="noStrike" cap="none"/>
                        <a:t>0.2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 u="none" strike="noStrike" cap="none"/>
                        <a:t>5 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7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 u="none" strike="noStrike" cap="none"/>
                        <a:t>0.2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 u="none" strike="noStrike" cap="none"/>
                        <a:t>5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 u="none" strike="noStrike" cap="none"/>
                        <a:t>5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7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 u="none" strike="noStrike" cap="none"/>
                        <a:t>5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 u="none" strike="noStrike" cap="none"/>
                        <a:t>0.2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 u="none" strike="noStrike" cap="none"/>
                        <a:t>5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7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 u="none" strike="noStrike" cap="none"/>
                        <a:t>5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 u="none" strike="noStrike" cap="none"/>
                        <a:t>5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0.2</a:t>
                      </a:r>
                      <a:endParaRPr sz="20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359</Words>
  <Application>Microsoft Office PowerPoint</Application>
  <PresentationFormat>Widescreen</PresentationFormat>
  <Paragraphs>131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CSE 350 Digital Electronics and Pulse Techniques </vt:lpstr>
      <vt:lpstr>DTL</vt:lpstr>
      <vt:lpstr>DTL NAND Gate</vt:lpstr>
      <vt:lpstr>DTL NAND Gate</vt:lpstr>
      <vt:lpstr>DTL NAND Gate</vt:lpstr>
      <vt:lpstr>DTL NAND Gate</vt:lpstr>
      <vt:lpstr>DTL NAND Gate</vt:lpstr>
      <vt:lpstr>DTL NAND Gate</vt:lpstr>
      <vt:lpstr>DTL NAND Gate</vt:lpstr>
      <vt:lpstr>DTL NAND Gate</vt:lpstr>
      <vt:lpstr>DTL NAND Gate</vt:lpstr>
      <vt:lpstr>DTL NAND Gate</vt:lpstr>
      <vt:lpstr>DTL NAND</vt:lpstr>
      <vt:lpstr>DTL NAND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350 Digital Electronics and Pulse Techniques </dc:title>
  <dc:creator>nazmul turjo</dc:creator>
  <cp:lastModifiedBy>Shomen Kundu</cp:lastModifiedBy>
  <cp:revision>2</cp:revision>
  <dcterms:created xsi:type="dcterms:W3CDTF">2021-07-10T07:14:46Z</dcterms:created>
  <dcterms:modified xsi:type="dcterms:W3CDTF">2025-08-24T02:43:57Z</dcterms:modified>
</cp:coreProperties>
</file>