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317" r:id="rId3"/>
    <p:sldId id="318" r:id="rId4"/>
    <p:sldId id="319" r:id="rId5"/>
    <p:sldId id="339" r:id="rId6"/>
    <p:sldId id="340" r:id="rId7"/>
    <p:sldId id="274" r:id="rId8"/>
    <p:sldId id="322" r:id="rId9"/>
    <p:sldId id="320" r:id="rId10"/>
    <p:sldId id="321" r:id="rId11"/>
    <p:sldId id="275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4" r:id="rId20"/>
    <p:sldId id="341" r:id="rId21"/>
    <p:sldId id="335" r:id="rId22"/>
    <p:sldId id="330" r:id="rId23"/>
    <p:sldId id="331" r:id="rId24"/>
    <p:sldId id="332" r:id="rId25"/>
    <p:sldId id="333" r:id="rId26"/>
    <p:sldId id="336" r:id="rId27"/>
    <p:sldId id="337" r:id="rId28"/>
    <p:sldId id="338" r:id="rId29"/>
    <p:sldId id="342" r:id="rId30"/>
    <p:sldId id="343" r:id="rId31"/>
    <p:sldId id="344" r:id="rId32"/>
    <p:sldId id="345" r:id="rId33"/>
    <p:sldId id="346" r:id="rId34"/>
    <p:sldId id="347" r:id="rId35"/>
    <p:sldId id="348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0902705-1622-126D-1B16-DD482CF3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E941C73-C1DA-CA72-CD64-1A6BFDBB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2870527-EB1E-81FE-4BDE-3991747FD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6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681E042-E261-2A6C-1243-A0E69483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B7E44EE-CE0C-8FAA-F34F-5A851589A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647D7F7-2FA0-EC28-567C-A73DB8EF6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2300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DD1BFB4-FC8C-73D1-1102-595FED6E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3127102-AC90-A78E-799C-EBA4B1B98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786448D-BADE-FBC3-AE0B-B4FA721A1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776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48C7BD3-8167-D891-DFD4-B070F48E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B89F5E-4D6E-C97E-483F-C9DF31F5C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6B90E88-1F44-2DBD-3DCD-45262A2B2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2609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E4F72AE-3909-B15C-A713-167B8A0E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A291AA-7421-7008-BFA2-AB1A66CCF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45289B4-D1DD-4488-2D17-1D832114B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2082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83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90B7730-0EA2-132D-5E78-346C8542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6E5A29-3745-5F6B-2601-B2C64AD09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6CEF796-9077-8D83-A7A2-6FDB96911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3889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48C7BD3-8167-D891-DFD4-B070F48E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B89F5E-4D6E-C97E-483F-C9DF31F5C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6B90E88-1F44-2DBD-3DCD-45262A2B2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9115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E4F72AE-3909-B15C-A713-167B8A0E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A291AA-7421-7008-BFA2-AB1A66CCF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45289B4-D1DD-4488-2D17-1D832114B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6492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9175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AAAC219-2F02-6252-74AA-68F9E6F2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D9CF9C0-C171-0FCA-E798-0D26512FC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80391FC-3341-EF63-BCFB-929BBA5DB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650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1546765-22E1-4B06-D64F-C3877003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EF40E4A-7C8B-815C-1B4B-1E5EE4D7C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081A6A2-4A1E-6717-9BD3-1BD682D34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3488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553B27A-965B-9170-9375-F96E654A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D562133-2EEF-C2E8-D96A-3E6E622E9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0AF6E1-54C6-6CF4-66B1-241A4898C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3168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835CC6B-746B-C403-6301-58EF8A3A6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9B05F7C-9103-C5DD-51EF-A4059CEC8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B5147FD-81EF-4DB9-8829-8B7598215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5327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7B43C93-28C2-CC58-7D78-77D1F27A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D1C51FE-0AA4-934C-C422-2FC56D1C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2FDF918-3DA3-1B72-0A56-13F74C98E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5560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03E399B-BF83-303A-047C-3906B573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5D4AFCD-D7A7-7FC7-D1A2-18073393B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D27E804-0849-978A-AE64-1DBD52257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3189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DCEECCC-7AC2-011A-8BAD-D1B73692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749196C-38F4-6997-7F24-FB8DA997E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DD44857-29ED-9E5B-0E64-0444AE956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2547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04DB0C9-725A-32F6-C1D7-0DB6FEC9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DBC92AD-ACF0-E1C1-A103-4EF394C3B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011340E-280F-AAA8-31A4-A84116649D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835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F3605CA-85EF-B252-9A78-A05495AE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774173D-8F38-06B7-76B0-C9539CC37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F032A81-16AD-EB89-F4A6-E30B30DD9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3327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4893483-932A-5688-217A-2FD99DAF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4A4478C-0A68-E78D-DC7F-DCDE52AE4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6566650-7383-1A54-3A47-CFA11C1BC8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7801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FB71D69-DB2F-F851-5057-06A8D8A0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A85782E-4CEA-D618-DE9A-17AC560D7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3308F08-600E-ACE0-C795-E73506E88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0298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4D778DC-DFE0-81FF-1D7A-CAFE7072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26EFBAD-A0C5-A1F3-3D59-F8B7343F1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5B451D1-3584-7A0C-4BE3-00E295C29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1505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C31E0A4-AD64-045D-AB93-8BCA0C20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9E9D921-B583-EFB1-505F-D49AB846E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0CC567-0FA3-150D-7369-63E93BCFA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03733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8762CDC-0393-50E4-8F91-2B126C86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F6FFC91-C4DA-B2AA-A7D9-047ECBFA9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78C7BE8-F745-33FC-5FA8-C3B901840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2899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9DE7B78-97F1-9291-D41D-AE65E793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DF8EFA8-D582-B014-5870-441F57D00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A54A8E8-00F6-513D-DCAE-F7298B1B41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8974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2F3EF2A-2B37-5E7F-868B-B131DD24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6AAEEFC-BB90-078F-F799-BDD22B31F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F79E1F0-B17F-E420-54A5-2229D1B2DE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9432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1DE2C72-CC64-89EC-6294-6631D75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A71290-766A-2589-F953-9322647A4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5D5BA86-001E-F035-A95C-E561D577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43371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51AEED3-6539-200D-8F69-C6F8E2CD8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558C0A4-8F10-169C-4962-18133CBA4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22A7C44-7EBD-113F-6DDB-24F087441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64839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3D92E83-37D2-183D-8C4B-F98F9668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A749D8F-F9A9-9FCF-8DB7-2D787FF59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6D96A8E-52ED-6545-E9C8-4A4C14F04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3102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C0F9F80-BA45-7B9C-668A-E9EEDB19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C35FC4D-1C0D-24DF-B690-67870D5AE8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59596C8-04DE-26A5-9033-79698DE63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60639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21B7177-5436-EA1C-BEBD-0794C7C7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D7A892E-1F65-1ABF-742D-B191FB29A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15A9CC8-FF52-B200-EDEC-C06710D92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59237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AF9AFCD-54D1-B957-D507-8D300500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D708517-9B40-FD7C-55C0-B15B0CA30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4709CFD-5A17-87A8-0821-66AE9EBFC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1595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FF889E9-A328-2A98-24B4-99CF66B4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E83F812-994B-FC48-1BB3-45DA38894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D436DBC-8C49-E6D8-6D25-9A1907114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14569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B4BBCA8-898B-B133-CA07-CCA35A0C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B00FFD3-C985-1CE7-54BB-C831BACE3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54F04AE-2805-C454-FDAB-06D7B2FC8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023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4N139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4581832" y="3242311"/>
            <a:ext cx="4977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RTL circuits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85FCB86-2F6D-B158-FB11-8B24B0D87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5356DA4-FC5A-7919-3D5F-D352958BE5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62BA595-9725-3011-D769-6B6B10E2C2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812240F-FEA0-2CC7-A48E-08082C6EBE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DB08D8A-8F77-EEBD-B5A8-68826D1FEB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BA1C6-48D9-3788-9665-9639121EC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Not gate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417D6-CA97-862B-558B-835AD4F40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151" y="1524188"/>
            <a:ext cx="5256257" cy="39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7058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91ED13F-53AE-9526-326E-9E5CE530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66D3E65-4542-9AC0-2411-5831BA809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3055D23-A83D-7E5B-7B00-6B2D6C0243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A5CA88F-D5B7-A1EA-6289-205C76B917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09F5DDB-E640-3239-6673-4AF1834261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891A9-7E15-09D6-BB5B-DE365FCE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Case 1</a:t>
            </a:r>
            <a:r>
              <a:rPr lang="en-US" dirty="0"/>
              <a:t>:  A = 0 , vi = 0 V</a:t>
            </a:r>
          </a:p>
          <a:p>
            <a:pPr marL="114300" indent="0">
              <a:buNone/>
            </a:pPr>
            <a:r>
              <a:rPr lang="en-US" dirty="0"/>
              <a:t># input low, output </a:t>
            </a:r>
          </a:p>
          <a:p>
            <a:pPr marL="114300" indent="0">
              <a:buNone/>
            </a:pPr>
            <a:r>
              <a:rPr lang="en-US" dirty="0"/>
              <a:t>expected to be  high.</a:t>
            </a:r>
          </a:p>
          <a:p>
            <a:pPr marL="114300" indent="0">
              <a:buNone/>
            </a:pPr>
            <a:r>
              <a:rPr lang="en-US" dirty="0"/>
              <a:t>We need to prove it.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Assumption: </a:t>
            </a:r>
            <a:r>
              <a:rPr lang="en-US" dirty="0"/>
              <a:t>Cutoff mode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F7498-7BC1-3845-271B-14830491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471" y="1450351"/>
            <a:ext cx="5256257" cy="39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3211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F032AB6-FFFB-6A4F-CF29-61AF235A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2F72C73-9CB1-A387-F884-6916CF87D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FA933E9-F696-9B61-ED00-CB17D5435F4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2B75738-D185-AE21-5D61-A33711D6F2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1FA3BB2-CF25-72DE-D867-906BC9BCD5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A1C02E-BA09-674E-DF53-12CF778DD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5433" y="1376515"/>
                <a:ext cx="10956756" cy="4831780"/>
              </a:xfrm>
            </p:spPr>
            <p:txBody>
              <a:bodyPr>
                <a:normAutofit fontScale="77500" lnSpcReduction="20000"/>
              </a:bodyPr>
              <a:lstStyle/>
              <a:p>
                <a:pPr marL="114300" indent="0">
                  <a:buNone/>
                </a:pPr>
                <a:r>
                  <a:rPr lang="en-US" sz="4000" b="1" dirty="0"/>
                  <a:t>Verification</a:t>
                </a:r>
              </a:p>
              <a:p>
                <a:pPr marL="11430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15 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e>
                          </m:d>
                        </m:num>
                        <m:den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100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=&gt;</m:t>
                      </m:r>
                      <m:sSub>
                        <m:sSub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=−1.565 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</m:t>
                      </m:r>
                    </m:oMath>
                  </m:oMathPara>
                </a14:m>
                <a:endParaRPr lang="en-US" sz="2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sz="2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𝐻𝑒𝑟𝑒</m:t>
                          </m:r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As V</a:t>
                </a:r>
                <a:r>
                  <a:rPr lang="en-US" sz="2800" kern="1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 </a:t>
                </a: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-1.565 V&lt;0.7 V  ,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𝐵𝐶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=−13.565 </m:t>
                    </m:r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b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Assumption is correct</a:t>
                </a: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For cutoff mode: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280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=0= 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𝑉𝑐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2.2 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=12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A1C02E-BA09-674E-DF53-12CF778DD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5433" y="1376515"/>
                <a:ext cx="10956756" cy="4831780"/>
              </a:xfrm>
              <a:blipFill>
                <a:blip r:embed="rId4"/>
                <a:stretch>
                  <a:fillRect l="-278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4EDC892-18C7-B225-FDEF-21C30927C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5774" y="1325052"/>
            <a:ext cx="3882770" cy="332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834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73A6E1B-954D-A0D7-07A4-590D2B34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454BEED-B177-FCE0-2A65-1B20A892D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15B4360-B73E-58B5-B4A0-C7E9DE5DB5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D22427E-2625-D303-529A-1E08A7D3C9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A0536AB-5A5E-9BF4-2CD0-47B7F8ED54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Case 2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12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# input high, output </a:t>
                </a:r>
              </a:p>
              <a:p>
                <a:pPr marL="114300" indent="0">
                  <a:buNone/>
                </a:pPr>
                <a:r>
                  <a:rPr lang="en-US" dirty="0"/>
                  <a:t>expected to be  low.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can expect this BJT </a:t>
                </a:r>
              </a:p>
              <a:p>
                <a:pPr marL="114300" indent="0">
                  <a:buNone/>
                </a:pPr>
                <a:r>
                  <a:rPr lang="en-US" dirty="0"/>
                  <a:t>to be operating in  saturation mode.</a:t>
                </a:r>
              </a:p>
              <a:p>
                <a:pPr marL="114300" indent="0">
                  <a:buNone/>
                </a:pPr>
                <a:r>
                  <a:rPr lang="en-US" b="1" dirty="0"/>
                  <a:t>Assumption: </a:t>
                </a:r>
                <a:r>
                  <a:rPr lang="en-US" dirty="0"/>
                  <a:t>Saturation mode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7AA648-51C0-1FBD-E1CC-564283666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599" y="1187115"/>
            <a:ext cx="4719485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1451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4B79A90-D761-07B0-2161-07E40930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8E0A9D-DC01-757F-0791-8A808C898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AEF1-46B0-FF3C-3CEC-19BD531B9A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20922D0-5BD3-D74C-B610-1E8833C668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41ADD8C-ED77-63EE-4D36-47EA277D29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21CB7-9BC1-4742-FE6E-CA3D427D0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3909-FE6E-5927-8669-52ECD530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952" y="1376515"/>
            <a:ext cx="4034848" cy="3679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/>
              <p:nvPr/>
            </p:nvSpPr>
            <p:spPr>
              <a:xfrm>
                <a:off x="1263817" y="1210542"/>
                <a:ext cx="5976477" cy="5048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12−0.2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2.2 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=5.36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𝑺𝒂𝒕𝒖𝒓𝒂𝒕𝒊𝒐𝒏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12−0.8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=0.746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0.8−(−12)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=0.619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𝐻𝑒𝑟𝑒</m:t>
                          </m:r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𝑓𝑜𝑟𝑐𝑒𝑑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=8.659&lt;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0" kern="10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b="1" i="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 Saturation assumption is correct )</a:t>
                </a:r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817" y="1210542"/>
                <a:ext cx="5976477" cy="5048498"/>
              </a:xfrm>
              <a:prstGeom prst="rect">
                <a:avLst/>
              </a:prstGeom>
              <a:blipFill>
                <a:blip r:embed="rId5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9174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inverters: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460659-2271-9480-B5B2-7605E6029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53" y="1572071"/>
            <a:ext cx="5167194" cy="4349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D54B3-3519-C814-1949-669C46BE63A2}"/>
                  </a:ext>
                </a:extLst>
              </p:cNvPr>
              <p:cNvSpPr txBox="1"/>
              <p:nvPr/>
            </p:nvSpPr>
            <p:spPr>
              <a:xfrm>
                <a:off x="1347537" y="2668114"/>
                <a:ext cx="3568592" cy="1087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Case 01: T --&gt; Cutoff mode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 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D54B3-3519-C814-1949-669C46BE6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537" y="2668114"/>
                <a:ext cx="3568592" cy="1087862"/>
              </a:xfrm>
              <a:prstGeom prst="rect">
                <a:avLst/>
              </a:prstGeom>
              <a:blipFill>
                <a:blip r:embed="rId5"/>
                <a:stretch>
                  <a:fillRect l="-2564" t="-3933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69206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F7A5907-FEAD-7755-12E4-71AADDC2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78F5941-EA31-167C-EFBF-5A11A7F183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E4C06D1-2755-3EF7-4567-563E56B1F90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1D4B8AC-79AB-F1D7-C19E-279370873A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6B576FF7-4B90-C6FB-0074-9D59015A52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5B7820-79AB-3976-2523-C98595CE2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198" y="1789471"/>
            <a:ext cx="5397440" cy="3480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2B06E1-4AE9-9A85-59D3-C82205515CCE}"/>
                  </a:ext>
                </a:extLst>
              </p:cNvPr>
              <p:cNvSpPr txBox="1"/>
              <p:nvPr/>
            </p:nvSpPr>
            <p:spPr>
              <a:xfrm>
                <a:off x="990599" y="2648561"/>
                <a:ext cx="7278329" cy="189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0−(−12)</m:t>
                          </m:r>
                        </m:num>
                        <m:den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(100+15) </m:t>
                          </m:r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=0.104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Power dissipation, </a:t>
                </a:r>
                <a:endParaRPr lang="en-US" sz="24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(0 – (−1</m:t>
                    </m:r>
                    <m:r>
                      <a:rPr lang="en-US" sz="2400" b="0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2))∗ 0.104</m:t>
                    </m:r>
                  </m:oMath>
                </a14:m>
                <a:r>
                  <a:rPr lang="en-US" sz="2400" kern="1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kern="1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1.2521 </m:t>
                    </m:r>
                    <m:r>
                      <a:rPr lang="en-US" sz="2400" b="0" i="1" kern="100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𝑚𝑊</m:t>
                    </m:r>
                  </m:oMath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2B06E1-4AE9-9A85-59D3-C82205515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648561"/>
                <a:ext cx="7278329" cy="1890839"/>
              </a:xfrm>
              <a:prstGeom prst="rect">
                <a:avLst/>
              </a:prstGeom>
              <a:blipFill>
                <a:blip r:embed="rId5"/>
                <a:stretch>
                  <a:fillRect l="-1256" b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7247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73A6E1B-954D-A0D7-07A4-590D2B34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454BEED-B177-FCE0-2A65-1B20A892D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15B4360-B73E-58B5-B4A0-C7E9DE5DB5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D22427E-2625-D303-529A-1E08A7D3C9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A0536AB-5A5E-9BF4-2CD0-47B7F8ED54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Case 2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12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# input high, output </a:t>
                </a:r>
              </a:p>
              <a:p>
                <a:pPr marL="114300" indent="0">
                  <a:buNone/>
                </a:pPr>
                <a:r>
                  <a:rPr lang="en-US" dirty="0"/>
                  <a:t>expected to be  low.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0.2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0.8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can expect this BJT </a:t>
                </a:r>
              </a:p>
              <a:p>
                <a:pPr marL="114300" indent="0">
                  <a:buNone/>
                </a:pPr>
                <a:r>
                  <a:rPr lang="en-US" dirty="0"/>
                  <a:t>to be operating in  saturation mode.</a:t>
                </a:r>
              </a:p>
              <a:p>
                <a:pPr marL="114300" indent="0">
                  <a:buNone/>
                </a:pPr>
                <a:r>
                  <a:rPr lang="en-US" b="1" dirty="0"/>
                  <a:t>Assumption: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Saturation mode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7AA648-51C0-1FBD-E1CC-564283666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599" y="1187115"/>
            <a:ext cx="4719485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80304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4B79A90-D761-07B0-2161-07E40930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8E0A9D-DC01-757F-0791-8A808C898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AEF1-46B0-FF3C-3CEC-19BD531B9A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20922D0-5BD3-D74C-B610-1E8833C668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41ADD8C-ED77-63EE-4D36-47EA277D29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21CB7-9BC1-4742-FE6E-CA3D427D0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3909-FE6E-5927-8669-52ECD530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942" y="1186265"/>
            <a:ext cx="5073614" cy="46267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/>
              <p:nvPr/>
            </p:nvSpPr>
            <p:spPr>
              <a:xfrm>
                <a:off x="689812" y="1205388"/>
                <a:ext cx="5604219" cy="5361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12−0.2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2.2 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=5.36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𝑺𝒂𝒕𝒖𝒓𝒂𝒕𝒊𝒐𝒏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12−0.8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=0.746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0.8−(−12)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=0.619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𝑓𝑜𝑟𝑐𝑒𝑑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r>
                            <a:rPr lang="en-US" sz="2000" b="0" i="1" kern="100" baseline="-250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r>
                            <a:rPr lang="en-US" sz="2000" b="0" i="1" kern="100" baseline="-250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=8.659&lt;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𝑺𝒂𝒕𝒖𝒓𝒂𝒕𝒊𝒐𝒏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𝒂𝒔𝒔𝒖𝒎𝒑𝒕𝒊𝒐𝒏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𝒊𝒔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𝒄𝒐𝒓𝒓𝒆𝒄𝒕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)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2" y="1205388"/>
                <a:ext cx="5604219" cy="53616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72737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0D0608-4CF8-09D0-3778-1398E4FDE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66" y="1564903"/>
            <a:ext cx="562053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826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69BABA5-DFA1-9295-2FFC-D6BF40D1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383AB03-9B34-04D5-A391-DB1F51524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A76800D-7A59-85D1-D494-415D38DA973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D470754-E86F-7168-D944-77E1215591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C2D1E6A-5D7A-75B0-0DC5-F0DC3401B3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9413E3-ADDC-56F3-D392-9CC9D8489661}"/>
                  </a:ext>
                </a:extLst>
              </p:cNvPr>
              <p:cNvSpPr txBox="1"/>
              <p:nvPr/>
            </p:nvSpPr>
            <p:spPr>
              <a:xfrm>
                <a:off x="1780674" y="1397753"/>
                <a:ext cx="7876673" cy="3506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1=</m:t>
                      </m:r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</m:t>
                          </m:r>
                          <m:d>
                            <m:d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e>
                          </m:d>
                        </m:e>
                      </m:d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∗0.128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=3.072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2=</m:t>
                      </m:r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∗0.6186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7.4323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3=</m:t>
                      </m:r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∗5.3632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=64.3632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Total Power, </a:t>
                </a:r>
                <a14:m>
                  <m:oMath xmlns:m="http://schemas.openxmlformats.org/officeDocument/2006/math"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𝟕𝟒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𝟖𝟓𝟖𝟒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𝒎𝑾</m:t>
                    </m:r>
                  </m:oMath>
                </a14:m>
                <a:endParaRPr lang="en-US" sz="24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9413E3-ADDC-56F3-D392-9CC9D848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74" y="1397753"/>
                <a:ext cx="7876673" cy="3506473"/>
              </a:xfrm>
              <a:prstGeom prst="rect">
                <a:avLst/>
              </a:prstGeom>
              <a:blipFill>
                <a:blip r:embed="rId4"/>
                <a:stretch>
                  <a:fillRect b="-3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83079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8E456AF-D069-D37C-D3C0-8948D086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5BE0CEC-CF23-953B-CB7F-B7C45E868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37724C6-CE5A-7BCE-2D17-25E1426E86E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6948063-8927-E501-3678-279B5439C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FF5B32A-1224-B208-A546-365696D0A0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2C5E7B-9A6E-2AFA-7568-765A04078DEF}"/>
              </a:ext>
            </a:extLst>
          </p:cNvPr>
          <p:cNvSpPr txBox="1"/>
          <p:nvPr/>
        </p:nvSpPr>
        <p:spPr>
          <a:xfrm>
            <a:off x="838200" y="1627494"/>
            <a:ext cx="5306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from one inverter is received as input to the next inverter.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interference, noise can hamper the signal transmission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BF4E2-574F-2D1C-35CB-97BEC2911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904" y="1185970"/>
            <a:ext cx="5306165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9596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1F47539-2D9D-FD1E-7154-5BDF938B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4EBC866-B2D1-73DE-F2FE-B819F1C2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6E8BBC7-8C1C-A060-814A-6A29A550B0E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DE9494D-2FFF-32CD-BAE6-29787F1B3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EEE6CBE8-9901-D1DF-B1EB-ADA3C0ECB6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2CD805-FFB1-9DF2-A49A-905C69C346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Noise Margin</a:t>
                </a:r>
                <a:r>
                  <a:rPr lang="en-US" dirty="0"/>
                  <a:t>: The maximum amount of noise voltage can be tolerated by a circuit while completing a successful transmission from output to input.</a:t>
                </a: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High state noise margin:</a:t>
                </a: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𝑁𝐻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𝑂𝐻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𝐼𝐻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Low state noise margin:</a:t>
                </a: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𝐼𝐿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𝑂𝐿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2CD805-FFB1-9DF2-A49A-905C69C34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93" r="-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266648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6892274-0C99-A213-C344-86C302AD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CCEDA4E-CB8C-E811-BDCE-A949B7DD2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E06B9D6-F006-62CD-FA41-2E34457ED48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925EEC4-DEE7-7A57-7A19-3D9F0F1769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26C1164-7859-2CAC-BA94-932582F10B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5296E-4CC8-1416-9AFB-87282B30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8A917C-E6CA-3B36-4F9C-AFA471C3A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5391" y="1266489"/>
            <a:ext cx="5785209" cy="457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9234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1001FD-1E97-6CEE-4FCF-7BBD747F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738E0C4-5EA9-2EC0-2193-8599237E3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DD798DB-0CE6-DE3D-2551-1A44C79CA1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49B17BB-2C18-53B6-EB65-948574B885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8DBAEBD-0185-5A32-C792-F07D132449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A8F04-A544-34E3-EA2D-30BD072A8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V</a:t>
            </a:r>
            <a:r>
              <a:rPr lang="en-US" sz="2400" baseline="-25000" dirty="0"/>
              <a:t>OH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The  minimum voltage level at an output in logical ‘1’ state under defined load condition</a:t>
            </a:r>
          </a:p>
          <a:p>
            <a:pPr marL="11430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V</a:t>
            </a:r>
            <a:r>
              <a:rPr lang="en-US" sz="2400" baseline="-25000" dirty="0">
                <a:sym typeface="Wingdings" panose="05000000000000000000" pitchFamily="2" charset="2"/>
              </a:rPr>
              <a:t>IH</a:t>
            </a:r>
            <a:r>
              <a:rPr lang="en-US" sz="2400" dirty="0">
                <a:sym typeface="Wingdings" panose="05000000000000000000" pitchFamily="2" charset="2"/>
              </a:rPr>
              <a:t>  The  minimum voltage level at an input in logical ‘1’ state under defined load condition</a:t>
            </a: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V</a:t>
            </a:r>
            <a:r>
              <a:rPr lang="en-US" sz="2400" baseline="-25000" dirty="0"/>
              <a:t>OL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The maximum voltage level at an output in the logical ‘0’ state under defined load condition.</a:t>
            </a:r>
          </a:p>
          <a:p>
            <a:pPr marL="11430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V</a:t>
            </a:r>
            <a:r>
              <a:rPr lang="en-US" sz="2400" baseline="-25000" dirty="0">
                <a:sym typeface="Wingdings" panose="05000000000000000000" pitchFamily="2" charset="2"/>
              </a:rPr>
              <a:t>IL</a:t>
            </a:r>
            <a:r>
              <a:rPr lang="en-US" sz="2400" dirty="0">
                <a:sym typeface="Wingdings" panose="05000000000000000000" pitchFamily="2" charset="2"/>
              </a:rPr>
              <a:t>  The maximum voltage level at an input in the logical ‘0’ state under defined load condition.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7901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78D229-AC91-E64E-2289-8265EC09A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C8C4999-0487-CD53-86A1-7CF21E556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D437168-B9AC-42F1-5F3D-F292091F90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A776A0F-4769-594E-6B1F-751F573B2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6174641-D59A-6F55-AF0F-A32D073B30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00C38-A18F-3F35-AA57-99D5E85F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54" y="1061884"/>
            <a:ext cx="6029945" cy="514774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400" dirty="0"/>
              <a:t>The output voltage might drop 0.5V from the maximum voltage. Find out the Noise Margin of the circuit. Given </a:t>
            </a:r>
            <a:r>
              <a:rPr lang="el-GR" sz="2400" dirty="0"/>
              <a:t>β</a:t>
            </a:r>
            <a:r>
              <a:rPr lang="en-US" sz="2400" baseline="-25000" dirty="0"/>
              <a:t>F</a:t>
            </a:r>
            <a:r>
              <a:rPr lang="en-US" sz="2400" dirty="0"/>
              <a:t>= 30.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OL</a:t>
            </a:r>
            <a:r>
              <a:rPr lang="en-US" sz="2400" b="1" dirty="0"/>
              <a:t> Calculation: </a:t>
            </a:r>
          </a:p>
          <a:p>
            <a:pPr marL="114300" indent="0">
              <a:buNone/>
            </a:pPr>
            <a:r>
              <a:rPr lang="en-US" sz="2400" dirty="0"/>
              <a:t>When input is high output should be low and BJT will remain at the saturation mode.</a:t>
            </a:r>
          </a:p>
          <a:p>
            <a:pPr marL="114300" indent="0">
              <a:buNone/>
            </a:pPr>
            <a:r>
              <a:rPr lang="en-US" sz="2400" dirty="0"/>
              <a:t>Max Vo for saturation mode will be 0.2 V</a:t>
            </a:r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OL</a:t>
            </a:r>
            <a:r>
              <a:rPr lang="en-US" sz="2400" b="1" dirty="0"/>
              <a:t> = 0.2 V ( saturated) </a:t>
            </a:r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OH</a:t>
            </a:r>
            <a:r>
              <a:rPr lang="en-US" sz="2400" b="1" dirty="0"/>
              <a:t> Calculation: </a:t>
            </a:r>
          </a:p>
          <a:p>
            <a:pPr marL="114300" indent="0">
              <a:buNone/>
            </a:pPr>
            <a:r>
              <a:rPr lang="en-US" sz="2400" dirty="0"/>
              <a:t>Maximum output voltage = 12V</a:t>
            </a:r>
            <a:r>
              <a:rPr lang="en-US" sz="2400" b="1" dirty="0"/>
              <a:t> ,</a:t>
            </a:r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OH</a:t>
            </a:r>
            <a:r>
              <a:rPr lang="en-US" sz="2400" b="1" dirty="0"/>
              <a:t> = 12 -0.5 =11.5 V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01B54-382F-6381-3AD1-8D9A7530D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003" y="648376"/>
            <a:ext cx="5012564" cy="475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51774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01E832B-6B59-232C-2949-77EBE62F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DA79AB0C-2309-3CDE-61D5-A5165F7BC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EAE223E-2132-8167-761A-0804E540DA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AE30AC6-C462-0AC1-C2D3-9B9CED41A9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67C2A31-3E53-4931-4741-33B084D132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475CC-B926-206F-C658-F982D76CE7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6275569" cy="4751569"/>
              </a:xfrm>
            </p:spPr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en-US" sz="2100" dirty="0"/>
                  <a:t>V</a:t>
                </a:r>
                <a:r>
                  <a:rPr lang="en-US" sz="2100" baseline="-25000" dirty="0"/>
                  <a:t>IL</a:t>
                </a:r>
                <a:r>
                  <a:rPr lang="en-US" sz="2100" dirty="0"/>
                  <a:t> calculation : </a:t>
                </a:r>
              </a:p>
              <a:p>
                <a:pPr marL="114300" indent="0">
                  <a:buNone/>
                </a:pPr>
                <a:r>
                  <a:rPr lang="en-US" sz="2100" dirty="0"/>
                  <a:t>The maximum voltage we might apply so that the transistor is still turn off. </a:t>
                </a:r>
              </a:p>
              <a:p>
                <a:pPr marL="114300" indent="0">
                  <a:buNone/>
                </a:pPr>
                <a:r>
                  <a:rPr lang="en-US" sz="2100" dirty="0"/>
                  <a:t>VBE = 0.5 V, we are on the verge of turning on the transistor T.</a:t>
                </a:r>
              </a:p>
              <a:p>
                <a:pPr>
                  <a:buFont typeface="Wingdings" panose="05000000000000000000" pitchFamily="2" charset="2"/>
                  <a:buChar char="à"/>
                </a:pPr>
                <a:r>
                  <a:rPr lang="en-US" sz="2100" dirty="0">
                    <a:sym typeface="Wingdings" panose="05000000000000000000" pitchFamily="2" charset="2"/>
                  </a:rPr>
                  <a:t>T : cutoff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sub>
                    </m:sSub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 0 , </m:t>
                    </m:r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endParaRPr lang="en-US" sz="21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100" dirty="0">
                    <a:sym typeface="Wingdings" panose="05000000000000000000" pitchFamily="2" charset="2"/>
                  </a:rPr>
                  <a:t>We need to find out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𝐵𝐸</m:t>
                        </m:r>
                      </m:sub>
                    </m:sSub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=0.5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100" dirty="0">
                    <a:sym typeface="Wingdings" panose="05000000000000000000" pitchFamily="2" charset="2"/>
                  </a:rPr>
                  <a:t>, what should be the input voltage.</a:t>
                </a:r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0.5−(−12)</m:t>
                          </m:r>
                        </m:num>
                        <m:den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</m:t>
                          </m:r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=0.125 </m:t>
                      </m:r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=&gt;</m:t>
                      </m:r>
                      <m:sSub>
                        <m:sSubPr>
                          <m:ctrlP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=0.5+15∗0.125=2.375 </m:t>
                      </m:r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1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voltage is maximum that we can apply to the inverter without turning on the transistor.</a:t>
                </a:r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𝐼𝐿</m:t>
                          </m:r>
                        </m:sub>
                      </m:sSub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=2.375 </m:t>
                      </m:r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sz="2000" b="1" dirty="0"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à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475CC-B926-206F-C658-F982D76CE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6275569" cy="4751569"/>
              </a:xfrm>
              <a:blipFill>
                <a:blip r:embed="rId4"/>
                <a:stretch>
                  <a:fillRect l="-972" r="-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306FD01-F5EE-7723-F93C-344C6D195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011" y="1554480"/>
            <a:ext cx="4370378" cy="34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81778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D443F44-82C0-A711-1C7A-D065C4EB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06E7E72-772A-9862-3C42-BE850CD1B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357EF9F-D72E-764D-359C-DBFAAA90C90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0D5B40D-4409-9514-8617-96449B7629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94788A68-FF07-92E3-7F2F-AC064B15C4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F715C12-BB0B-BDEB-2877-75E02BC5D9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7279805" cy="4979835"/>
              </a:xfrm>
            </p:spPr>
            <p:txBody>
              <a:bodyPr>
                <a:normAutofit fontScale="25000" lnSpcReduction="20000"/>
              </a:bodyPr>
              <a:lstStyle/>
              <a:p>
                <a:pPr marL="114300" indent="0">
                  <a:buNone/>
                </a:pP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lang="en-US" sz="7200" b="1" u="sng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IH</a:t>
                </a: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calculation : </a:t>
                </a:r>
              </a:p>
              <a:p>
                <a:pPr marL="114300" indent="0">
                  <a:buNone/>
                </a:pP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 </a:t>
                </a: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 Saturation</a:t>
                </a:r>
              </a:p>
              <a:p>
                <a:pPr marL="114300" indent="0">
                  <a:buNone/>
                </a:pPr>
                <a:r>
                  <a:rPr lang="en-US" sz="8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minimum high voltage that we can apply to the input so that the transistor is still operating in saturation mode. </a:t>
                </a:r>
                <a14:m>
                  <m:oMath xmlns:m="http://schemas.openxmlformats.org/officeDocument/2006/math">
                    <m:r>
                      <a:rPr lang="en-US" sz="80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8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0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8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30</a:t>
                </a:r>
              </a:p>
              <a:p>
                <a:pPr marL="114300" indent="0">
                  <a:buNone/>
                </a:pPr>
                <a:r>
                  <a:rPr lang="en-US" sz="8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need to apply such input voltage that transistor T is operating on the verge of going to saturation from forward active mode. </a:t>
                </a:r>
              </a:p>
              <a:p>
                <a:pPr marL="114300" indent="0">
                  <a:buNone/>
                </a:pPr>
                <a:r>
                  <a:rPr lang="en-US" sz="7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on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𝑽</m:t>
                        </m:r>
                      </m:e>
                      <m:sub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𝑩𝑬</m:t>
                        </m:r>
                      </m:sub>
                    </m:sSub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=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𝟖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𝑽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, </m:t>
                    </m:r>
                    <m:sSub>
                      <m:sSubPr>
                        <m:ctrlP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𝑽</m:t>
                        </m:r>
                      </m:e>
                      <m:sub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𝑪𝑬</m:t>
                        </m:r>
                      </m:sub>
                    </m:sSub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=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𝑽</m:t>
                    </m:r>
                  </m:oMath>
                </a14:m>
                <a:endParaRPr lang="en-US" sz="72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𝟏𝟐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𝟓</m:t>
                      </m:r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𝟑𝟔𝟑𝟔</m:t>
                      </m:r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𝒎𝑨</m:t>
                      </m:r>
                    </m:oMath>
                  </m:oMathPara>
                </a14:m>
                <a:endParaRPr lang="en-US" sz="7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𝒇𝒐𝒓𝒄𝒆𝒅</m:t>
                          </m:r>
                        </m:sub>
                      </m:sSub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72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72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72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72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sub>
                          </m:sSub>
                        </m:den>
                      </m:f>
                      <m:r>
                        <a:rPr lang="en-US" sz="72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≈ </m:t>
                      </m:r>
                      <m:sSub>
                        <m:sSubPr>
                          <m:ctrlP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72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  <m:r>
                            <a:rPr lang="en-US" sz="72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en-US" sz="72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7200" b="0" i="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(This will occur on the average of going from </a:t>
                </a:r>
                <a:endParaRPr lang="en-US" sz="7200" i="1" kern="10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7200" b="0" i="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sat. to forward active mode)</a:t>
                </a:r>
                <a:endParaRPr lang="en-US" sz="7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F715C12-BB0B-BDEB-2877-75E02BC5D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7279805" cy="4979835"/>
              </a:xfrm>
              <a:blipFill>
                <a:blip r:embed="rId4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5EC394-5413-85D4-390A-CE7A89138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76515"/>
            <a:ext cx="408369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327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D176586-DDDC-2E2A-0DCB-8D123A37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72589F4-F160-4F87-66F7-C9E6C9C0D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A806A1B-DEA5-36EB-0E0C-F8ADA21D640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41DC7C7-215C-55B9-CFBA-2F3699BB0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EBE176C7-B1F4-CE0F-172D-F3EFAE4CB3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90B304-419E-47F6-661F-D912DA343E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6685937" cy="4876801"/>
              </a:xfrm>
            </p:spPr>
            <p:txBody>
              <a:bodyPr>
                <a:normAutofit/>
              </a:bodyPr>
              <a:lstStyle/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0.1788 mA, </a:t>
                </a: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0.8−</m:t>
                          </m:r>
                          <m:d>
                            <m:d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e>
                          </m:d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=0.3068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−0.8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=0.3068</m:t>
                      </m:r>
                    </m:oMath>
                  </m:oMathPara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=0.8+0.3068∗15=5.4018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90B304-419E-47F6-661F-D912DA343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6685937" cy="487680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5E8A6CB-59F6-FD1B-0A21-33D996D35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76515"/>
            <a:ext cx="408369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8239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B2F8C43-B7CE-2963-7659-B986B3E6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C76D3E9-04C8-C83B-C60F-3A6923B50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7C8424F-B787-E872-6B61-B1AAD3391F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C8D18F0-3461-C9F4-5953-BB7C0AB36F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2F3AACD-6161-9223-6BDC-F2CAB37A1E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28F40B-926C-FAE4-968C-C4E6E0E019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1653685" cy="4384205"/>
              </a:xfrm>
            </p:spPr>
            <p:txBody>
              <a:bodyPr>
                <a:normAutofit/>
              </a:bodyPr>
              <a:lstStyle/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𝑁𝐻</m:t>
                          </m:r>
                        </m:sub>
                      </m:sSub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=11.5−5.4018=6.0982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𝐻𝑖𝑔h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𝑛𝑜𝑖𝑠𝑒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𝑚𝑎𝑟𝑔𝑖𝑛</m:t>
                      </m:r>
                    </m:oMath>
                  </m:oMathPara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=2.375−0.2=2.175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𝐿𝑜𝑤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𝑛𝑜𝑖𝑠𝑒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𝑚𝑎𝑟𝑔𝑖𝑛</m:t>
                      </m:r>
                    </m:oMath>
                  </m:oMathPara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𝑵𝒐𝒊𝒔𝒆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𝑴𝒂𝒓𝒈𝒊𝒏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𝐦𝐢</m:t>
                    </m:r>
                    <m:func>
                      <m:func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𝐧</m:t>
                        </m:r>
                      </m:fName>
                      <m:e>
                        <m:d>
                          <m:dPr>
                            <m:ctrlPr>
                              <a:rPr lang="en-US" sz="1800" b="1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𝑵𝑯</m:t>
                                </m:r>
                              </m:sub>
                            </m:sSub>
                            <m:r>
                              <a:rPr lang="en-US" sz="1800" b="1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𝑵𝑯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𝟏𝟕𝟓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noise voltage can be tolerated for both input and output voltages.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28F40B-926C-FAE4-968C-C4E6E0E01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1653685" cy="4384205"/>
              </a:xfr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496045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3D12CC2-CB76-A91B-60D1-ADF7AA20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BAB8EAD-31FA-AB34-5DAD-659CFC553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63F02FB-BB10-0270-790A-42B4029CFC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F5E9247-E631-3A70-24BC-A9D2ECEEDD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E99D5D1-71A0-BB47-B008-4E122D471F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05DD-656A-EE2D-B43A-34916A26B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Fanout: </a:t>
            </a:r>
          </a:p>
          <a:p>
            <a:pPr marL="114300" indent="0">
              <a:buNone/>
            </a:pPr>
            <a:r>
              <a:rPr lang="en-US" dirty="0"/>
              <a:t>The maximum number of logic inputs ( of the same logic family ) that an output can drive reliably is called maximum fanout.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calculate fanout </a:t>
            </a:r>
            <a:r>
              <a:rPr lang="en-US" b="1" dirty="0">
                <a:sym typeface="Wingdings" panose="05000000000000000000" pitchFamily="2" charset="2"/>
              </a:rPr>
              <a:t> maximum fanout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ym typeface="Wingdings" panose="05000000000000000000" pitchFamily="2" charset="2"/>
              </a:rPr>
              <a:t>fanout given in question may not be maximum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96527643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49E0860-09CC-E3FC-9D9F-3855472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D876E202-B3B2-6615-F103-15BF974D1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DBB3FA5-6EED-6AD1-86F1-E19EF765B3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3CF6DBA-6E0E-DC90-3742-C3DE41C684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402F988-B71D-8209-333E-2364B771A6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DD3B3-ED09-92D7-CFA4-30423F651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B07BE-2DD1-D91C-51B3-C78BDB4FC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763" y="1199026"/>
            <a:ext cx="5186263" cy="3492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35362-E5AE-F2AC-BD2B-59EA9604793A}"/>
              </a:ext>
            </a:extLst>
          </p:cNvPr>
          <p:cNvSpPr txBox="1"/>
          <p:nvPr/>
        </p:nvSpPr>
        <p:spPr>
          <a:xfrm>
            <a:off x="2313170" y="5006637"/>
            <a:ext cx="9111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Here output is connected with two other gate input. Fanout =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6C058-7482-601F-BB1E-3BE57D2C3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368" y="1376515"/>
            <a:ext cx="4719365" cy="31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25856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C2737EA-AF6E-CB3F-7E35-D899690D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C90C8C4-6758-09AD-EF2B-5AF000342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CCB0D4E-746D-1789-6418-8523F7CE08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FC3D1E9-B22D-6613-886D-191EB2007E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01421D-2EE1-AB59-3E44-25D4A8C2BF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F7B97-6D18-CA5C-987F-9C4BBD341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Example: </a:t>
            </a:r>
            <a:r>
              <a:rPr lang="en-US" dirty="0"/>
              <a:t>Calculate the fanout of the RTL circuit. Assume V</a:t>
            </a:r>
            <a:r>
              <a:rPr lang="en-US" baseline="-25000" dirty="0"/>
              <a:t>OH</a:t>
            </a:r>
            <a:r>
              <a:rPr lang="en-US" dirty="0"/>
              <a:t> = 10V.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05748-66C0-CD38-C8F8-4C381FAA8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414" y="2439035"/>
            <a:ext cx="7039924" cy="329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93365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68C1F45-66F0-31E0-6FDD-9DCE4A68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BD9D4FF-B964-6FF6-5ABE-53C5C192F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B42F8E6-A144-C30B-84B9-23B23B16CF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B262BD7-9661-D997-6290-6CBFF1D859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228C94D-1677-BFC6-FD23-91D51659B7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FAD08-BB4F-083D-EE2B-9330EDF1A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Driver gate </a:t>
            </a:r>
            <a:r>
              <a:rPr lang="en-US" b="1" dirty="0">
                <a:sym typeface="Wingdings" panose="05000000000000000000" pitchFamily="2" charset="2"/>
              </a:rPr>
              <a:t> Supply current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Load gate  Consume current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Two case: 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Case 1: Driver output Low,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Case 2: Driver output high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Calculate: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1. Individual demand current for each load circuit/ gate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2. The maximum current that can be supplied from driver circuit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 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98284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5EEDD1D-5546-B9F2-6915-C28AA8FA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BE94684-2DBC-C196-56B3-F2DE7B22B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340403A-2E23-963F-AC6B-C3B9D569F9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2F4F94F-60D4-1EF1-DD92-078CA45849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40C5089-3F9F-A085-049E-976C338653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A17DE86-CA04-B882-16E9-802C380BF9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61923" y="2388911"/>
                <a:ext cx="6565900" cy="3820160"/>
              </a:xfrm>
            </p:spPr>
            <p:txBody>
              <a:bodyPr>
                <a:normAutofit fontScale="92500"/>
              </a:bodyPr>
              <a:lstStyle/>
              <a:p>
                <a:pPr marL="114300" indent="0">
                  <a:buNone/>
                </a:pPr>
                <a:r>
                  <a:rPr lang="en-US" sz="2600" b="1" dirty="0"/>
                  <a:t>Case 1. </a:t>
                </a:r>
                <a:r>
                  <a:rPr lang="en-US" sz="2200" dirty="0"/>
                  <a:t>When output voltage </a:t>
                </a:r>
              </a:p>
              <a:p>
                <a:pPr marL="114300" indent="0">
                  <a:buNone/>
                </a:pPr>
                <a:r>
                  <a:rPr lang="en-US" sz="2200" dirty="0"/>
                  <a:t>at the driver is low.</a:t>
                </a: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	V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OL </a:t>
                </a:r>
                <a:r>
                  <a:rPr lang="en-US" sz="2200" dirty="0">
                    <a:sym typeface="Wingdings" panose="05000000000000000000" pitchFamily="2" charset="2"/>
                  </a:rPr>
                  <a:t>= 0.2 V</a:t>
                </a: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Maximum total supply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12−0.2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2.2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=5.3636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2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Individual load current demand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0.2 −(−12)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115 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=0.106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2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( in this case load circuits transistors are in cutoff mode )</a:t>
                </a: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Maximum number of load circuits that we can afford ,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𝐹𝑎𝑛𝑜𝑢𝑡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5.3636 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𝑚𝐴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0.106 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𝑚𝐴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=|_50.6_|=50</m:t>
                    </m:r>
                  </m:oMath>
                </a14:m>
                <a:r>
                  <a:rPr lang="en-US" sz="2200" dirty="0">
                    <a:sym typeface="Wingdings" panose="05000000000000000000" pitchFamily="2" charset="2"/>
                  </a:rPr>
                  <a:t> (Floor)</a:t>
                </a: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A17DE86-CA04-B882-16E9-802C380BF9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61923" y="2388911"/>
                <a:ext cx="6565900" cy="382016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D235849-3A19-39E9-3353-D9F336440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669" y="-88490"/>
            <a:ext cx="7023468" cy="326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20470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707FFAB-14A6-B6CC-22C9-4FB149A5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8C5C939-A372-B9FC-518B-968331191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160AB59-0ABC-55E9-3EAD-5FECF58331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FB0B51E-CC40-3788-62CB-6D9984021D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E49BF14-05DC-4C30-9279-2481387D14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81A5DAF-2FC1-6B4E-6432-940430B2AB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50297" y="3146414"/>
                <a:ext cx="7400413" cy="3299378"/>
              </a:xfrm>
            </p:spPr>
            <p:txBody>
              <a:bodyPr>
                <a:normAutofit fontScale="92500"/>
              </a:bodyPr>
              <a:lstStyle/>
              <a:p>
                <a:pPr marL="114300" indent="0">
                  <a:buNone/>
                </a:pPr>
                <a:r>
                  <a:rPr lang="en-US" sz="2600" b="1" dirty="0"/>
                  <a:t>Case 2: When output voltage </a:t>
                </a:r>
                <a:r>
                  <a:rPr lang="en-US" sz="2600" b="1" dirty="0">
                    <a:sym typeface="Wingdings" panose="05000000000000000000" pitchFamily="2" charset="2"/>
                  </a:rPr>
                  <a:t>driver circuit is high. V</a:t>
                </a:r>
                <a:r>
                  <a:rPr lang="en-US" sz="2600" b="1" baseline="-25000" dirty="0">
                    <a:sym typeface="Wingdings" panose="05000000000000000000" pitchFamily="2" charset="2"/>
                  </a:rPr>
                  <a:t>OH.</a:t>
                </a:r>
                <a:endParaRPr lang="en-US" sz="2600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Driver transistor is in cutoff and load transistor is in saturation</a:t>
                </a: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Maximum supply current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12−10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2.2 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=0.909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6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Individual load current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10−0.8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15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=0.6133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6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Maximum fanout for this = |_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0.909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0.6133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_|=1</m:t>
                    </m:r>
                  </m:oMath>
                </a14:m>
                <a:endParaRPr lang="en-US" sz="26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81A5DAF-2FC1-6B4E-6432-940430B2A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50297" y="3146414"/>
                <a:ext cx="7400413" cy="32993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438691-1ADE-D006-B1A9-3931FA3E5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075" y="0"/>
            <a:ext cx="5818925" cy="30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58443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4470A8-2002-C6DD-3DBE-25F1326C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15849F3-E07A-CD17-E5EE-FB254181F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933" y="528287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6E2D8B0-2B2C-676F-B568-CB506A377E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646B09-C80B-1A3B-2393-D70691216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A7EDD6A-E5E3-7B87-9BD8-43528030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6F5B-8B93-F049-55F8-E8669322D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8" y="1334586"/>
            <a:ext cx="11399520" cy="232337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Overall maximum fanout must be calculated by considering  worst case scenario. </a:t>
            </a:r>
          </a:p>
          <a:p>
            <a:pPr marL="114300" indent="0">
              <a:buNone/>
            </a:pPr>
            <a:r>
              <a:rPr lang="en-US" sz="2400" dirty="0"/>
              <a:t>To prevent malfunction of driver circuit , we need to take the minimum of the two cases.</a:t>
            </a:r>
          </a:p>
          <a:p>
            <a:pPr marL="11430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Max Fanout = Min ( 50,1 ) = 1</a:t>
            </a:r>
          </a:p>
          <a:p>
            <a:pPr marL="11430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677557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AAC2962-BCC4-A176-79EA-BF9423E3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71BB2A9-2C65-4A7D-D90A-D1C697EA96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E1F0F43-5644-370B-280B-92BE91C616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B1686B8-F6AE-2E2F-1438-6B56748B67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60CAD24D-0BA7-6661-632E-1D387D998C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C1E331-4030-1BB1-7FE4-7C831C858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419" y="1281428"/>
            <a:ext cx="5148901" cy="45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2043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FFE918-939C-5FEA-428D-99EAD2FC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6015FB6-8B29-C304-D033-41921091AA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3ADEAFF-A1D1-CE4B-8DBD-3BD4E6D951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2DA9BF2-EA72-6321-CE89-4DD044BD1D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93FA0BE-541B-D0B5-73F1-85927D7FEF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E2A57E-FFE6-40F9-0F77-4F2B804FFF3E}"/>
                  </a:ext>
                </a:extLst>
              </p:cNvPr>
              <p:cNvSpPr txBox="1"/>
              <p:nvPr/>
            </p:nvSpPr>
            <p:spPr>
              <a:xfrm>
                <a:off x="1096668" y="963454"/>
                <a:ext cx="7221422" cy="1045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Determine the output voltage for all input cases and power dissipation for all cases.</a:t>
                </a:r>
                <a:br>
                  <a:rPr lang="en-US" sz="2000" dirty="0"/>
                </a:br>
                <a:r>
                  <a:rPr lang="en-US" sz="2000" dirty="0"/>
                  <a:t>For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=30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E2A57E-FFE6-40F9-0F77-4F2B804FF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8" y="963454"/>
                <a:ext cx="7221422" cy="1045223"/>
              </a:xfrm>
              <a:prstGeom prst="rect">
                <a:avLst/>
              </a:prstGeom>
              <a:blipFill>
                <a:blip r:embed="rId4"/>
                <a:stretch>
                  <a:fillRect l="-928" t="-2326" b="-6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49B10AB-4196-FB63-81A3-0E29BD848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218" y="2197114"/>
            <a:ext cx="4471744" cy="410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56385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3038F1-DFC3-6301-66CD-B79F56C4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0B768BA-7C3E-3719-40C8-8A88F57E3E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258A101-72D9-F8AD-7D2D-1AAAA5CA7B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EB749AD-5D0B-9848-6F0E-15A9329FC5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EBA1C4E-4E28-6A2C-D5BE-62F86080EA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0843F2-AFA7-1770-40DB-03B750D3F23C}"/>
              </a:ext>
            </a:extLst>
          </p:cNvPr>
          <p:cNvSpPr txBox="1"/>
          <p:nvPr/>
        </p:nvSpPr>
        <p:spPr>
          <a:xfrm>
            <a:off x="1096668" y="9634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As the input is two, there will be four different cases,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7AE5D1C-1AEA-1713-41AE-4065F991B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9954686"/>
                  </p:ext>
                </p:extLst>
              </p:nvPr>
            </p:nvGraphicFramePr>
            <p:xfrm>
              <a:off x="1096668" y="2120518"/>
              <a:ext cx="4724387" cy="34370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87398">
                      <a:extLst>
                        <a:ext uri="{9D8B030D-6E8A-4147-A177-3AD203B41FA5}">
                          <a16:colId xmlns:a16="http://schemas.microsoft.com/office/drawing/2014/main" val="1132275219"/>
                        </a:ext>
                      </a:extLst>
                    </a:gridCol>
                    <a:gridCol w="787398">
                      <a:extLst>
                        <a:ext uri="{9D8B030D-6E8A-4147-A177-3AD203B41FA5}">
                          <a16:colId xmlns:a16="http://schemas.microsoft.com/office/drawing/2014/main" val="191184497"/>
                        </a:ext>
                      </a:extLst>
                    </a:gridCol>
                    <a:gridCol w="787398">
                      <a:extLst>
                        <a:ext uri="{9D8B030D-6E8A-4147-A177-3AD203B41FA5}">
                          <a16:colId xmlns:a16="http://schemas.microsoft.com/office/drawing/2014/main" val="1177790703"/>
                        </a:ext>
                      </a:extLst>
                    </a:gridCol>
                    <a:gridCol w="787398">
                      <a:extLst>
                        <a:ext uri="{9D8B030D-6E8A-4147-A177-3AD203B41FA5}">
                          <a16:colId xmlns:a16="http://schemas.microsoft.com/office/drawing/2014/main" val="88843274"/>
                        </a:ext>
                      </a:extLst>
                    </a:gridCol>
                    <a:gridCol w="1046064">
                      <a:extLst>
                        <a:ext uri="{9D8B030D-6E8A-4147-A177-3AD203B41FA5}">
                          <a16:colId xmlns:a16="http://schemas.microsoft.com/office/drawing/2014/main" val="3952961742"/>
                        </a:ext>
                      </a:extLst>
                    </a:gridCol>
                    <a:gridCol w="528731">
                      <a:extLst>
                        <a:ext uri="{9D8B030D-6E8A-4147-A177-3AD203B41FA5}">
                          <a16:colId xmlns:a16="http://schemas.microsoft.com/office/drawing/2014/main" val="2824518980"/>
                        </a:ext>
                      </a:extLst>
                    </a:gridCol>
                  </a:tblGrid>
                  <a:tr h="55602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Vo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2181821"/>
                      </a:ext>
                    </a:extLst>
                  </a:tr>
                  <a:tr h="556027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9974969"/>
                      </a:ext>
                    </a:extLst>
                  </a:tr>
                  <a:tr h="88446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441111"/>
                      </a:ext>
                    </a:extLst>
                  </a:tr>
                  <a:tr h="88446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7125093"/>
                      </a:ext>
                    </a:extLst>
                  </a:tr>
                  <a:tr h="556027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7894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7AE5D1C-1AEA-1713-41AE-4065F991B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9954686"/>
                  </p:ext>
                </p:extLst>
              </p:nvPr>
            </p:nvGraphicFramePr>
            <p:xfrm>
              <a:off x="1096668" y="2120518"/>
              <a:ext cx="4724387" cy="343700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87398">
                      <a:extLst>
                        <a:ext uri="{9D8B030D-6E8A-4147-A177-3AD203B41FA5}">
                          <a16:colId xmlns:a16="http://schemas.microsoft.com/office/drawing/2014/main" val="1132275219"/>
                        </a:ext>
                      </a:extLst>
                    </a:gridCol>
                    <a:gridCol w="787398">
                      <a:extLst>
                        <a:ext uri="{9D8B030D-6E8A-4147-A177-3AD203B41FA5}">
                          <a16:colId xmlns:a16="http://schemas.microsoft.com/office/drawing/2014/main" val="191184497"/>
                        </a:ext>
                      </a:extLst>
                    </a:gridCol>
                    <a:gridCol w="787398">
                      <a:extLst>
                        <a:ext uri="{9D8B030D-6E8A-4147-A177-3AD203B41FA5}">
                          <a16:colId xmlns:a16="http://schemas.microsoft.com/office/drawing/2014/main" val="1177790703"/>
                        </a:ext>
                      </a:extLst>
                    </a:gridCol>
                    <a:gridCol w="787398">
                      <a:extLst>
                        <a:ext uri="{9D8B030D-6E8A-4147-A177-3AD203B41FA5}">
                          <a16:colId xmlns:a16="http://schemas.microsoft.com/office/drawing/2014/main" val="88843274"/>
                        </a:ext>
                      </a:extLst>
                    </a:gridCol>
                    <a:gridCol w="1046064">
                      <a:extLst>
                        <a:ext uri="{9D8B030D-6E8A-4147-A177-3AD203B41FA5}">
                          <a16:colId xmlns:a16="http://schemas.microsoft.com/office/drawing/2014/main" val="3952961742"/>
                        </a:ext>
                      </a:extLst>
                    </a:gridCol>
                    <a:gridCol w="528731">
                      <a:extLst>
                        <a:ext uri="{9D8B030D-6E8A-4147-A177-3AD203B41FA5}">
                          <a16:colId xmlns:a16="http://schemas.microsoft.com/office/drawing/2014/main" val="2824518980"/>
                        </a:ext>
                      </a:extLst>
                    </a:gridCol>
                  </a:tblGrid>
                  <a:tr h="55602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550" t="-7692" r="-302326" b="-5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550" t="-7692" r="-202326" b="-5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Vo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2181821"/>
                      </a:ext>
                    </a:extLst>
                  </a:tr>
                  <a:tr h="556027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9974969"/>
                      </a:ext>
                    </a:extLst>
                  </a:tr>
                  <a:tr h="88446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441111"/>
                      </a:ext>
                    </a:extLst>
                  </a:tr>
                  <a:tr h="88446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7125093"/>
                      </a:ext>
                    </a:extLst>
                  </a:tr>
                  <a:tr h="556027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78947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E0E678B-49A8-7270-762A-751CE596D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176" y="1459904"/>
            <a:ext cx="4461174" cy="4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83579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4DF30FF-939E-C2A4-5185-1038A48E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D9E9FE7-CE86-8E66-A9CD-58EA3AECC5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11F96C0-DA4A-6DEE-86B2-A7874D687C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6B26A53-7A5C-2109-2AD2-F672D7E70B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B0054F7-808D-BDAA-A83A-A9D4A17644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5D41F6-07D2-8A9C-F05C-6DB84C40FA2A}"/>
                  </a:ext>
                </a:extLst>
              </p:cNvPr>
              <p:cNvSpPr txBox="1"/>
              <p:nvPr/>
            </p:nvSpPr>
            <p:spPr>
              <a:xfrm>
                <a:off x="1021572" y="1234477"/>
                <a:ext cx="4777790" cy="2991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As the input is two, there will be four different cases,</a:t>
                </a:r>
                <a:br>
                  <a:rPr lang="en-US" sz="2000" dirty="0"/>
                </a:br>
                <a:r>
                  <a:rPr lang="en-US" sz="2000" b="1" dirty="0"/>
                  <a:t>Case (0,0): </a:t>
                </a:r>
              </a:p>
              <a:p>
                <a:r>
                  <a:rPr lang="en-US" sz="2000" dirty="0"/>
                  <a:t>As the both input is 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/>
                  <a:t> will remain in the cutoff mode. No current flow.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2.2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000" dirty="0"/>
                  <a:t> = 0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=12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b="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𝑚𝑊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5D41F6-07D2-8A9C-F05C-6DB84C40F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572" y="1234477"/>
                <a:ext cx="4777790" cy="2991653"/>
              </a:xfrm>
              <a:prstGeom prst="rect">
                <a:avLst/>
              </a:prstGeom>
              <a:blipFill>
                <a:blip r:embed="rId4"/>
                <a:stretch>
                  <a:fillRect l="-1405" t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40A4612-64A2-5254-92EC-477199A0D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458" y="503031"/>
            <a:ext cx="6340136" cy="529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87664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69E753E-BA3A-A7E1-FE80-C0C8D149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3929A44-7C67-E44C-297D-0914445DB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A7A7213-E881-45BE-71B9-41DA79E1C1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FC31C7A-3CDA-1B58-AE03-ED7CB3D68F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1FF0176-E733-27F6-0270-7079427AF8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52DEF2-18A9-E7B3-9D8A-73FF09C97F8E}"/>
                  </a:ext>
                </a:extLst>
              </p:cNvPr>
              <p:cNvSpPr txBox="1"/>
              <p:nvPr/>
            </p:nvSpPr>
            <p:spPr>
              <a:xfrm>
                <a:off x="1096668" y="969407"/>
                <a:ext cx="5992356" cy="5090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Case (0,1): </a:t>
                </a:r>
              </a:p>
              <a:p>
                <a:r>
                  <a:rPr lang="en-US" sz="20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=12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will be in cutoff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/>
                  <a:t> will be in saturation mode.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/>
                <a:r>
                  <a:rPr lang="en-US" sz="2000" dirty="0"/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12−0.2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2.2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=5.3636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/>
                <a:r>
                  <a:rPr lang="en-US" sz="2000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=5.3636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12−0.8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=0.7467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0.8−0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=0.008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=0.7387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/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=73.3236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𝑚𝑊</m:t>
                    </m:r>
                  </m:oMath>
                </a14:m>
                <a:endParaRPr lang="en-US" sz="2000" dirty="0"/>
              </a:p>
              <a:p>
                <a:pPr/>
                <a:r>
                  <a:rPr lang="en-US" sz="2000" dirty="0"/>
                  <a:t>Verify your assumed mode by yourself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52DEF2-18A9-E7B3-9D8A-73FF09C97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8" y="969407"/>
                <a:ext cx="5992356" cy="5090304"/>
              </a:xfrm>
              <a:prstGeom prst="rect">
                <a:avLst/>
              </a:prstGeom>
              <a:blipFill>
                <a:blip r:embed="rId4"/>
                <a:stretch>
                  <a:fillRect l="-1119" t="-479" b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E271AF4-B6DD-2F5B-41F6-818B12A98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976" y="798289"/>
            <a:ext cx="5088970" cy="447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98879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0FE54A-7F76-8AB4-C169-950AAEBD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6756036-DB48-C909-1969-D515022FB8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B76F5ED-F4D1-2111-5C50-19DA6B2531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7C31D57-E181-8151-00CA-9AD7F50919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AE38F9A-818D-CC70-E3A9-2B3EA60E8B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32451-BAE9-E6A9-67D9-B17597A8E2DD}"/>
                  </a:ext>
                </a:extLst>
              </p:cNvPr>
              <p:cNvSpPr txBox="1"/>
              <p:nvPr/>
            </p:nvSpPr>
            <p:spPr>
              <a:xfrm>
                <a:off x="1096668" y="752045"/>
                <a:ext cx="5992356" cy="6141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Case (1,0): </a:t>
                </a:r>
                <a:r>
                  <a:rPr lang="en-US" sz="2000" dirty="0"/>
                  <a:t>For this case result will be similar to the case (0,1).</a:t>
                </a:r>
              </a:p>
              <a:p>
                <a:r>
                  <a:rPr lang="en-US" sz="2000" b="1" dirty="0"/>
                  <a:t>Case (1,1): </a:t>
                </a:r>
              </a:p>
              <a:p>
                <a:r>
                  <a:rPr lang="en-US" sz="2000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=12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/>
                  <a:t> will be in saturation mode.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12−0.2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2.2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=5.3636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2.6818 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12−0.8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=0.7467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0.8−0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=0.008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=0.7387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dirty="0"/>
              </a:p>
              <a:p>
                <a:pPr/>
                <a:r>
                  <a:rPr lang="en-US" sz="2000" dirty="0"/>
                  <a:t>Similarly,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=0.008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=0.7387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82.284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𝑚𝑊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Verify your assumed mode by yourself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32451-BAE9-E6A9-67D9-B17597A8E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8" y="752045"/>
                <a:ext cx="5992356" cy="6141297"/>
              </a:xfrm>
              <a:prstGeom prst="rect">
                <a:avLst/>
              </a:prstGeom>
              <a:blipFill>
                <a:blip r:embed="rId4"/>
                <a:stretch>
                  <a:fillRect l="-1119" t="-397" r="-610"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6CDEDC9-7D1C-D0E3-2753-53A304839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16386"/>
            <a:ext cx="5791201" cy="464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74433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F33F63E-6AAD-F823-EAC1-1CB89072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3FE74C8-75DC-8EB4-B588-0949C8789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RTL NOR Gate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646DD1A-CCAF-4748-96C4-FAB3E222F1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50DE3E2-A982-D5A1-369F-1D83628358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12F638C-E7EF-882D-11A0-67B6B4DEC5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E95E0D-E980-717C-3889-0AB079786C72}"/>
              </a:ext>
            </a:extLst>
          </p:cNvPr>
          <p:cNvSpPr txBox="1"/>
          <p:nvPr/>
        </p:nvSpPr>
        <p:spPr>
          <a:xfrm>
            <a:off x="1080973" y="910228"/>
            <a:ext cx="5992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If for the given RTL NOR driver &amp; RTL NOT loads, βF = 30, VOH = 3V &amp; VOL = 0.2V, find the maximum fanout.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BDAD8-6314-495D-C471-EF6EAAC60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442" y="1660083"/>
            <a:ext cx="6531668" cy="50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3737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1791</Words>
  <Application>Microsoft Office PowerPoint</Application>
  <PresentationFormat>Widescreen</PresentationFormat>
  <Paragraphs>347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Resistor Transistor Logic (RTL)</vt:lpstr>
      <vt:lpstr>Resistor Transistor Logic (RTL)</vt:lpstr>
      <vt:lpstr>Resistor Transistor Logic (RTL)</vt:lpstr>
      <vt:lpstr>Resistor Transistor Logic (RTL)</vt:lpstr>
      <vt:lpstr>Resistor Transistor Logic (RTL)</vt:lpstr>
      <vt:lpstr>Power dissipation for RTL inverters:</vt:lpstr>
      <vt:lpstr>Power dissipation for RTL inverter</vt:lpstr>
      <vt:lpstr>Power dissipation for RTL inverter</vt:lpstr>
      <vt:lpstr>Power dissipation for RTL inverter</vt:lpstr>
      <vt:lpstr>Power dissipation for RTL inverter</vt:lpstr>
      <vt:lpstr>Power dissipation for RTL inverter</vt:lpstr>
      <vt:lpstr>Noise Margin</vt:lpstr>
      <vt:lpstr>Noise Margin</vt:lpstr>
      <vt:lpstr>Noise Margin</vt:lpstr>
      <vt:lpstr>Noise Margin</vt:lpstr>
      <vt:lpstr>Example:</vt:lpstr>
      <vt:lpstr>Noise Margin</vt:lpstr>
      <vt:lpstr>Noise Margin</vt:lpstr>
      <vt:lpstr>Noise Margin</vt:lpstr>
      <vt:lpstr>Noise Margin</vt:lpstr>
      <vt:lpstr>Fanout</vt:lpstr>
      <vt:lpstr>Fanout</vt:lpstr>
      <vt:lpstr>Fanout</vt:lpstr>
      <vt:lpstr>Fanout</vt:lpstr>
      <vt:lpstr>Fanout</vt:lpstr>
      <vt:lpstr>Fanout</vt:lpstr>
      <vt:lpstr>Fanout</vt:lpstr>
      <vt:lpstr>RTL NOR Gate</vt:lpstr>
      <vt:lpstr>RTL NOR Gate</vt:lpstr>
      <vt:lpstr>RTL NOR Gate</vt:lpstr>
      <vt:lpstr>RTL NOR Gate</vt:lpstr>
      <vt:lpstr>RTL NOR Gate</vt:lpstr>
      <vt:lpstr>RTL NOR Gate</vt:lpstr>
      <vt:lpstr>RTL NOR Gate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17</cp:revision>
  <dcterms:created xsi:type="dcterms:W3CDTF">2021-07-10T07:14:46Z</dcterms:created>
  <dcterms:modified xsi:type="dcterms:W3CDTF">2025-08-16T16:11:19Z</dcterms:modified>
</cp:coreProperties>
</file>