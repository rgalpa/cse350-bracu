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1" r:id="rId5"/>
    <p:sldId id="287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370" r:id="rId14"/>
    <p:sldId id="368" r:id="rId15"/>
    <p:sldId id="369" r:id="rId16"/>
  </p:sldIdLst>
  <p:sldSz cx="12192000" cy="6858000"/>
  <p:notesSz cx="6858000" cy="9144000"/>
  <p:embeddedFontLst>
    <p:embeddedFont>
      <p:font typeface="Cambria Math" panose="02040503050406030204" pitchFamily="18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hGTnA2lKRYnFfxhUwP/UTbsR0m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10BDE7-646F-4205-9A6C-A316D47FFFA7}">
  <a:tblStyle styleId="{D010BDE7-646F-4205-9A6C-A316D47FFFA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A3AF0DB-3D66-EDE3-74C5-3448B020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:notes">
            <a:extLst>
              <a:ext uri="{FF2B5EF4-FFF2-40B4-BE49-F238E27FC236}">
                <a16:creationId xmlns:a16="http://schemas.microsoft.com/office/drawing/2014/main" id="{E34C521D-134B-2C5C-9A04-8A3D2387ED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17:notes">
            <a:extLst>
              <a:ext uri="{FF2B5EF4-FFF2-40B4-BE49-F238E27FC236}">
                <a16:creationId xmlns:a16="http://schemas.microsoft.com/office/drawing/2014/main" id="{8D050C06-EE24-0ABD-AB0E-6CC4D4BC6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1707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E73A362-6B51-8EBA-2AC5-309B2F0F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EFEB22D-01C6-1319-FA1C-0D07ADD9F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5DEE943-7303-1581-8DBA-4E5D952FC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9987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0740134-19C9-373E-0DA7-106A6100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4E3AE1B-C7E4-5129-0C4B-AE6BBF2F2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79564CF-E0DA-929F-A76C-8C524FD9AD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877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7D12D22-9BD1-CE94-2759-1AF565D8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FF4D662-1B66-3D4D-15D6-5D3ACF4B4A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A10732A-911F-35B3-E47B-F022AA8EA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0148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1489586" y="1062258"/>
            <a:ext cx="9591369" cy="207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2807109" y="3429000"/>
            <a:ext cx="7502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Prerequisite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Electronic Devices and Circuits,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 Logic Design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36FCFD-19EC-C2E8-605F-8C4342D5B23E}"/>
              </a:ext>
            </a:extLst>
          </p:cNvPr>
          <p:cNvSpPr txBox="1"/>
          <p:nvPr/>
        </p:nvSpPr>
        <p:spPr>
          <a:xfrm>
            <a:off x="1248697" y="5636201"/>
            <a:ext cx="1036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rtl="0"/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Mail: </a:t>
            </a:r>
            <a:r>
              <a:rPr lang="en-US" sz="1400" b="0" i="0" u="sng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4"/>
              </a:rPr>
              <a:t>shomen.kundu@bracu.ac.bd</a:t>
            </a:r>
            <a:endParaRPr lang="en-US" b="0" dirty="0">
              <a:effectLst/>
            </a:endParaRPr>
          </a:p>
          <a:p>
            <a:pPr marL="114300" rtl="0"/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Desk: #4N148</a:t>
            </a:r>
            <a:r>
              <a:rPr lang="en-US" dirty="0"/>
              <a:t>						</a:t>
            </a:r>
            <a:r>
              <a:rPr lang="en-US" sz="1400" b="1" i="0" u="none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Course Instructor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Shomen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Kundu (SDU)</a:t>
            </a:r>
            <a:endParaRPr lang="en-US" b="0" dirty="0">
              <a:effectLst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Marks Distribution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11" name="Google Shape;11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12" name="Google Shape;11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13" name="Google Shape;11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 txBox="1">
            <a:spLocks noGrp="1"/>
          </p:cNvSpPr>
          <p:nvPr>
            <p:ph type="body" idx="1"/>
          </p:nvPr>
        </p:nvSpPr>
        <p:spPr>
          <a:xfrm>
            <a:off x="2293374" y="1766631"/>
            <a:ext cx="446138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Attendance 	:   2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Assignment		:   5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Quiz			:   18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Lab 			:   25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Midterm		:   25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Final 			:   25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_____________________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Total 		: 100  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10872537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Font typeface="Times New Roman"/>
              <a:buNone/>
            </a:pPr>
            <a:r>
              <a:rPr lang="en-US" b="1" i="0" dirty="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Syllabus ( Fall 25 )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20" name="Google Shape;1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2" name="Google Shape;12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F5A51-265A-CD36-8552-C11D1E77D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877" y="240471"/>
            <a:ext cx="4858247" cy="6115879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Timeline 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8" name="Google Shape;13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39" name="Google Shape;13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C0B9E0-FAF6-BD51-9295-0D661925E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017" y="1499768"/>
            <a:ext cx="4694257" cy="4094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BA648-28F0-2338-AF81-354B4B3E0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091" y="1499768"/>
            <a:ext cx="4114800" cy="41329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3C58D4-276A-A23C-B116-80F1C47DAA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090" y="5686911"/>
            <a:ext cx="2934109" cy="247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8DAA57-421A-A82D-6C01-004DC89351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822" r="14719"/>
          <a:stretch>
            <a:fillRect/>
          </a:stretch>
        </p:blipFill>
        <p:spPr>
          <a:xfrm>
            <a:off x="7712587" y="5837792"/>
            <a:ext cx="2743200" cy="24768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082958F-FA0C-AB70-B7B5-18525ADF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>
            <a:extLst>
              <a:ext uri="{FF2B5EF4-FFF2-40B4-BE49-F238E27FC236}">
                <a16:creationId xmlns:a16="http://schemas.microsoft.com/office/drawing/2014/main" id="{7B53300C-2CD8-D8B0-46C9-F7D48D87A7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Circuits and Electronics 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8" name="Google Shape;138;p17">
            <a:extLst>
              <a:ext uri="{FF2B5EF4-FFF2-40B4-BE49-F238E27FC236}">
                <a16:creationId xmlns:a16="http://schemas.microsoft.com/office/drawing/2014/main" id="{E5A4C79D-28F3-BB8F-FFC9-C6A9550C9A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5117E5A2-BFD2-FDDE-A6FC-76E9F35DE9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40" name="Google Shape;140;p17">
            <a:extLst>
              <a:ext uri="{FF2B5EF4-FFF2-40B4-BE49-F238E27FC236}">
                <a16:creationId xmlns:a16="http://schemas.microsoft.com/office/drawing/2014/main" id="{A046F137-6BF1-9EFC-60D2-0BC3A4CD94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F515BDAF-7490-5A18-A42C-3F36C6D1D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/>
              <a:t>Ohm’s law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/>
              <a:t>KCL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/>
              <a:t>KVL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/>
              <a:t>Node Analysis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53634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Review ( Circuits and Electronics 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72" name="Google Shape;1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20"/>
          <p:cNvGrpSpPr/>
          <p:nvPr/>
        </p:nvGrpSpPr>
        <p:grpSpPr>
          <a:xfrm>
            <a:off x="4099424" y="4786914"/>
            <a:ext cx="3122971" cy="1189695"/>
            <a:chOff x="5982929" y="4200628"/>
            <a:chExt cx="3122971" cy="1189695"/>
          </a:xfrm>
        </p:grpSpPr>
        <p:cxnSp>
          <p:nvCxnSpPr>
            <p:cNvPr id="177" name="Google Shape;177;p20"/>
            <p:cNvCxnSpPr/>
            <p:nvPr/>
          </p:nvCxnSpPr>
          <p:spPr>
            <a:xfrm>
              <a:off x="6420465" y="4847303"/>
              <a:ext cx="2015612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</p:cxnSp>
        <p:sp>
          <p:nvSpPr>
            <p:cNvPr id="178" name="Google Shape;178;p20"/>
            <p:cNvSpPr txBox="1"/>
            <p:nvPr/>
          </p:nvSpPr>
          <p:spPr>
            <a:xfrm>
              <a:off x="5982929" y="4447193"/>
              <a:ext cx="87507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000" b="1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dirty="0"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8230828" y="4447193"/>
              <a:ext cx="87507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000" b="1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180" name="Google Shape;180;p20"/>
            <p:cNvCxnSpPr/>
            <p:nvPr/>
          </p:nvCxnSpPr>
          <p:spPr>
            <a:xfrm>
              <a:off x="6587613" y="5073445"/>
              <a:ext cx="174031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81" name="Google Shape;181;p20"/>
            <p:cNvSpPr txBox="1"/>
            <p:nvPr/>
          </p:nvSpPr>
          <p:spPr>
            <a:xfrm>
              <a:off x="7167716" y="4969695"/>
              <a:ext cx="875072" cy="420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6861690" y="4200628"/>
              <a:ext cx="121059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000" b="1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&gt; V</a:t>
              </a:r>
              <a:r>
                <a:rPr lang="en-US" sz="2000" b="1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lang="en-U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C1CF55-450B-EF7A-061F-5247300DBD74}"/>
                  </a:ext>
                </a:extLst>
              </p:cNvPr>
              <p:cNvSpPr txBox="1"/>
              <p:nvPr/>
            </p:nvSpPr>
            <p:spPr>
              <a:xfrm>
                <a:off x="902236" y="1613014"/>
                <a:ext cx="9687106" cy="2997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br>
                  <a:rPr lang="en-US" sz="2400" b="1" dirty="0"/>
                </a:br>
                <a:r>
                  <a:rPr lang="en-US" sz="2400" b="1" dirty="0"/>
                  <a:t>Ohm’s Law: </a:t>
                </a:r>
                <a:r>
                  <a:rPr lang="en-US" sz="2400" dirty="0"/>
                  <a:t>In a fixed temperature the current flows through a conductor is proportional to the voltage difference across the conductor.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∝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C1CF55-450B-EF7A-061F-5247300DB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36" y="1613014"/>
                <a:ext cx="9687106" cy="2997359"/>
              </a:xfrm>
              <a:prstGeom prst="rect">
                <a:avLst/>
              </a:prstGeom>
              <a:blipFill>
                <a:blip r:embed="rId4"/>
                <a:stretch>
                  <a:fillRect l="-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Circuits and Electronics 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8" name="Google Shape;18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Node : </a:t>
            </a:r>
            <a:r>
              <a:rPr lang="en-US" dirty="0"/>
              <a:t>Interconnected points between two and more electrical component.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</a:t>
            </a:r>
            <a:endParaRPr dirty="0"/>
          </a:p>
        </p:txBody>
      </p:sp>
      <p:pic>
        <p:nvPicPr>
          <p:cNvPr id="192" name="Google Shape;19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8357" y="3214224"/>
            <a:ext cx="4220164" cy="2114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Circuits and Electronics 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8" name="Google Shape;19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99" name="Google Shape;19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00" name="Google Shape;20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Kirchhoff’s current law (KCL): </a:t>
            </a:r>
            <a:r>
              <a:rPr lang="en-US" dirty="0"/>
              <a:t>states that the algebraic sum of currents entering a node (or a closed boundary) is zero.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Convention: a. Current Entering a node is positive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	 b. Current Exiting a node positive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</a:t>
            </a:r>
            <a:endParaRPr dirty="0"/>
          </a:p>
        </p:txBody>
      </p:sp>
      <p:pic>
        <p:nvPicPr>
          <p:cNvPr id="202" name="Google Shape;202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8696" y="4217813"/>
            <a:ext cx="4107304" cy="151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1261" y="3893349"/>
            <a:ext cx="2404277" cy="1943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Circuits and Electronics 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9" name="Google Shape;20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11" name="Google Shape;21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</a:t>
            </a:r>
            <a:r>
              <a:rPr lang="en-US" b="1" dirty="0"/>
              <a:t>Kirchhoff’s voltage law (KVL)</a:t>
            </a:r>
            <a:r>
              <a:rPr lang="en-US" dirty="0"/>
              <a:t> states that the algebraic sum of all volt ages around a closed path (or loop) is zero.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</a:t>
            </a:r>
            <a:endParaRPr dirty="0"/>
          </a:p>
        </p:txBody>
      </p:sp>
      <p:pic>
        <p:nvPicPr>
          <p:cNvPr id="213" name="Google Shape;213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6492" y="3429000"/>
            <a:ext cx="2486372" cy="146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70167" y="3228946"/>
            <a:ext cx="3477110" cy="1867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Circuits and Electronics 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0" name="Google Shape;220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21" name="Google Shape;221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22" name="Google Shape;22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Example: Find the value of I  for the below circuit.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</a:t>
            </a:r>
            <a:endParaRPr dirty="0"/>
          </a:p>
        </p:txBody>
      </p:sp>
      <p:pic>
        <p:nvPicPr>
          <p:cNvPr id="224" name="Google Shape;224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4270" y="2971250"/>
            <a:ext cx="5195227" cy="2432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38"/>
          <p:cNvCxnSpPr/>
          <p:nvPr/>
        </p:nvCxnSpPr>
        <p:spPr>
          <a:xfrm rot="10800000">
            <a:off x="4227871" y="2871019"/>
            <a:ext cx="934064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26" name="Google Shape;226;p38"/>
          <p:cNvSpPr txBox="1"/>
          <p:nvPr/>
        </p:nvSpPr>
        <p:spPr>
          <a:xfrm>
            <a:off x="4532671" y="2487561"/>
            <a:ext cx="43261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Circuits and Electronics 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2" name="Google Shape;23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33" name="Google Shape;23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34" name="Google Shape;23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Node Analysis: </a:t>
            </a:r>
            <a:r>
              <a:rPr lang="en-US" dirty="0"/>
              <a:t>Goal -&gt; Finding “</a:t>
            </a:r>
            <a:r>
              <a:rPr lang="en-US" b="1" dirty="0"/>
              <a:t>node voltage</a:t>
            </a:r>
            <a:r>
              <a:rPr lang="en-US" dirty="0"/>
              <a:t>”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Techniques -&gt; </a:t>
            </a:r>
            <a:r>
              <a:rPr lang="en-US" b="1" dirty="0"/>
              <a:t>KCL and Ohm’s Law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Step: </a:t>
            </a:r>
            <a:endParaRPr dirty="0"/>
          </a:p>
          <a:p>
            <a:pPr marL="6286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Identify reference voltage</a:t>
            </a:r>
            <a:endParaRPr dirty="0"/>
          </a:p>
          <a:p>
            <a:pPr marL="6286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Identify unknown node voltage</a:t>
            </a:r>
            <a:endParaRPr dirty="0"/>
          </a:p>
          <a:p>
            <a:pPr marL="6286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Write the node equation</a:t>
            </a:r>
            <a:endParaRPr dirty="0"/>
          </a:p>
          <a:p>
            <a:pPr marL="6286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Solve the node equation</a:t>
            </a:r>
            <a:endParaRPr dirty="0"/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</p:txBody>
      </p:sp>
      <p:pic>
        <p:nvPicPr>
          <p:cNvPr id="236" name="Google Shape;236;p39"/>
          <p:cNvPicPr preferRelativeResize="0"/>
          <p:nvPr/>
        </p:nvPicPr>
        <p:blipFill rotWithShape="1">
          <a:blip r:embed="rId4">
            <a:alphaModFix/>
          </a:blip>
          <a:srcRect l="50090" t="19884" r="10559"/>
          <a:stretch/>
        </p:blipFill>
        <p:spPr>
          <a:xfrm>
            <a:off x="8153400" y="3454725"/>
            <a:ext cx="3200400" cy="2395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96636" y="2104716"/>
            <a:ext cx="3078526" cy="1350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Review ( Circuits and Electronics 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43" name="Google Shape;24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44" name="Google Shape;24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Google Shape;246;p4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199" y="1825625"/>
                <a:ext cx="10999839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b="1" dirty="0"/>
                  <a:t>Example: </a:t>
                </a:r>
                <a:r>
                  <a:rPr lang="en-US" dirty="0"/>
                  <a:t>Find  the voltage of the node a.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b="1" dirty="0"/>
              </a:p>
            </p:txBody>
          </p:sp>
        </mc:Choice>
        <mc:Fallback xmlns="">
          <p:sp>
            <p:nvSpPr>
              <p:cNvPr id="246" name="Google Shape;246;p4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825625"/>
                <a:ext cx="10999839" cy="4351338"/>
              </a:xfrm>
              <a:prstGeom prst="rect">
                <a:avLst/>
              </a:prstGeom>
              <a:blipFill>
                <a:blip r:embed="rId4"/>
                <a:stretch>
                  <a:fillRect l="-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7" name="Google Shape;247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6150" y="3143910"/>
            <a:ext cx="5894967" cy="242114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0"/>
          <p:cNvSpPr txBox="1"/>
          <p:nvPr/>
        </p:nvSpPr>
        <p:spPr>
          <a:xfrm>
            <a:off x="4681568" y="3311982"/>
            <a:ext cx="3441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7ED7F78-CB84-9022-0D32-B39CF0F9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6FCDA97-5957-1454-3586-DCE950343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Op-Amp Review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523BEA9-1763-DB09-6DA1-9A98824041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AC8C49B-EBD6-25F2-33AE-23EE737478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BB7EDC5-7ED0-2B15-94AA-973FFA735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EED1AA-F218-7A78-A0F0-6E14BC1017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Important terminals of Op-Amp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Non-Inverting ( Positive ) input terminal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Inverting ( Negative ) input terminal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Higher power supply terminal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Lower power supply terminal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 Output terminal</a:t>
                </a:r>
              </a:p>
              <a:p>
                <a:pPr marL="11430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EED1AA-F218-7A78-A0F0-6E14BC1017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F6068B62-2228-ACF0-9635-7560A32F5091}"/>
              </a:ext>
            </a:extLst>
          </p:cNvPr>
          <p:cNvGrpSpPr/>
          <p:nvPr/>
        </p:nvGrpSpPr>
        <p:grpSpPr>
          <a:xfrm>
            <a:off x="6479458" y="1310691"/>
            <a:ext cx="5410955" cy="3134162"/>
            <a:chOff x="6096000" y="1310691"/>
            <a:chExt cx="5410955" cy="313416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9F64C66-40E5-6883-0446-946AF2BB2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1310691"/>
              <a:ext cx="5410955" cy="313416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04F04AA-F7D4-7FAA-2663-46842935C054}"/>
                    </a:ext>
                  </a:extLst>
                </p:cNvPr>
                <p:cNvSpPr txBox="1"/>
                <p:nvPr/>
              </p:nvSpPr>
              <p:spPr>
                <a:xfrm>
                  <a:off x="8610600" y="1840637"/>
                  <a:ext cx="32692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04F04AA-F7D4-7FAA-2663-46842935C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1840637"/>
                  <a:ext cx="326923" cy="400110"/>
                </a:xfrm>
                <a:prstGeom prst="rect">
                  <a:avLst/>
                </a:prstGeom>
                <a:blipFill>
                  <a:blip r:embed="rId6"/>
                  <a:stretch>
                    <a:fillRect r="-25926"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7C2571-58E8-3BC3-F40A-354F6681D90B}"/>
                    </a:ext>
                  </a:extLst>
                </p:cNvPr>
                <p:cNvSpPr txBox="1"/>
                <p:nvPr/>
              </p:nvSpPr>
              <p:spPr>
                <a:xfrm>
                  <a:off x="8610600" y="3733347"/>
                  <a:ext cx="32692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7C2571-58E8-3BC3-F40A-354F6681D9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3733347"/>
                  <a:ext cx="326923" cy="400110"/>
                </a:xfrm>
                <a:prstGeom prst="rect">
                  <a:avLst/>
                </a:prstGeom>
                <a:blipFill>
                  <a:blip r:embed="rId7"/>
                  <a:stretch>
                    <a:fillRect r="-12963"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59414933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1A42F96-BF52-45B2-7036-F75AD8B2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DE4DB43-CCFD-BEE0-5DD0-255C236C92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Op-Amp Review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A722AE5-E7A7-268B-F11D-409328C36FC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5D8B8CC-CDBA-E7E8-6159-E56764FDBF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B03C7D7-1979-F035-B0C9-17A4AA33E7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943D4-7FCF-0E5B-0EB4-CAAF7C7BC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171" y="1037641"/>
            <a:ext cx="11654177" cy="510411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Operational Amplifier can be used for different configurations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Open Loop </a:t>
            </a:r>
            <a:r>
              <a:rPr lang="en-US" dirty="0">
                <a:sym typeface="Wingdings" panose="05000000000000000000" pitchFamily="2" charset="2"/>
              </a:rPr>
              <a:t> Comparator, Used in ADC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Negative Feedback </a:t>
            </a:r>
            <a:r>
              <a:rPr lang="en-US" dirty="0">
                <a:sym typeface="Wingdings" panose="05000000000000000000" pitchFamily="2" charset="2"/>
              </a:rPr>
              <a:t>Amplifier, Used in DAC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Positive Feedback </a:t>
            </a:r>
            <a:r>
              <a:rPr lang="en-US" dirty="0">
                <a:sym typeface="Wingdings" panose="05000000000000000000" pitchFamily="2" charset="2"/>
              </a:rPr>
              <a:t> Signal generator, Schmitt Trigger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589306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D2F44AA-6828-A4BB-9E93-49B7376D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894828B-B408-7F94-6FEE-44F0A52C3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Op-Amp Review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C62BFC-4086-04B5-3524-215AF00FCD5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160F347-EF3B-24E0-12A2-84889DFD79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6780154E-BA80-1A20-A653-2D71AB9143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6B9149-9281-1536-458A-E94EDB04F82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For open loop configuration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𝐻𝑖𝑔h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For ideal Op-Amp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6B9149-9281-1536-458A-E94EDB04F8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0171" y="1037641"/>
                <a:ext cx="11654177" cy="5104118"/>
              </a:xfrm>
              <a:blipFill>
                <a:blip r:embed="rId4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1728967-6732-76CC-31D0-FC6028722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10691"/>
            <a:ext cx="5410955" cy="3134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2962A9-89A5-264D-41E1-73A6D6A8CF0A}"/>
                  </a:ext>
                </a:extLst>
              </p:cNvPr>
              <p:cNvSpPr txBox="1"/>
              <p:nvPr/>
            </p:nvSpPr>
            <p:spPr>
              <a:xfrm>
                <a:off x="8610600" y="1840637"/>
                <a:ext cx="3269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2962A9-89A5-264D-41E1-73A6D6A8C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1840637"/>
                <a:ext cx="326923" cy="400110"/>
              </a:xfrm>
              <a:prstGeom prst="rect">
                <a:avLst/>
              </a:prstGeom>
              <a:blipFill>
                <a:blip r:embed="rId6"/>
                <a:stretch>
                  <a:fillRect r="-2641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89D7DF-C940-12D7-1DEC-611101C51144}"/>
                  </a:ext>
                </a:extLst>
              </p:cNvPr>
              <p:cNvSpPr txBox="1"/>
              <p:nvPr/>
            </p:nvSpPr>
            <p:spPr>
              <a:xfrm>
                <a:off x="8610600" y="3733347"/>
                <a:ext cx="3269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89D7DF-C940-12D7-1DEC-611101C51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3733347"/>
                <a:ext cx="326923" cy="400110"/>
              </a:xfrm>
              <a:prstGeom prst="rect">
                <a:avLst/>
              </a:prstGeom>
              <a:blipFill>
                <a:blip r:embed="rId7"/>
                <a:stretch>
                  <a:fillRect r="-13208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482673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506</Words>
  <Application>Microsoft Office PowerPoint</Application>
  <PresentationFormat>Widescreen</PresentationFormat>
  <Paragraphs>118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Wingdings</vt:lpstr>
      <vt:lpstr>Times New Roman</vt:lpstr>
      <vt:lpstr>Noto Sans Symbols</vt:lpstr>
      <vt:lpstr>Arial</vt:lpstr>
      <vt:lpstr>Calibri</vt:lpstr>
      <vt:lpstr>Cambria Math</vt:lpstr>
      <vt:lpstr>Avenir</vt:lpstr>
      <vt:lpstr>Office Theme</vt:lpstr>
      <vt:lpstr>CSE 350 Digital Electronics and Pulse Techniques </vt:lpstr>
      <vt:lpstr>Marks Distribution</vt:lpstr>
      <vt:lpstr>Syllabus ( Fall 25 )</vt:lpstr>
      <vt:lpstr>Timeline </vt:lpstr>
      <vt:lpstr>Review ( Circuits and Electronics )</vt:lpstr>
      <vt:lpstr>Review ( Circuits and Electronics )</vt:lpstr>
      <vt:lpstr>Review ( Circuits and Electronics )</vt:lpstr>
      <vt:lpstr>Review ( Circuits and Electronics )</vt:lpstr>
      <vt:lpstr>Review ( Circuits and Electronics )</vt:lpstr>
      <vt:lpstr>Review ( Circuits and Electronics )</vt:lpstr>
      <vt:lpstr>Review ( Circuits and Electronics )</vt:lpstr>
      <vt:lpstr>Review ( Circuits and Electronics )</vt:lpstr>
      <vt:lpstr>Op-Amp Review</vt:lpstr>
      <vt:lpstr>Op-Amp Review</vt:lpstr>
      <vt:lpstr>Op-Amp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USER</cp:lastModifiedBy>
  <cp:revision>8</cp:revision>
  <dcterms:created xsi:type="dcterms:W3CDTF">2021-07-10T07:14:46Z</dcterms:created>
  <dcterms:modified xsi:type="dcterms:W3CDTF">2025-10-11T16:10:46Z</dcterms:modified>
</cp:coreProperties>
</file>