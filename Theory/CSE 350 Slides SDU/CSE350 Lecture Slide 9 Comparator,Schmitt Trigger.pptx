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jlcIjOTF2rm6gokXhH+oXnC1tf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40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30.png"/><Relationship Id="rId5" Type="http://schemas.openxmlformats.org/officeDocument/2006/relationships/image" Target="../media/image26.png"/><Relationship Id="rId6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32.png"/><Relationship Id="rId5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35.png"/><Relationship Id="rId5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38.png"/><Relationship Id="rId5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89586" y="226142"/>
            <a:ext cx="10255374" cy="2300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>
            <p:ph idx="11" type="ftr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 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926825" y="5456700"/>
            <a:ext cx="498069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Mail: </a:t>
            </a:r>
            <a:r>
              <a:rPr b="0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shomen.kundu@bracu.ac.bd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Desk: 4N148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397045" y="2526891"/>
            <a:ext cx="7733071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Comparator and Schmitt Trigger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Course Instructor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Shomen Kundu (SDU)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Op-Amp</a:t>
            </a:r>
            <a:endParaRPr/>
          </a:p>
        </p:txBody>
      </p:sp>
      <p:sp>
        <p:nvSpPr>
          <p:cNvPr id="96" name="Google Shape;96;p7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97" name="Google Shape;9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8" name="Google Shape;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7"/>
          <p:cNvSpPr txBox="1"/>
          <p:nvPr>
            <p:ph idx="1" type="body"/>
          </p:nvPr>
        </p:nvSpPr>
        <p:spPr>
          <a:xfrm>
            <a:off x="685307" y="1334586"/>
            <a:ext cx="10739777" cy="489906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00" name="Google Shape;10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8842" y="718914"/>
            <a:ext cx="5506218" cy="376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Op-Amp Comparator</a:t>
            </a:r>
            <a:endParaRPr/>
          </a:p>
        </p:txBody>
      </p:sp>
      <p:sp>
        <p:nvSpPr>
          <p:cNvPr id="106" name="Google Shape;106;p15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685307" y="1334586"/>
            <a:ext cx="10739777" cy="489906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Non-Inverting  Comparator</a:t>
            </a:r>
            <a:endParaRPr/>
          </a:p>
        </p:txBody>
      </p:sp>
      <p:sp>
        <p:nvSpPr>
          <p:cNvPr id="115" name="Google Shape;115;p16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>
            <p:ph idx="1" type="body"/>
          </p:nvPr>
        </p:nvSpPr>
        <p:spPr>
          <a:xfrm>
            <a:off x="685307" y="1474838"/>
            <a:ext cx="4889583" cy="475881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2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8844" y="1161954"/>
            <a:ext cx="4467849" cy="4894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Inverting  Comparator</a:t>
            </a:r>
            <a:endParaRPr/>
          </a:p>
        </p:txBody>
      </p:sp>
      <p:sp>
        <p:nvSpPr>
          <p:cNvPr id="125" name="Google Shape;125;p17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26" name="Google Shape;12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>
            <p:ph idx="1" type="body"/>
          </p:nvPr>
        </p:nvSpPr>
        <p:spPr>
          <a:xfrm>
            <a:off x="1096668" y="1132457"/>
            <a:ext cx="5312370" cy="488151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227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9038" y="1132450"/>
            <a:ext cx="3495675" cy="42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Non-Inverting Comparator with Divider </a:t>
            </a:r>
            <a:endParaRPr/>
          </a:p>
        </p:txBody>
      </p:sp>
      <p:sp>
        <p:nvSpPr>
          <p:cNvPr id="135" name="Google Shape;135;p18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36" name="Google Shape;13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>
            <p:ph idx="1" type="body"/>
          </p:nvPr>
        </p:nvSpPr>
        <p:spPr>
          <a:xfrm>
            <a:off x="685308" y="1091381"/>
            <a:ext cx="6721332" cy="526496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89" r="0" t="-1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0" y="1659341"/>
            <a:ext cx="4114800" cy="4697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Inverting Comparator with Divider </a:t>
            </a:r>
            <a:endParaRPr/>
          </a:p>
        </p:txBody>
      </p:sp>
      <p:sp>
        <p:nvSpPr>
          <p:cNvPr id="145" name="Google Shape;145;p19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685308" y="1091381"/>
            <a:ext cx="6721332" cy="526496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89" r="0" t="-1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49" name="Google Shape;14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0801" y="1537723"/>
            <a:ext cx="4701199" cy="4717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Exercise</a:t>
            </a:r>
            <a:endParaRPr/>
          </a:p>
        </p:txBody>
      </p:sp>
      <p:sp>
        <p:nvSpPr>
          <p:cNvPr id="155" name="Google Shape;155;p20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56" name="Google Shape;15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>
            <p:ph idx="1" type="body"/>
          </p:nvPr>
        </p:nvSpPr>
        <p:spPr>
          <a:xfrm>
            <a:off x="685308" y="1334586"/>
            <a:ext cx="6548612" cy="489906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157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59" name="Google Shape;15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1894" y="2895600"/>
            <a:ext cx="4327069" cy="3105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 rotWithShape="1">
          <a:blip r:embed="rId6">
            <a:alphaModFix/>
          </a:blip>
          <a:srcRect b="53996" l="0" r="0" t="0"/>
          <a:stretch/>
        </p:blipFill>
        <p:spPr>
          <a:xfrm>
            <a:off x="7310120" y="605169"/>
            <a:ext cx="4114800" cy="2160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Exercise</a:t>
            </a:r>
            <a:endParaRPr/>
          </a:p>
        </p:txBody>
      </p:sp>
      <p:sp>
        <p:nvSpPr>
          <p:cNvPr id="166" name="Google Shape;166;p21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67" name="Google Shape;1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8" name="Google Shape;16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/>
          <p:nvPr>
            <p:ph idx="1" type="body"/>
          </p:nvPr>
        </p:nvSpPr>
        <p:spPr>
          <a:xfrm>
            <a:off x="685307" y="1334586"/>
            <a:ext cx="5237973" cy="48990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Design a comparator circuit that will show the given transfer curve. You need to use 5 V as reference voltage.</a:t>
            </a:r>
            <a:endParaRPr/>
          </a:p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6177" y="1562890"/>
            <a:ext cx="5237974" cy="3935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/>
          <p:cNvSpPr txBox="1"/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Exercise</a:t>
            </a:r>
            <a:endParaRPr/>
          </a:p>
        </p:txBody>
      </p:sp>
      <p:sp>
        <p:nvSpPr>
          <p:cNvPr id="176" name="Google Shape;176;p36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8" name="Google Shape;17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/>
          <p:cNvSpPr txBox="1"/>
          <p:nvPr>
            <p:ph idx="1" type="body"/>
          </p:nvPr>
        </p:nvSpPr>
        <p:spPr>
          <a:xfrm>
            <a:off x="685307" y="1334586"/>
            <a:ext cx="10317973" cy="2302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Design a comparator for street light control system. The photodetector detect light intensity and outputs a corresponding voltage. The detector output is 0 V when intensity of light is 0% of Max intensity and 5 V when the intensity of light Maximum. Design the comparator such that it can turn on the street light when the intensity is below 15% of the Max Light intensity. </a:t>
            </a:r>
            <a:endParaRPr/>
          </a:p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You must satisfy all the mentioned criteria, and assume any component values accordingly.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"/>
          <p:cNvSpPr txBox="1"/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Schmitt Trigger circuit</a:t>
            </a:r>
            <a:endParaRPr/>
          </a:p>
        </p:txBody>
      </p:sp>
      <p:sp>
        <p:nvSpPr>
          <p:cNvPr id="185" name="Google Shape;185;p2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86" name="Google Shape;18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7" name="Google Shape;18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"/>
          <p:cNvSpPr txBox="1"/>
          <p:nvPr>
            <p:ph idx="1" type="body"/>
          </p:nvPr>
        </p:nvSpPr>
        <p:spPr>
          <a:xfrm>
            <a:off x="685307" y="1334585"/>
            <a:ext cx="10317973" cy="362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18"/>
              <a:buNone/>
            </a:pPr>
            <a:r>
              <a:rPr lang="en-US"/>
              <a:t>We will study 4 types of Schmitt Trigger circuit</a:t>
            </a:r>
            <a:endParaRPr/>
          </a:p>
          <a:p>
            <a:pPr indent="-514350" lvl="0" marL="6286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18"/>
              <a:buAutoNum type="arabicPeriod"/>
            </a:pPr>
            <a:r>
              <a:rPr lang="en-US"/>
              <a:t>Inverting ST</a:t>
            </a:r>
            <a:endParaRPr/>
          </a:p>
          <a:p>
            <a:pPr indent="-514350" lvl="0" marL="6286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18"/>
              <a:buAutoNum type="arabicPeriod"/>
            </a:pPr>
            <a:r>
              <a:rPr lang="en-US"/>
              <a:t>Non-inverting ST</a:t>
            </a:r>
            <a:endParaRPr/>
          </a:p>
          <a:p>
            <a:pPr indent="-514350" lvl="0" marL="6286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18"/>
              <a:buAutoNum type="arabicPeriod"/>
            </a:pPr>
            <a:r>
              <a:rPr lang="en-US"/>
              <a:t>Inverting ST with Ref</a:t>
            </a:r>
            <a:endParaRPr/>
          </a:p>
          <a:p>
            <a:pPr indent="-514350" lvl="0" marL="6286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18"/>
              <a:buAutoNum type="arabicPeriod"/>
            </a:pPr>
            <a:r>
              <a:rPr lang="en-US"/>
              <a:t>Non-inverting with Ref</a:t>
            </a:r>
            <a:endParaRPr/>
          </a:p>
          <a:p>
            <a:pPr indent="-379879" lvl="0" marL="6286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18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"/>
          <p:cNvSpPr txBox="1"/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Inverting ST</a:t>
            </a:r>
            <a:endParaRPr/>
          </a:p>
        </p:txBody>
      </p:sp>
      <p:sp>
        <p:nvSpPr>
          <p:cNvPr id="194" name="Google Shape;194;p3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95" name="Google Shape;19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6" name="Google Shape;1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"/>
          <p:cNvSpPr txBox="1"/>
          <p:nvPr>
            <p:ph idx="1" type="body"/>
          </p:nvPr>
        </p:nvSpPr>
        <p:spPr>
          <a:xfrm>
            <a:off x="685308" y="1334586"/>
            <a:ext cx="5823648" cy="38961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3" r="-209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98" name="Google Shape;19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9422" y="619168"/>
            <a:ext cx="5441436" cy="5181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"/>
          <p:cNvSpPr txBox="1"/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Inverting ST</a:t>
            </a:r>
            <a:endParaRPr/>
          </a:p>
        </p:txBody>
      </p:sp>
      <p:sp>
        <p:nvSpPr>
          <p:cNvPr id="204" name="Google Shape;204;p4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05" name="Google Shape;20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6" name="Google Shape;2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"/>
          <p:cNvSpPr txBox="1"/>
          <p:nvPr>
            <p:ph idx="1" type="body"/>
          </p:nvPr>
        </p:nvSpPr>
        <p:spPr>
          <a:xfrm>
            <a:off x="685308" y="1334586"/>
            <a:ext cx="6610228" cy="46827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08" name="Google Shape;20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60618" y="136525"/>
            <a:ext cx="3642840" cy="3469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02402" y="2892974"/>
            <a:ext cx="3433711" cy="3124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"/>
          <p:cNvSpPr txBox="1"/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Inverting ST</a:t>
            </a:r>
            <a:endParaRPr/>
          </a:p>
        </p:txBody>
      </p:sp>
      <p:sp>
        <p:nvSpPr>
          <p:cNvPr id="215" name="Google Shape;215;p5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16" name="Google Shape;2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7" name="Google Shape;2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5"/>
          <p:cNvSpPr txBox="1"/>
          <p:nvPr>
            <p:ph idx="1" type="body"/>
          </p:nvPr>
        </p:nvSpPr>
        <p:spPr>
          <a:xfrm>
            <a:off x="685308" y="1334586"/>
            <a:ext cx="6610228" cy="468275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19" name="Google Shape;21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60780" y="0"/>
            <a:ext cx="3557274" cy="3387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8863" y="2706025"/>
            <a:ext cx="4114799" cy="3311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"/>
          <p:cNvSpPr txBox="1"/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Inverting ST</a:t>
            </a:r>
            <a:endParaRPr/>
          </a:p>
        </p:txBody>
      </p:sp>
      <p:sp>
        <p:nvSpPr>
          <p:cNvPr id="226" name="Google Shape;226;p6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27" name="Google Shape;22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8" name="Google Shape;2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6"/>
          <p:cNvSpPr txBox="1"/>
          <p:nvPr>
            <p:ph idx="1" type="body"/>
          </p:nvPr>
        </p:nvSpPr>
        <p:spPr>
          <a:xfrm>
            <a:off x="685308" y="1334585"/>
            <a:ext cx="6780363" cy="510411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8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30" name="Google Shape;23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8800" y="1280414"/>
            <a:ext cx="5439534" cy="4429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 txBox="1"/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Non-inverting ST</a:t>
            </a:r>
            <a:endParaRPr/>
          </a:p>
        </p:txBody>
      </p:sp>
      <p:sp>
        <p:nvSpPr>
          <p:cNvPr id="236" name="Google Shape;236;p8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37" name="Google Shape;23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8" name="Google Shape;2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 txBox="1"/>
          <p:nvPr>
            <p:ph idx="1" type="body"/>
          </p:nvPr>
        </p:nvSpPr>
        <p:spPr>
          <a:xfrm>
            <a:off x="685308" y="1334585"/>
            <a:ext cx="6201630" cy="4603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18"/>
              <a:buNone/>
            </a:pPr>
            <a:r>
              <a:rPr lang="en-US"/>
              <a:t>Type here</a:t>
            </a:r>
            <a:endParaRPr/>
          </a:p>
        </p:txBody>
      </p:sp>
      <p:pic>
        <p:nvPicPr>
          <p:cNvPr id="240" name="Google Shape;24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6079" y="1090219"/>
            <a:ext cx="4877783" cy="4320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1421" y="920188"/>
            <a:ext cx="5525271" cy="464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 txBox="1"/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Non-inverting ST</a:t>
            </a:r>
            <a:endParaRPr/>
          </a:p>
        </p:txBody>
      </p:sp>
      <p:sp>
        <p:nvSpPr>
          <p:cNvPr id="247" name="Google Shape;247;p9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48" name="Google Shape;2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9" name="Google Shape;2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9"/>
          <p:cNvSpPr txBox="1"/>
          <p:nvPr>
            <p:ph idx="1" type="body"/>
          </p:nvPr>
        </p:nvSpPr>
        <p:spPr>
          <a:xfrm>
            <a:off x="685307" y="1334585"/>
            <a:ext cx="7131337" cy="510411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51" name="Google Shape;25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568" y="1026126"/>
            <a:ext cx="4877783" cy="4320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 txBox="1"/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Inverting ST with Ref</a:t>
            </a:r>
            <a:endParaRPr/>
          </a:p>
        </p:txBody>
      </p:sp>
      <p:sp>
        <p:nvSpPr>
          <p:cNvPr id="257" name="Google Shape;257;p10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58" name="Google Shape;25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9" name="Google Shape;2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0"/>
          <p:cNvSpPr txBox="1"/>
          <p:nvPr>
            <p:ph idx="1" type="body"/>
          </p:nvPr>
        </p:nvSpPr>
        <p:spPr>
          <a:xfrm>
            <a:off x="685308" y="1334585"/>
            <a:ext cx="6201630" cy="4603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18"/>
              <a:buNone/>
            </a:pPr>
            <a:r>
              <a:rPr lang="en-US"/>
              <a:t>Type here</a:t>
            </a:r>
            <a:endParaRPr/>
          </a:p>
        </p:txBody>
      </p:sp>
      <p:pic>
        <p:nvPicPr>
          <p:cNvPr id="261" name="Google Shape;26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2530" y="1048917"/>
            <a:ext cx="4801270" cy="502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064" y="951500"/>
            <a:ext cx="5639487" cy="4468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 txBox="1"/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Inverting ST with Ref</a:t>
            </a:r>
            <a:endParaRPr/>
          </a:p>
        </p:txBody>
      </p:sp>
      <p:sp>
        <p:nvSpPr>
          <p:cNvPr id="268" name="Google Shape;268;p11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69" name="Google Shape;2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0" name="Google Shape;2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1"/>
          <p:cNvSpPr txBox="1"/>
          <p:nvPr>
            <p:ph idx="1" type="body"/>
          </p:nvPr>
        </p:nvSpPr>
        <p:spPr>
          <a:xfrm>
            <a:off x="695139" y="1037327"/>
            <a:ext cx="6275931" cy="50217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72" name="Google Shape;27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91678" y="920188"/>
            <a:ext cx="4696529" cy="4920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"/>
          <p:cNvSpPr txBox="1"/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Non-inverting ST with Ref</a:t>
            </a:r>
            <a:endParaRPr/>
          </a:p>
        </p:txBody>
      </p:sp>
      <p:sp>
        <p:nvSpPr>
          <p:cNvPr id="278" name="Google Shape;278;p12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79" name="Google Shape;2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0" name="Google Shape;2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2"/>
          <p:cNvSpPr txBox="1"/>
          <p:nvPr>
            <p:ph idx="1" type="body"/>
          </p:nvPr>
        </p:nvSpPr>
        <p:spPr>
          <a:xfrm>
            <a:off x="685308" y="1334585"/>
            <a:ext cx="6201630" cy="4603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18"/>
              <a:buNone/>
            </a:pPr>
            <a:r>
              <a:rPr lang="en-US"/>
              <a:t>Type here</a:t>
            </a:r>
            <a:endParaRPr/>
          </a:p>
        </p:txBody>
      </p:sp>
      <p:pic>
        <p:nvPicPr>
          <p:cNvPr id="282" name="Google Shape;28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9426" y="1058443"/>
            <a:ext cx="5668166" cy="5020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308" y="1168405"/>
            <a:ext cx="5583056" cy="4028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"/>
          <p:cNvSpPr txBox="1"/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Non-inverting ST with ref</a:t>
            </a:r>
            <a:endParaRPr/>
          </a:p>
        </p:txBody>
      </p:sp>
      <p:sp>
        <p:nvSpPr>
          <p:cNvPr id="289" name="Google Shape;289;p13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90" name="Google Shape;29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1" name="Google Shape;2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3"/>
          <p:cNvSpPr txBox="1"/>
          <p:nvPr>
            <p:ph idx="1" type="body"/>
          </p:nvPr>
        </p:nvSpPr>
        <p:spPr>
          <a:xfrm>
            <a:off x="685307" y="1334585"/>
            <a:ext cx="6590563" cy="510411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34551" y="1194968"/>
            <a:ext cx="5668166" cy="502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"/>
          <p:cNvSpPr txBox="1"/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Exercise:</a:t>
            </a:r>
            <a:endParaRPr/>
          </a:p>
        </p:txBody>
      </p:sp>
      <p:sp>
        <p:nvSpPr>
          <p:cNvPr id="299" name="Google Shape;299;p14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300" name="Google Shape;30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1" name="Google Shape;3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4"/>
          <p:cNvSpPr txBox="1"/>
          <p:nvPr>
            <p:ph idx="1" type="body"/>
          </p:nvPr>
        </p:nvSpPr>
        <p:spPr>
          <a:xfrm>
            <a:off x="685308" y="1334585"/>
            <a:ext cx="5548344" cy="460322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219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303" name="Google Shape;3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770" y="621028"/>
            <a:ext cx="5748308" cy="3665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2"/>
          <p:cNvSpPr txBox="1"/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Exercise:</a:t>
            </a:r>
            <a:endParaRPr/>
          </a:p>
        </p:txBody>
      </p:sp>
      <p:sp>
        <p:nvSpPr>
          <p:cNvPr id="309" name="Google Shape;309;p22"/>
          <p:cNvSpPr txBox="1"/>
          <p:nvPr>
            <p:ph idx="11" type="ftr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310" name="Google Shape;31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1" name="Google Shape;3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2"/>
          <p:cNvSpPr txBox="1"/>
          <p:nvPr>
            <p:ph idx="1" type="body"/>
          </p:nvPr>
        </p:nvSpPr>
        <p:spPr>
          <a:xfrm>
            <a:off x="685307" y="1334586"/>
            <a:ext cx="10307157" cy="43346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8" r="-124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2021-07-10T07:14:46Z</dcterms:created>
  <dc:creator>nazmul turjo</dc:creator>
</cp:coreProperties>
</file>